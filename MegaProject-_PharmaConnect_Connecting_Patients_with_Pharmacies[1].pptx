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4" r:id="rId4"/>
    <p:sldId id="258" r:id="rId5"/>
    <p:sldId id="259" r:id="rId6"/>
    <p:sldId id="260" r:id="rId7"/>
    <p:sldId id="261" r:id="rId8"/>
    <p:sldId id="262" r:id="rId9"/>
    <p:sldId id="265" r:id="rId10"/>
    <p:sldId id="266" r:id="rId11"/>
    <p:sldId id="267" r:id="rId12"/>
    <p:sldId id="268" r:id="rId13"/>
    <p:sldId id="270" r:id="rId14"/>
    <p:sldId id="263" r:id="rId15"/>
  </p:sldIdLst>
  <p:sldSz cx="18288000" cy="10287000"/>
  <p:notesSz cx="6858000" cy="9144000"/>
  <p:embeddedFontLst>
    <p:embeddedFont>
      <p:font typeface="Clear Sans" panose="020B0503030202020304" pitchFamily="34" charset="0"/>
      <p:regular r:id="rId16"/>
    </p:embeddedFont>
    <p:embeddedFont>
      <p:font typeface="Clear Sans Bold" panose="020B0803030202020304" pitchFamily="34" charset="0"/>
      <p:regular r:id="rId17"/>
    </p:embeddedFont>
    <p:embeddedFont>
      <p:font typeface="Clear Sans Medium" panose="020B0603030202020304" pitchFamily="34" charset="0"/>
      <p:regular r:id="rId18"/>
    </p:embeddedFont>
    <p:embeddedFont>
      <p:font typeface="Tenor Sans" panose="02000000000000000000" pitchFamily="2"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4" d="100"/>
          <a:sy n="44" d="100"/>
        </p:scale>
        <p:origin x="1038" y="-1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font" Target="fonts/font3.fntdata" /><Relationship Id="rId3" Type="http://schemas.openxmlformats.org/officeDocument/2006/relationships/slide" Target="slides/slide2.xml" /><Relationship Id="rId21"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font" Target="fonts/font2.fntdata" /><Relationship Id="rId2" Type="http://schemas.openxmlformats.org/officeDocument/2006/relationships/slide" Target="slides/slide1.xml" /><Relationship Id="rId16" Type="http://schemas.openxmlformats.org/officeDocument/2006/relationships/font" Target="fonts/font1.fntdata" /><Relationship Id="rId20"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font" Target="fonts/font4.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Layout" Target="../slideLayouts/slideLayout7.xml" /><Relationship Id="rId4" Type="http://schemas.openxmlformats.org/officeDocument/2006/relationships/image" Target="../media/image3.svg" /></Relationships>
</file>

<file path=ppt/slides/_rels/slide2.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Layout" Target="../slideLayouts/slideLayout7.xml" /><Relationship Id="rId4" Type="http://schemas.openxmlformats.org/officeDocument/2006/relationships/image" Target="../media/image4.png" /></Relationships>
</file>

<file path=ppt/slides/_rels/slide11.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Layout" Target="../slideLayouts/slideLayout7.xml" /><Relationship Id="rId4" Type="http://schemas.openxmlformats.org/officeDocument/2006/relationships/image" Target="../media/image5.png" /></Relationships>
</file>

<file path=ppt/slides/_rels/slide12.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Layout" Target="../slideLayouts/slideLayout7.xml" /><Relationship Id="rId4" Type="http://schemas.openxmlformats.org/officeDocument/2006/relationships/image" Target="../media/image6.png" /></Relationships>
</file>

<file path=ppt/slides/_rels/slide13.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Layout" Target="../slideLayouts/slideLayout7.xml" /><Relationship Id="rId4" Type="http://schemas.openxmlformats.org/officeDocument/2006/relationships/image" Target="../media/image7.png" /></Relationships>
</file>

<file path=ppt/slides/_rels/slide14.xml.rels><?xml version="1.0" encoding="UTF-8" standalone="yes"?>
<Relationships xmlns="http://schemas.openxmlformats.org/package/2006/relationships"><Relationship Id="rId3" Type="http://schemas.openxmlformats.org/officeDocument/2006/relationships/image" Target="../media/image9.svg" /><Relationship Id="rId2" Type="http://schemas.openxmlformats.org/officeDocument/2006/relationships/image" Target="../media/image8.png" /><Relationship Id="rId1" Type="http://schemas.openxmlformats.org/officeDocument/2006/relationships/slideLayout" Target="../slideLayouts/slideLayout7.xml" /><Relationship Id="rId5" Type="http://schemas.openxmlformats.org/officeDocument/2006/relationships/image" Target="../media/image11.svg" /><Relationship Id="rId4" Type="http://schemas.openxmlformats.org/officeDocument/2006/relationships/image" Target="../media/image10.pn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C4D"/>
        </a:solidFill>
        <a:effectLst/>
      </p:bgPr>
    </p:bg>
    <p:spTree>
      <p:nvGrpSpPr>
        <p:cNvPr id="1" name=""/>
        <p:cNvGrpSpPr/>
        <p:nvPr/>
      </p:nvGrpSpPr>
      <p:grpSpPr>
        <a:xfrm>
          <a:off x="0" y="0"/>
          <a:ext cx="0" cy="0"/>
          <a:chOff x="0" y="0"/>
          <a:chExt cx="0" cy="0"/>
        </a:xfrm>
      </p:grpSpPr>
      <p:grpSp>
        <p:nvGrpSpPr>
          <p:cNvPr id="2" name="Group 2"/>
          <p:cNvGrpSpPr/>
          <p:nvPr/>
        </p:nvGrpSpPr>
        <p:grpSpPr>
          <a:xfrm>
            <a:off x="666750" y="1857864"/>
            <a:ext cx="9763125" cy="6220384"/>
            <a:chOff x="0" y="180975"/>
            <a:chExt cx="13017500" cy="8293846"/>
          </a:xfrm>
        </p:grpSpPr>
        <p:sp>
          <p:nvSpPr>
            <p:cNvPr id="3" name="TextBox 3"/>
            <p:cNvSpPr txBox="1"/>
            <p:nvPr/>
          </p:nvSpPr>
          <p:spPr>
            <a:xfrm>
              <a:off x="0" y="180975"/>
              <a:ext cx="13017500" cy="7073265"/>
            </a:xfrm>
            <a:prstGeom prst="rect">
              <a:avLst/>
            </a:prstGeom>
          </p:spPr>
          <p:txBody>
            <a:bodyPr lIns="0" tIns="0" rIns="0" bIns="0" rtlCol="0" anchor="t">
              <a:spAutoFit/>
            </a:bodyPr>
            <a:lstStyle/>
            <a:p>
              <a:pPr marL="0" lvl="0" indent="0" algn="l">
                <a:lnSpc>
                  <a:spcPts val="10200"/>
                </a:lnSpc>
              </a:pPr>
              <a:r>
                <a:rPr lang="en-US" sz="10200" spc="-204">
                  <a:solidFill>
                    <a:srgbClr val="D6E6E9"/>
                  </a:solidFill>
                  <a:latin typeface="Tenor Sans"/>
                  <a:ea typeface="Tenor Sans"/>
                  <a:cs typeface="Tenor Sans"/>
                  <a:sym typeface="Tenor Sans"/>
                </a:rPr>
                <a:t>PharmaConnect: Connecting Patients with Pharmacies</a:t>
              </a:r>
            </a:p>
          </p:txBody>
        </p:sp>
        <p:sp>
          <p:nvSpPr>
            <p:cNvPr id="4" name="TextBox 4"/>
            <p:cNvSpPr txBox="1"/>
            <p:nvPr/>
          </p:nvSpPr>
          <p:spPr>
            <a:xfrm>
              <a:off x="0" y="7764284"/>
              <a:ext cx="13017500" cy="710537"/>
            </a:xfrm>
            <a:prstGeom prst="rect">
              <a:avLst/>
            </a:prstGeom>
          </p:spPr>
          <p:txBody>
            <a:bodyPr lIns="0" tIns="0" rIns="0" bIns="0" rtlCol="0" anchor="t">
              <a:spAutoFit/>
            </a:bodyPr>
            <a:lstStyle/>
            <a:p>
              <a:pPr marL="0" lvl="0" indent="0" algn="l">
                <a:lnSpc>
                  <a:spcPts val="4480"/>
                </a:lnSpc>
                <a:spcBef>
                  <a:spcPct val="0"/>
                </a:spcBef>
              </a:pPr>
              <a:endParaRPr lang="en-US" sz="3200" dirty="0">
                <a:solidFill>
                  <a:srgbClr val="D6E6E9"/>
                </a:solidFill>
                <a:latin typeface="Clear Sans"/>
                <a:ea typeface="Clear Sans"/>
                <a:cs typeface="Clear Sans"/>
                <a:sym typeface="Clear Sans"/>
              </a:endParaRPr>
            </a:p>
          </p:txBody>
        </p:sp>
      </p:grpSp>
      <p:grpSp>
        <p:nvGrpSpPr>
          <p:cNvPr id="5" name="Group 5"/>
          <p:cNvGrpSpPr/>
          <p:nvPr/>
        </p:nvGrpSpPr>
        <p:grpSpPr>
          <a:xfrm>
            <a:off x="12172950" y="0"/>
            <a:ext cx="6115050" cy="10287000"/>
            <a:chOff x="0" y="0"/>
            <a:chExt cx="947381" cy="1593725"/>
          </a:xfrm>
        </p:grpSpPr>
        <p:sp>
          <p:nvSpPr>
            <p:cNvPr id="6" name="Freeform 6"/>
            <p:cNvSpPr/>
            <p:nvPr/>
          </p:nvSpPr>
          <p:spPr>
            <a:xfrm>
              <a:off x="0" y="0"/>
              <a:ext cx="947381" cy="1593725"/>
            </a:xfrm>
            <a:custGeom>
              <a:avLst/>
              <a:gdLst/>
              <a:ahLst/>
              <a:cxnLst/>
              <a:rect l="l" t="t" r="r" b="b"/>
              <a:pathLst>
                <a:path w="947381" h="1593725">
                  <a:moveTo>
                    <a:pt x="0" y="0"/>
                  </a:moveTo>
                  <a:lnTo>
                    <a:pt x="947381" y="0"/>
                  </a:lnTo>
                  <a:lnTo>
                    <a:pt x="947381" y="1593725"/>
                  </a:lnTo>
                  <a:lnTo>
                    <a:pt x="0" y="1593725"/>
                  </a:lnTo>
                  <a:close/>
                </a:path>
              </a:pathLst>
            </a:custGeom>
            <a:blipFill>
              <a:blip r:embed="rId2"/>
              <a:stretch>
                <a:fillRect t="-58" b="-58"/>
              </a:stretch>
            </a:blipFill>
          </p:spPr>
          <p:txBody>
            <a:bodyPr/>
            <a:lstStyle/>
            <a:p>
              <a:endParaRPr lang="en-US"/>
            </a:p>
          </p:txBody>
        </p:sp>
      </p:grpSp>
      <p:sp>
        <p:nvSpPr>
          <p:cNvPr id="7" name="Freeform 7"/>
          <p:cNvSpPr/>
          <p:nvPr/>
        </p:nvSpPr>
        <p:spPr>
          <a:xfrm>
            <a:off x="8774635" y="7396104"/>
            <a:ext cx="6274865" cy="4114800"/>
          </a:xfrm>
          <a:custGeom>
            <a:avLst/>
            <a:gdLst/>
            <a:ahLst/>
            <a:cxnLst/>
            <a:rect l="l" t="t" r="r" b="b"/>
            <a:pathLst>
              <a:path w="6274865" h="4114800">
                <a:moveTo>
                  <a:pt x="0" y="0"/>
                </a:moveTo>
                <a:lnTo>
                  <a:pt x="6274865" y="0"/>
                </a:lnTo>
                <a:lnTo>
                  <a:pt x="627486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A6F82"/>
        </a:solidFill>
        <a:effectLst/>
      </p:bgPr>
    </p:bg>
    <p:spTree>
      <p:nvGrpSpPr>
        <p:cNvPr id="1" name=""/>
        <p:cNvGrpSpPr/>
        <p:nvPr/>
      </p:nvGrpSpPr>
      <p:grpSpPr>
        <a:xfrm>
          <a:off x="0" y="0"/>
          <a:ext cx="0" cy="0"/>
          <a:chOff x="0" y="0"/>
          <a:chExt cx="0" cy="0"/>
        </a:xfrm>
      </p:grpSpPr>
      <p:sp>
        <p:nvSpPr>
          <p:cNvPr id="2" name="TextBox 2"/>
          <p:cNvSpPr txBox="1"/>
          <p:nvPr/>
        </p:nvSpPr>
        <p:spPr>
          <a:xfrm>
            <a:off x="666750" y="1562086"/>
            <a:ext cx="8324850" cy="1038105"/>
          </a:xfrm>
          <a:prstGeom prst="rect">
            <a:avLst/>
          </a:prstGeom>
        </p:spPr>
        <p:txBody>
          <a:bodyPr lIns="0" tIns="0" rIns="0" bIns="0" rtlCol="0" anchor="t">
            <a:spAutoFit/>
          </a:bodyPr>
          <a:lstStyle/>
          <a:p>
            <a:pPr marL="0" lvl="0" indent="0" algn="l">
              <a:lnSpc>
                <a:spcPts val="8399"/>
              </a:lnSpc>
            </a:pPr>
            <a:r>
              <a:rPr lang="en-US" sz="6999" spc="-139" dirty="0">
                <a:solidFill>
                  <a:srgbClr val="D6E6E9"/>
                </a:solidFill>
                <a:latin typeface="Tenor Sans"/>
                <a:ea typeface="Tenor Sans"/>
                <a:cs typeface="Tenor Sans"/>
                <a:sym typeface="Tenor Sans"/>
              </a:rPr>
              <a:t>Team members:</a:t>
            </a:r>
          </a:p>
        </p:txBody>
      </p:sp>
      <p:grpSp>
        <p:nvGrpSpPr>
          <p:cNvPr id="3" name="Group 3"/>
          <p:cNvGrpSpPr/>
          <p:nvPr/>
        </p:nvGrpSpPr>
        <p:grpSpPr>
          <a:xfrm>
            <a:off x="838200" y="3170761"/>
            <a:ext cx="8877300" cy="1856032"/>
            <a:chOff x="-4572000" y="878057"/>
            <a:chExt cx="11836400" cy="2474713"/>
          </a:xfrm>
        </p:grpSpPr>
        <p:sp>
          <p:nvSpPr>
            <p:cNvPr id="4" name="TextBox 4"/>
            <p:cNvSpPr txBox="1"/>
            <p:nvPr/>
          </p:nvSpPr>
          <p:spPr>
            <a:xfrm>
              <a:off x="-4572000" y="1072484"/>
              <a:ext cx="7264400" cy="2280286"/>
            </a:xfrm>
            <a:prstGeom prst="rect">
              <a:avLst/>
            </a:prstGeom>
          </p:spPr>
          <p:txBody>
            <a:bodyPr lIns="0" tIns="0" rIns="0" bIns="0" rtlCol="0" anchor="t">
              <a:spAutoFit/>
            </a:bodyPr>
            <a:lstStyle/>
            <a:p>
              <a:pPr lvl="0">
                <a:lnSpc>
                  <a:spcPts val="3360"/>
                </a:lnSpc>
                <a:spcBef>
                  <a:spcPct val="0"/>
                </a:spcBef>
              </a:pPr>
              <a:r>
                <a:rPr lang="en-US" sz="2400" b="1" dirty="0">
                  <a:solidFill>
                    <a:srgbClr val="D6E6E9"/>
                  </a:solidFill>
                  <a:latin typeface="Clear Sans Medium"/>
                  <a:ea typeface="Clear Sans Medium"/>
                  <a:cs typeface="Clear Sans Medium"/>
                  <a:sym typeface="Clear Sans Medium"/>
                </a:rPr>
                <a:t>Mohamed Hesham Mohamed Ghonem</a:t>
              </a:r>
              <a:br>
                <a:rPr lang="en-US" sz="2400" b="1" dirty="0">
                  <a:solidFill>
                    <a:srgbClr val="D6E6E9"/>
                  </a:solidFill>
                  <a:latin typeface="Clear Sans Medium"/>
                  <a:ea typeface="Clear Sans Medium"/>
                  <a:cs typeface="Clear Sans Medium"/>
                  <a:sym typeface="Clear Sans Medium"/>
                </a:rPr>
              </a:br>
              <a:r>
                <a:rPr lang="en-US" sz="2400" b="1" dirty="0">
                  <a:solidFill>
                    <a:srgbClr val="D6E6E9"/>
                  </a:solidFill>
                  <a:latin typeface="Clear Sans Medium"/>
                  <a:ea typeface="Clear Sans Medium"/>
                  <a:cs typeface="Clear Sans Medium"/>
                  <a:sym typeface="Clear Sans Medium"/>
                </a:rPr>
                <a:t>Youssef Mohamed Mahmoud</a:t>
              </a:r>
              <a:endParaRPr lang="ar-EG" sz="2400" b="1" dirty="0">
                <a:solidFill>
                  <a:srgbClr val="D6E6E9"/>
                </a:solidFill>
                <a:latin typeface="Clear Sans Medium"/>
                <a:ea typeface="Clear Sans Medium"/>
                <a:cs typeface="Clear Sans Medium"/>
                <a:sym typeface="Clear Sans Medium"/>
              </a:endParaRPr>
            </a:p>
            <a:p>
              <a:pPr lvl="0">
                <a:lnSpc>
                  <a:spcPts val="3360"/>
                </a:lnSpc>
                <a:spcBef>
                  <a:spcPct val="0"/>
                </a:spcBef>
              </a:pPr>
              <a:r>
                <a:rPr lang="en-US" sz="2400" b="1" dirty="0">
                  <a:solidFill>
                    <a:srgbClr val="D6E6E9"/>
                  </a:solidFill>
                  <a:latin typeface="Clear Sans Medium"/>
                  <a:ea typeface="Clear Sans Medium"/>
                  <a:cs typeface="Clear Sans Medium"/>
                  <a:sym typeface="Clear Sans Medium"/>
                </a:rPr>
                <a:t>Ali Ayman Ali</a:t>
              </a:r>
            </a:p>
            <a:p>
              <a:pPr lvl="0">
                <a:lnSpc>
                  <a:spcPts val="3360"/>
                </a:lnSpc>
                <a:spcBef>
                  <a:spcPct val="0"/>
                </a:spcBef>
              </a:pPr>
              <a:r>
                <a:rPr lang="en-US" sz="2400" b="1" dirty="0">
                  <a:solidFill>
                    <a:srgbClr val="D6E6E9"/>
                  </a:solidFill>
                  <a:latin typeface="Clear Sans Medium"/>
                  <a:ea typeface="Clear Sans Medium"/>
                  <a:cs typeface="Clear Sans Medium"/>
                  <a:sym typeface="Clear Sans Medium"/>
                </a:rPr>
                <a:t>Abdallah Tarek Abdallah</a:t>
              </a:r>
            </a:p>
          </p:txBody>
        </p:sp>
        <p:sp>
          <p:nvSpPr>
            <p:cNvPr id="5" name="TextBox 5"/>
            <p:cNvSpPr txBox="1"/>
            <p:nvPr/>
          </p:nvSpPr>
          <p:spPr>
            <a:xfrm>
              <a:off x="0" y="878057"/>
              <a:ext cx="7264400" cy="459443"/>
            </a:xfrm>
            <a:prstGeom prst="rect">
              <a:avLst/>
            </a:prstGeom>
          </p:spPr>
          <p:txBody>
            <a:bodyPr lIns="0" tIns="0" rIns="0" bIns="0" rtlCol="0" anchor="t">
              <a:spAutoFit/>
            </a:bodyPr>
            <a:lstStyle/>
            <a:p>
              <a:pPr marL="0" lvl="0" indent="0" algn="l">
                <a:lnSpc>
                  <a:spcPts val="2939"/>
                </a:lnSpc>
                <a:spcBef>
                  <a:spcPct val="0"/>
                </a:spcBef>
              </a:pPr>
              <a:endParaRPr lang="en-US" sz="2099" dirty="0">
                <a:solidFill>
                  <a:srgbClr val="D6E6E9"/>
                </a:solidFill>
                <a:latin typeface="Clear Sans"/>
                <a:ea typeface="Clear Sans"/>
                <a:cs typeface="Clear Sans"/>
                <a:sym typeface="Clear Sans"/>
              </a:endParaRPr>
            </a:p>
          </p:txBody>
        </p:sp>
      </p:grpSp>
      <p:sp>
        <p:nvSpPr>
          <p:cNvPr id="8" name="Freeform 8"/>
          <p:cNvSpPr/>
          <p:nvPr/>
        </p:nvSpPr>
        <p:spPr>
          <a:xfrm>
            <a:off x="-3137432" y="7200900"/>
            <a:ext cx="6274865" cy="4114800"/>
          </a:xfrm>
          <a:custGeom>
            <a:avLst/>
            <a:gdLst/>
            <a:ahLst/>
            <a:cxnLst/>
            <a:rect l="l" t="t" r="r" b="b"/>
            <a:pathLst>
              <a:path w="6274865" h="4114800">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A6F82"/>
        </a:solidFill>
        <a:effectLst/>
      </p:bgPr>
    </p:bg>
    <p:spTree>
      <p:nvGrpSpPr>
        <p:cNvPr id="1" name="">
          <a:extLst>
            <a:ext uri="{FF2B5EF4-FFF2-40B4-BE49-F238E27FC236}">
              <a16:creationId xmlns:a16="http://schemas.microsoft.com/office/drawing/2014/main" id="{91B6E807-758F-B69B-D532-533ADE82946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A80399B-EF26-D3BE-4CE6-8B69276E2720}"/>
              </a:ext>
            </a:extLst>
          </p:cNvPr>
          <p:cNvSpPr txBox="1"/>
          <p:nvPr/>
        </p:nvSpPr>
        <p:spPr>
          <a:xfrm>
            <a:off x="666750" y="1562086"/>
            <a:ext cx="8324850" cy="2114550"/>
          </a:xfrm>
          <a:prstGeom prst="rect">
            <a:avLst/>
          </a:prstGeom>
        </p:spPr>
        <p:txBody>
          <a:bodyPr lIns="0" tIns="0" rIns="0" bIns="0" rtlCol="0" anchor="t">
            <a:spAutoFit/>
          </a:bodyPr>
          <a:lstStyle/>
          <a:p>
            <a:pPr marL="0" lvl="0" indent="0" algn="l">
              <a:lnSpc>
                <a:spcPts val="8399"/>
              </a:lnSpc>
            </a:pPr>
            <a:r>
              <a:rPr lang="en-US" sz="6999" spc="-139">
                <a:solidFill>
                  <a:srgbClr val="D6E6E9"/>
                </a:solidFill>
                <a:latin typeface="Tenor Sans"/>
                <a:ea typeface="Tenor Sans"/>
                <a:cs typeface="Tenor Sans"/>
                <a:sym typeface="Tenor Sans"/>
              </a:rPr>
              <a:t>Introduction to PharmaConnect</a:t>
            </a:r>
          </a:p>
        </p:txBody>
      </p:sp>
      <p:grpSp>
        <p:nvGrpSpPr>
          <p:cNvPr id="3" name="Group 3">
            <a:extLst>
              <a:ext uri="{FF2B5EF4-FFF2-40B4-BE49-F238E27FC236}">
                <a16:creationId xmlns:a16="http://schemas.microsoft.com/office/drawing/2014/main" id="{7B2DCE7E-68AB-A391-7386-2DF60C51451D}"/>
              </a:ext>
            </a:extLst>
          </p:cNvPr>
          <p:cNvGrpSpPr/>
          <p:nvPr/>
        </p:nvGrpSpPr>
        <p:grpSpPr>
          <a:xfrm>
            <a:off x="10734675" y="3352794"/>
            <a:ext cx="5448300" cy="5165070"/>
            <a:chOff x="0" y="0"/>
            <a:chExt cx="7264400" cy="6886761"/>
          </a:xfrm>
        </p:grpSpPr>
        <p:sp>
          <p:nvSpPr>
            <p:cNvPr id="4" name="TextBox 4">
              <a:extLst>
                <a:ext uri="{FF2B5EF4-FFF2-40B4-BE49-F238E27FC236}">
                  <a16:creationId xmlns:a16="http://schemas.microsoft.com/office/drawing/2014/main" id="{0B26749F-2E14-6EA5-541D-355FC89CC304}"/>
                </a:ext>
              </a:extLst>
            </p:cNvPr>
            <p:cNvSpPr txBox="1"/>
            <p:nvPr/>
          </p:nvSpPr>
          <p:spPr>
            <a:xfrm>
              <a:off x="0" y="-47625"/>
              <a:ext cx="7264400" cy="530032"/>
            </a:xfrm>
            <a:prstGeom prst="rect">
              <a:avLst/>
            </a:prstGeom>
          </p:spPr>
          <p:txBody>
            <a:bodyPr lIns="0" tIns="0" rIns="0" bIns="0" rtlCol="0" anchor="t">
              <a:spAutoFit/>
            </a:bodyPr>
            <a:lstStyle/>
            <a:p>
              <a:pPr marL="0" lvl="0" indent="0" algn="l">
                <a:lnSpc>
                  <a:spcPts val="3360"/>
                </a:lnSpc>
                <a:spcBef>
                  <a:spcPct val="0"/>
                </a:spcBef>
              </a:pPr>
              <a:r>
                <a:rPr lang="en-US" sz="2400" b="1">
                  <a:solidFill>
                    <a:srgbClr val="D6E6E9"/>
                  </a:solidFill>
                  <a:latin typeface="Clear Sans Medium"/>
                  <a:ea typeface="Clear Sans Medium"/>
                  <a:cs typeface="Clear Sans Medium"/>
                  <a:sym typeface="Clear Sans Medium"/>
                </a:rPr>
                <a:t>CONNECTING PATIENTS</a:t>
              </a:r>
            </a:p>
          </p:txBody>
        </p:sp>
        <p:sp>
          <p:nvSpPr>
            <p:cNvPr id="5" name="TextBox 5">
              <a:extLst>
                <a:ext uri="{FF2B5EF4-FFF2-40B4-BE49-F238E27FC236}">
                  <a16:creationId xmlns:a16="http://schemas.microsoft.com/office/drawing/2014/main" id="{B3904EF5-4A79-0BFE-41CF-F2C2C81ED299}"/>
                </a:ext>
              </a:extLst>
            </p:cNvPr>
            <p:cNvSpPr txBox="1"/>
            <p:nvPr/>
          </p:nvSpPr>
          <p:spPr>
            <a:xfrm>
              <a:off x="0" y="878058"/>
              <a:ext cx="7264400" cy="1937157"/>
            </a:xfrm>
            <a:prstGeom prst="rect">
              <a:avLst/>
            </a:prstGeom>
          </p:spPr>
          <p:txBody>
            <a:bodyPr lIns="0" tIns="0" rIns="0" bIns="0" rtlCol="0" anchor="t">
              <a:spAutoFit/>
            </a:bodyPr>
            <a:lstStyle/>
            <a:p>
              <a:pPr marL="0" lvl="0" indent="0" algn="l">
                <a:lnSpc>
                  <a:spcPts val="2939"/>
                </a:lnSpc>
                <a:spcBef>
                  <a:spcPct val="0"/>
                </a:spcBef>
              </a:pPr>
              <a:r>
                <a:rPr lang="en-US" sz="2099">
                  <a:solidFill>
                    <a:srgbClr val="D6E6E9"/>
                  </a:solidFill>
                  <a:latin typeface="Clear Sans"/>
                  <a:ea typeface="Clear Sans"/>
                  <a:cs typeface="Clear Sans"/>
                  <a:sym typeface="Clear Sans"/>
                </a:rPr>
                <a:t>PharmaConnect is designed to seamlessly connect </a:t>
              </a:r>
              <a:r>
                <a:rPr lang="en-US" sz="2099" b="1">
                  <a:solidFill>
                    <a:srgbClr val="D6E6E9"/>
                  </a:solidFill>
                  <a:latin typeface="Clear Sans Bold"/>
                  <a:ea typeface="Clear Sans Bold"/>
                  <a:cs typeface="Clear Sans Bold"/>
                  <a:sym typeface="Clear Sans Bold"/>
                </a:rPr>
                <a:t>patients with local pharmacies</a:t>
              </a:r>
              <a:r>
                <a:rPr lang="en-US" sz="2099">
                  <a:solidFill>
                    <a:srgbClr val="D6E6E9"/>
                  </a:solidFill>
                  <a:latin typeface="Clear Sans"/>
                  <a:ea typeface="Clear Sans"/>
                  <a:cs typeface="Clear Sans"/>
                  <a:sym typeface="Clear Sans"/>
                </a:rPr>
                <a:t>, enhancing access to essential medications through an intuitive interface.</a:t>
              </a:r>
            </a:p>
          </p:txBody>
        </p:sp>
        <p:sp>
          <p:nvSpPr>
            <p:cNvPr id="6" name="TextBox 6">
              <a:extLst>
                <a:ext uri="{FF2B5EF4-FFF2-40B4-BE49-F238E27FC236}">
                  <a16:creationId xmlns:a16="http://schemas.microsoft.com/office/drawing/2014/main" id="{D39808B1-574A-10F7-97EC-8443C97CE92B}"/>
                </a:ext>
              </a:extLst>
            </p:cNvPr>
            <p:cNvSpPr txBox="1"/>
            <p:nvPr/>
          </p:nvSpPr>
          <p:spPr>
            <a:xfrm>
              <a:off x="0" y="4023921"/>
              <a:ext cx="7264400" cy="530032"/>
            </a:xfrm>
            <a:prstGeom prst="rect">
              <a:avLst/>
            </a:prstGeom>
          </p:spPr>
          <p:txBody>
            <a:bodyPr lIns="0" tIns="0" rIns="0" bIns="0" rtlCol="0" anchor="t">
              <a:spAutoFit/>
            </a:bodyPr>
            <a:lstStyle/>
            <a:p>
              <a:pPr marL="0" lvl="0" indent="0" algn="l">
                <a:lnSpc>
                  <a:spcPts val="3360"/>
                </a:lnSpc>
                <a:spcBef>
                  <a:spcPct val="0"/>
                </a:spcBef>
              </a:pPr>
              <a:r>
                <a:rPr lang="en-US" sz="2400" b="1">
                  <a:solidFill>
                    <a:srgbClr val="D6E6E9"/>
                  </a:solidFill>
                  <a:latin typeface="Clear Sans Medium"/>
                  <a:ea typeface="Clear Sans Medium"/>
                  <a:cs typeface="Clear Sans Medium"/>
                  <a:sym typeface="Clear Sans Medium"/>
                </a:rPr>
                <a:t>KEY FEATURES</a:t>
              </a:r>
            </a:p>
          </p:txBody>
        </p:sp>
        <p:sp>
          <p:nvSpPr>
            <p:cNvPr id="7" name="TextBox 7">
              <a:extLst>
                <a:ext uri="{FF2B5EF4-FFF2-40B4-BE49-F238E27FC236}">
                  <a16:creationId xmlns:a16="http://schemas.microsoft.com/office/drawing/2014/main" id="{E6F14C2E-5C64-A8F6-3933-CE0A41CE3533}"/>
                </a:ext>
              </a:extLst>
            </p:cNvPr>
            <p:cNvSpPr txBox="1"/>
            <p:nvPr/>
          </p:nvSpPr>
          <p:spPr>
            <a:xfrm>
              <a:off x="0" y="4949603"/>
              <a:ext cx="7264400" cy="1937157"/>
            </a:xfrm>
            <a:prstGeom prst="rect">
              <a:avLst/>
            </a:prstGeom>
          </p:spPr>
          <p:txBody>
            <a:bodyPr lIns="0" tIns="0" rIns="0" bIns="0" rtlCol="0" anchor="t">
              <a:spAutoFit/>
            </a:bodyPr>
            <a:lstStyle/>
            <a:p>
              <a:pPr marL="0" lvl="0" indent="0" algn="l">
                <a:lnSpc>
                  <a:spcPts val="2939"/>
                </a:lnSpc>
                <a:spcBef>
                  <a:spcPct val="0"/>
                </a:spcBef>
              </a:pPr>
              <a:r>
                <a:rPr lang="en-US" sz="2099" dirty="0">
                  <a:solidFill>
                    <a:srgbClr val="D6E6E9"/>
                  </a:solidFill>
                  <a:latin typeface="Clear Sans"/>
                  <a:ea typeface="Clear Sans"/>
                  <a:cs typeface="Clear Sans"/>
                  <a:sym typeface="Clear Sans"/>
                </a:rPr>
                <a:t>Users can easily </a:t>
              </a:r>
              <a:r>
                <a:rPr lang="en-US" sz="2099" b="1" dirty="0">
                  <a:solidFill>
                    <a:srgbClr val="D6E6E9"/>
                  </a:solidFill>
                  <a:latin typeface="Clear Sans Bold"/>
                  <a:ea typeface="Clear Sans Bold"/>
                  <a:cs typeface="Clear Sans Bold"/>
                  <a:sym typeface="Clear Sans Bold"/>
                </a:rPr>
                <a:t>locate nearby pharmacies</a:t>
              </a:r>
              <a:r>
                <a:rPr lang="en-US" sz="2099" dirty="0">
                  <a:solidFill>
                    <a:srgbClr val="D6E6E9"/>
                  </a:solidFill>
                  <a:latin typeface="Clear Sans"/>
                  <a:ea typeface="Clear Sans"/>
                  <a:cs typeface="Clear Sans"/>
                  <a:sym typeface="Clear Sans"/>
                </a:rPr>
                <a:t>, and book consultations, ensuring a comprehensive healthcare experience at their fingertips.</a:t>
              </a:r>
            </a:p>
          </p:txBody>
        </p:sp>
      </p:grpSp>
      <p:sp>
        <p:nvSpPr>
          <p:cNvPr id="8" name="Freeform 8">
            <a:extLst>
              <a:ext uri="{FF2B5EF4-FFF2-40B4-BE49-F238E27FC236}">
                <a16:creationId xmlns:a16="http://schemas.microsoft.com/office/drawing/2014/main" id="{AED347E6-11ED-95E7-8CFD-044F6187E982}"/>
              </a:ext>
            </a:extLst>
          </p:cNvPr>
          <p:cNvSpPr/>
          <p:nvPr/>
        </p:nvSpPr>
        <p:spPr>
          <a:xfrm>
            <a:off x="-3137432" y="7200900"/>
            <a:ext cx="6274865" cy="4114800"/>
          </a:xfrm>
          <a:custGeom>
            <a:avLst/>
            <a:gdLst/>
            <a:ahLst/>
            <a:cxnLst/>
            <a:rect l="l" t="t" r="r" b="b"/>
            <a:pathLst>
              <a:path w="6274865" h="4114800">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Tree>
    <p:extLst>
      <p:ext uri="{BB962C8B-B14F-4D97-AF65-F5344CB8AC3E}">
        <p14:creationId xmlns:p14="http://schemas.microsoft.com/office/powerpoint/2010/main" val="1079245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A8C98"/>
        </a:solidFill>
        <a:effectLst/>
      </p:bgPr>
    </p:bg>
    <p:spTree>
      <p:nvGrpSpPr>
        <p:cNvPr id="1" name=""/>
        <p:cNvGrpSpPr/>
        <p:nvPr/>
      </p:nvGrpSpPr>
      <p:grpSpPr>
        <a:xfrm>
          <a:off x="0" y="0"/>
          <a:ext cx="0" cy="0"/>
          <a:chOff x="0" y="0"/>
          <a:chExt cx="0" cy="0"/>
        </a:xfrm>
      </p:grpSpPr>
      <p:grpSp>
        <p:nvGrpSpPr>
          <p:cNvPr id="4" name="Group 4"/>
          <p:cNvGrpSpPr/>
          <p:nvPr/>
        </p:nvGrpSpPr>
        <p:grpSpPr>
          <a:xfrm>
            <a:off x="666750" y="1562100"/>
            <a:ext cx="9763125" cy="5526406"/>
            <a:chOff x="0" y="0"/>
            <a:chExt cx="13017500" cy="7368541"/>
          </a:xfrm>
        </p:grpSpPr>
        <p:sp>
          <p:nvSpPr>
            <p:cNvPr id="5" name="TextBox 5"/>
            <p:cNvSpPr txBox="1"/>
            <p:nvPr/>
          </p:nvSpPr>
          <p:spPr>
            <a:xfrm>
              <a:off x="0" y="4727729"/>
              <a:ext cx="13017500" cy="525145"/>
            </a:xfrm>
            <a:prstGeom prst="rect">
              <a:avLst/>
            </a:prstGeom>
          </p:spPr>
          <p:txBody>
            <a:bodyPr lIns="0" tIns="0" rIns="0" bIns="0" rtlCol="0" anchor="t">
              <a:spAutoFit/>
            </a:bodyPr>
            <a:lstStyle/>
            <a:p>
              <a:pPr marL="0" lvl="0" indent="0" algn="l">
                <a:lnSpc>
                  <a:spcPts val="3359"/>
                </a:lnSpc>
                <a:spcBef>
                  <a:spcPct val="0"/>
                </a:spcBef>
              </a:pPr>
              <a:r>
                <a:rPr lang="en-US" sz="2400" b="1">
                  <a:solidFill>
                    <a:srgbClr val="D6E6E9"/>
                  </a:solidFill>
                  <a:latin typeface="Clear Sans Bold"/>
                  <a:ea typeface="Clear Sans Bold"/>
                  <a:cs typeface="Clear Sans Bold"/>
                  <a:sym typeface="Clear Sans Bold"/>
                </a:rPr>
                <a:t>EGYPTIAN PATIENTS' NEEDS</a:t>
              </a:r>
            </a:p>
          </p:txBody>
        </p:sp>
        <p:sp>
          <p:nvSpPr>
            <p:cNvPr id="6" name="TextBox 6"/>
            <p:cNvSpPr txBox="1"/>
            <p:nvPr/>
          </p:nvSpPr>
          <p:spPr>
            <a:xfrm>
              <a:off x="0" y="5921547"/>
              <a:ext cx="13017500" cy="1446994"/>
            </a:xfrm>
            <a:prstGeom prst="rect">
              <a:avLst/>
            </a:prstGeom>
          </p:spPr>
          <p:txBody>
            <a:bodyPr lIns="0" tIns="0" rIns="0" bIns="0" rtlCol="0" anchor="t">
              <a:spAutoFit/>
            </a:bodyPr>
            <a:lstStyle/>
            <a:p>
              <a:pPr marL="0" lvl="0" indent="0" algn="l">
                <a:lnSpc>
                  <a:spcPts val="2939"/>
                </a:lnSpc>
                <a:spcBef>
                  <a:spcPct val="0"/>
                </a:spcBef>
              </a:pPr>
              <a:r>
                <a:rPr lang="en-US" sz="2099">
                  <a:solidFill>
                    <a:srgbClr val="D6E6E9"/>
                  </a:solidFill>
                  <a:latin typeface="Clear Sans"/>
                  <a:ea typeface="Clear Sans"/>
                  <a:cs typeface="Clear Sans"/>
                  <a:sym typeface="Clear Sans"/>
                </a:rPr>
                <a:t>PharmaConnect aims to serve </a:t>
              </a:r>
              <a:r>
                <a:rPr lang="en-US" sz="2099" b="1">
                  <a:solidFill>
                    <a:srgbClr val="D6E6E9"/>
                  </a:solidFill>
                  <a:latin typeface="Clear Sans Bold"/>
                  <a:ea typeface="Clear Sans Bold"/>
                  <a:cs typeface="Clear Sans Bold"/>
                  <a:sym typeface="Clear Sans Bold"/>
                </a:rPr>
                <a:t>Egyptian patients</a:t>
              </a:r>
              <a:r>
                <a:rPr lang="en-US" sz="2099">
                  <a:solidFill>
                    <a:srgbClr val="D6E6E9"/>
                  </a:solidFill>
                  <a:latin typeface="Clear Sans"/>
                  <a:ea typeface="Clear Sans"/>
                  <a:cs typeface="Clear Sans"/>
                  <a:sym typeface="Clear Sans"/>
                </a:rPr>
                <a:t> seeking easy access to nearby pharmacies while generating revenue through commissions, subscriptions, and ads.</a:t>
              </a:r>
            </a:p>
          </p:txBody>
        </p:sp>
        <p:sp>
          <p:nvSpPr>
            <p:cNvPr id="7" name="TextBox 7"/>
            <p:cNvSpPr txBox="1"/>
            <p:nvPr/>
          </p:nvSpPr>
          <p:spPr>
            <a:xfrm>
              <a:off x="0" y="0"/>
              <a:ext cx="13017500" cy="4223790"/>
            </a:xfrm>
            <a:prstGeom prst="rect">
              <a:avLst/>
            </a:prstGeom>
          </p:spPr>
          <p:txBody>
            <a:bodyPr lIns="0" tIns="0" rIns="0" bIns="0" rtlCol="0" anchor="t">
              <a:spAutoFit/>
            </a:bodyPr>
            <a:lstStyle/>
            <a:p>
              <a:pPr marL="0" lvl="0" indent="0" algn="l">
                <a:lnSpc>
                  <a:spcPts val="8399"/>
                </a:lnSpc>
              </a:pPr>
              <a:r>
                <a:rPr lang="en-US" sz="6999" spc="-139">
                  <a:solidFill>
                    <a:srgbClr val="D6E6E9"/>
                  </a:solidFill>
                  <a:latin typeface="Tenor Sans"/>
                  <a:ea typeface="Tenor Sans"/>
                  <a:cs typeface="Tenor Sans"/>
                  <a:sym typeface="Tenor Sans"/>
                </a:rPr>
                <a:t>Understanding Our Target Audience and Business Model</a:t>
              </a:r>
            </a:p>
          </p:txBody>
        </p:sp>
      </p:grpSp>
      <p:sp>
        <p:nvSpPr>
          <p:cNvPr id="8" name="Freeform 8">
            <a:extLst>
              <a:ext uri="{FF2B5EF4-FFF2-40B4-BE49-F238E27FC236}">
                <a16:creationId xmlns:a16="http://schemas.microsoft.com/office/drawing/2014/main" id="{2BF482B6-307F-06AD-535B-D80AAB2BDEAC}"/>
              </a:ext>
            </a:extLst>
          </p:cNvPr>
          <p:cNvSpPr/>
          <p:nvPr/>
        </p:nvSpPr>
        <p:spPr>
          <a:xfrm>
            <a:off x="11978722" y="6202926"/>
            <a:ext cx="6274865" cy="4114800"/>
          </a:xfrm>
          <a:custGeom>
            <a:avLst/>
            <a:gdLst/>
            <a:ahLst/>
            <a:cxnLst/>
            <a:rect l="l" t="t" r="r" b="b"/>
            <a:pathLst>
              <a:path w="6274865" h="4114800">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F3C4D"/>
        </a:solidFill>
        <a:effectLst/>
      </p:bgPr>
    </p:bg>
    <p:spTree>
      <p:nvGrpSpPr>
        <p:cNvPr id="1" name=""/>
        <p:cNvGrpSpPr/>
        <p:nvPr/>
      </p:nvGrpSpPr>
      <p:grpSpPr>
        <a:xfrm>
          <a:off x="0" y="0"/>
          <a:ext cx="0" cy="0"/>
          <a:chOff x="0" y="0"/>
          <a:chExt cx="0" cy="0"/>
        </a:xfrm>
      </p:grpSpPr>
      <p:sp>
        <p:nvSpPr>
          <p:cNvPr id="2" name="TextBox 2"/>
          <p:cNvSpPr txBox="1"/>
          <p:nvPr/>
        </p:nvSpPr>
        <p:spPr>
          <a:xfrm>
            <a:off x="666750" y="1562100"/>
            <a:ext cx="8324850" cy="1055948"/>
          </a:xfrm>
          <a:prstGeom prst="rect">
            <a:avLst/>
          </a:prstGeom>
        </p:spPr>
        <p:txBody>
          <a:bodyPr lIns="0" tIns="0" rIns="0" bIns="0" rtlCol="0" anchor="t">
            <a:spAutoFit/>
          </a:bodyPr>
          <a:lstStyle/>
          <a:p>
            <a:pPr marL="0" lvl="0" indent="0" algn="l">
              <a:lnSpc>
                <a:spcPts val="8399"/>
              </a:lnSpc>
            </a:pPr>
            <a:r>
              <a:rPr lang="en-US" sz="6999" spc="-139">
                <a:solidFill>
                  <a:srgbClr val="D6E6E9"/>
                </a:solidFill>
                <a:latin typeface="Tenor Sans"/>
                <a:ea typeface="Tenor Sans"/>
                <a:cs typeface="Tenor Sans"/>
                <a:sym typeface="Tenor Sans"/>
              </a:rPr>
              <a:t>Market Context</a:t>
            </a:r>
          </a:p>
        </p:txBody>
      </p:sp>
      <p:grpSp>
        <p:nvGrpSpPr>
          <p:cNvPr id="3" name="Group 3"/>
          <p:cNvGrpSpPr/>
          <p:nvPr/>
        </p:nvGrpSpPr>
        <p:grpSpPr>
          <a:xfrm>
            <a:off x="838200" y="3695700"/>
            <a:ext cx="9753600" cy="3727093"/>
            <a:chOff x="0" y="-47625"/>
            <a:chExt cx="9182100" cy="3984375"/>
          </a:xfrm>
        </p:grpSpPr>
        <p:sp>
          <p:nvSpPr>
            <p:cNvPr id="4" name="TextBox 4"/>
            <p:cNvSpPr txBox="1"/>
            <p:nvPr/>
          </p:nvSpPr>
          <p:spPr>
            <a:xfrm>
              <a:off x="0" y="-47625"/>
              <a:ext cx="9182100" cy="466115"/>
            </a:xfrm>
            <a:prstGeom prst="rect">
              <a:avLst/>
            </a:prstGeom>
          </p:spPr>
          <p:txBody>
            <a:bodyPr lIns="0" tIns="0" rIns="0" bIns="0" rtlCol="0" anchor="t">
              <a:spAutoFit/>
            </a:bodyPr>
            <a:lstStyle/>
            <a:p>
              <a:pPr marL="0" lvl="0" indent="0" algn="l">
                <a:lnSpc>
                  <a:spcPts val="3360"/>
                </a:lnSpc>
                <a:spcBef>
                  <a:spcPct val="0"/>
                </a:spcBef>
              </a:pPr>
              <a:r>
                <a:rPr lang="en-US" sz="3200" b="1" dirty="0">
                  <a:solidFill>
                    <a:srgbClr val="D6E6E9"/>
                  </a:solidFill>
                  <a:latin typeface="Clear Sans Medium"/>
                  <a:ea typeface="Clear Sans Medium"/>
                  <a:cs typeface="Clear Sans Medium"/>
                  <a:sym typeface="Clear Sans Medium"/>
                </a:rPr>
                <a:t>HEALTHCARE LANDSCAPE IN EGYPT</a:t>
              </a:r>
            </a:p>
          </p:txBody>
        </p:sp>
        <p:sp>
          <p:nvSpPr>
            <p:cNvPr id="5" name="TextBox 5"/>
            <p:cNvSpPr txBox="1"/>
            <p:nvPr/>
          </p:nvSpPr>
          <p:spPr>
            <a:xfrm>
              <a:off x="0" y="1146159"/>
              <a:ext cx="9182100" cy="2790591"/>
            </a:xfrm>
            <a:prstGeom prst="rect">
              <a:avLst/>
            </a:prstGeom>
          </p:spPr>
          <p:txBody>
            <a:bodyPr lIns="0" tIns="0" rIns="0" bIns="0" rtlCol="0" anchor="t">
              <a:spAutoFit/>
            </a:bodyPr>
            <a:lstStyle/>
            <a:p>
              <a:pPr lvl="0">
                <a:lnSpc>
                  <a:spcPts val="2939"/>
                </a:lnSpc>
                <a:spcBef>
                  <a:spcPct val="0"/>
                </a:spcBef>
              </a:pPr>
              <a:r>
                <a:rPr lang="en-US" sz="3200" dirty="0">
                  <a:solidFill>
                    <a:srgbClr val="D6E6E9"/>
                  </a:solidFill>
                  <a:latin typeface="Clear Sans"/>
                  <a:cs typeface="Clear Sans"/>
                  <a:sym typeface="Clear Sans"/>
                </a:rPr>
                <a:t>Egypt's healthcare system is evolving, with increasing demand for digital solutions that enhance patient access to pharmacies and streamline medication procurement.</a:t>
              </a:r>
            </a:p>
            <a:p>
              <a:pPr lvl="0">
                <a:lnSpc>
                  <a:spcPts val="2939"/>
                </a:lnSpc>
                <a:spcBef>
                  <a:spcPct val="0"/>
                </a:spcBef>
              </a:pPr>
              <a:br>
                <a:rPr lang="en-US" sz="3200" dirty="0">
                  <a:solidFill>
                    <a:srgbClr val="D6E6E9"/>
                  </a:solidFill>
                  <a:latin typeface="Clear Sans"/>
                  <a:cs typeface="Clear Sans"/>
                  <a:sym typeface="Clear Sans"/>
                </a:rPr>
              </a:br>
              <a:r>
                <a:rPr lang="en-US" sz="3200" dirty="0">
                  <a:solidFill>
                    <a:srgbClr val="D6E6E9"/>
                  </a:solidFill>
                  <a:latin typeface="Clear Sans"/>
                  <a:cs typeface="Clear Sans"/>
                </a:rPr>
                <a:t>The Egypt e‑pharmacy and digital health platforms market is valued at USD 59 million in 2024.</a:t>
              </a:r>
              <a:endParaRPr lang="en-US" sz="3200" dirty="0">
                <a:solidFill>
                  <a:srgbClr val="D6E6E9"/>
                </a:solidFill>
                <a:latin typeface="Clear Sans"/>
                <a:cs typeface="Clear Sans"/>
                <a:sym typeface="Clear Sans"/>
              </a:endParaRPr>
            </a:p>
          </p:txBody>
        </p:sp>
      </p:grpSp>
      <p:sp>
        <p:nvSpPr>
          <p:cNvPr id="6" name="Freeform 6"/>
          <p:cNvSpPr/>
          <p:nvPr/>
        </p:nvSpPr>
        <p:spPr>
          <a:xfrm>
            <a:off x="-3137432" y="7200900"/>
            <a:ext cx="6274865" cy="4114800"/>
          </a:xfrm>
          <a:custGeom>
            <a:avLst/>
            <a:gdLst/>
            <a:ahLst/>
            <a:cxnLst/>
            <a:rect l="l" t="t" r="r" b="b"/>
            <a:pathLst>
              <a:path w="6274865" h="4114800">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A6F82"/>
        </a:solidFill>
        <a:effectLst/>
      </p:bgPr>
    </p:bg>
    <p:spTree>
      <p:nvGrpSpPr>
        <p:cNvPr id="1" name=""/>
        <p:cNvGrpSpPr/>
        <p:nvPr/>
      </p:nvGrpSpPr>
      <p:grpSpPr>
        <a:xfrm>
          <a:off x="0" y="0"/>
          <a:ext cx="0" cy="0"/>
          <a:chOff x="0" y="0"/>
          <a:chExt cx="0" cy="0"/>
        </a:xfrm>
      </p:grpSpPr>
      <p:sp>
        <p:nvSpPr>
          <p:cNvPr id="2" name="TextBox 2"/>
          <p:cNvSpPr txBox="1"/>
          <p:nvPr/>
        </p:nvSpPr>
        <p:spPr>
          <a:xfrm>
            <a:off x="666750" y="1562086"/>
            <a:ext cx="8324850" cy="2114550"/>
          </a:xfrm>
          <a:prstGeom prst="rect">
            <a:avLst/>
          </a:prstGeom>
        </p:spPr>
        <p:txBody>
          <a:bodyPr lIns="0" tIns="0" rIns="0" bIns="0" rtlCol="0" anchor="t">
            <a:spAutoFit/>
          </a:bodyPr>
          <a:lstStyle/>
          <a:p>
            <a:pPr marL="0" lvl="0" indent="0" algn="l">
              <a:lnSpc>
                <a:spcPts val="8399"/>
              </a:lnSpc>
            </a:pPr>
            <a:r>
              <a:rPr lang="en-US" sz="6999" spc="-139">
                <a:solidFill>
                  <a:srgbClr val="D6E6E9"/>
                </a:solidFill>
                <a:latin typeface="Tenor Sans"/>
                <a:ea typeface="Tenor Sans"/>
                <a:cs typeface="Tenor Sans"/>
                <a:sym typeface="Tenor Sans"/>
              </a:rPr>
              <a:t>Opportunities for PharmaConnect</a:t>
            </a:r>
          </a:p>
        </p:txBody>
      </p:sp>
      <p:grpSp>
        <p:nvGrpSpPr>
          <p:cNvPr id="3" name="Group 3"/>
          <p:cNvGrpSpPr/>
          <p:nvPr/>
        </p:nvGrpSpPr>
        <p:grpSpPr>
          <a:xfrm>
            <a:off x="10734675" y="3317075"/>
            <a:ext cx="5448300" cy="5208193"/>
            <a:chOff x="0" y="-47625"/>
            <a:chExt cx="7264400" cy="6944257"/>
          </a:xfrm>
        </p:grpSpPr>
        <p:sp>
          <p:nvSpPr>
            <p:cNvPr id="4" name="TextBox 4"/>
            <p:cNvSpPr txBox="1"/>
            <p:nvPr/>
          </p:nvSpPr>
          <p:spPr>
            <a:xfrm>
              <a:off x="0" y="-47625"/>
              <a:ext cx="7264400" cy="530032"/>
            </a:xfrm>
            <a:prstGeom prst="rect">
              <a:avLst/>
            </a:prstGeom>
          </p:spPr>
          <p:txBody>
            <a:bodyPr lIns="0" tIns="0" rIns="0" bIns="0" rtlCol="0" anchor="t">
              <a:spAutoFit/>
            </a:bodyPr>
            <a:lstStyle/>
            <a:p>
              <a:pPr marL="0" lvl="0" indent="0" algn="l">
                <a:lnSpc>
                  <a:spcPts val="3360"/>
                </a:lnSpc>
                <a:spcBef>
                  <a:spcPct val="0"/>
                </a:spcBef>
              </a:pPr>
              <a:r>
                <a:rPr lang="en-US" sz="2400" b="1">
                  <a:solidFill>
                    <a:srgbClr val="D6E6E9"/>
                  </a:solidFill>
                  <a:latin typeface="Clear Sans Medium"/>
                  <a:ea typeface="Clear Sans Medium"/>
                  <a:cs typeface="Clear Sans Medium"/>
                  <a:sym typeface="Clear Sans Medium"/>
                </a:rPr>
                <a:t>ACCESSIBILITY CHALLENGES</a:t>
              </a:r>
            </a:p>
          </p:txBody>
        </p:sp>
        <p:sp>
          <p:nvSpPr>
            <p:cNvPr id="5" name="TextBox 5"/>
            <p:cNvSpPr txBox="1"/>
            <p:nvPr/>
          </p:nvSpPr>
          <p:spPr>
            <a:xfrm>
              <a:off x="0" y="878058"/>
              <a:ext cx="7264400" cy="1937157"/>
            </a:xfrm>
            <a:prstGeom prst="rect">
              <a:avLst/>
            </a:prstGeom>
          </p:spPr>
          <p:txBody>
            <a:bodyPr lIns="0" tIns="0" rIns="0" bIns="0" rtlCol="0" anchor="t">
              <a:spAutoFit/>
            </a:bodyPr>
            <a:lstStyle/>
            <a:p>
              <a:pPr marL="0" lvl="0" indent="0" algn="l">
                <a:lnSpc>
                  <a:spcPts val="2939"/>
                </a:lnSpc>
                <a:spcBef>
                  <a:spcPct val="0"/>
                </a:spcBef>
              </a:pPr>
              <a:r>
                <a:rPr lang="en-US" sz="2099">
                  <a:solidFill>
                    <a:srgbClr val="D6E6E9"/>
                  </a:solidFill>
                  <a:latin typeface="Clear Sans"/>
                  <a:ea typeface="Clear Sans"/>
                  <a:cs typeface="Clear Sans"/>
                  <a:sym typeface="Clear Sans"/>
                </a:rPr>
                <a:t>Many patients in Egypt encounter </a:t>
              </a:r>
              <a:r>
                <a:rPr lang="en-US" sz="2099" b="1">
                  <a:solidFill>
                    <a:srgbClr val="D6E6E9"/>
                  </a:solidFill>
                  <a:latin typeface="Clear Sans Bold"/>
                  <a:ea typeface="Clear Sans Bold"/>
                  <a:cs typeface="Clear Sans Bold"/>
                  <a:sym typeface="Clear Sans Bold"/>
                </a:rPr>
                <a:t>difficulties accessing pharmacies</a:t>
              </a:r>
              <a:r>
                <a:rPr lang="en-US" sz="2099">
                  <a:solidFill>
                    <a:srgbClr val="D6E6E9"/>
                  </a:solidFill>
                  <a:latin typeface="Clear Sans"/>
                  <a:ea typeface="Clear Sans"/>
                  <a:cs typeface="Clear Sans"/>
                  <a:sym typeface="Clear Sans"/>
                </a:rPr>
                <a:t>, leading to delays in medication procurement and missed health consultations.</a:t>
              </a:r>
            </a:p>
          </p:txBody>
        </p:sp>
        <p:sp>
          <p:nvSpPr>
            <p:cNvPr id="6" name="TextBox 6"/>
            <p:cNvSpPr txBox="1"/>
            <p:nvPr/>
          </p:nvSpPr>
          <p:spPr>
            <a:xfrm>
              <a:off x="0" y="4023921"/>
              <a:ext cx="7264400" cy="530032"/>
            </a:xfrm>
            <a:prstGeom prst="rect">
              <a:avLst/>
            </a:prstGeom>
          </p:spPr>
          <p:txBody>
            <a:bodyPr lIns="0" tIns="0" rIns="0" bIns="0" rtlCol="0" anchor="t">
              <a:spAutoFit/>
            </a:bodyPr>
            <a:lstStyle/>
            <a:p>
              <a:pPr marL="0" lvl="0" indent="0" algn="l">
                <a:lnSpc>
                  <a:spcPts val="3360"/>
                </a:lnSpc>
                <a:spcBef>
                  <a:spcPct val="0"/>
                </a:spcBef>
              </a:pPr>
              <a:r>
                <a:rPr lang="en-US" sz="2400" b="1">
                  <a:solidFill>
                    <a:srgbClr val="D6E6E9"/>
                  </a:solidFill>
                  <a:latin typeface="Clear Sans Medium"/>
                  <a:ea typeface="Clear Sans Medium"/>
                  <a:cs typeface="Clear Sans Medium"/>
                  <a:sym typeface="Clear Sans Medium"/>
                </a:rPr>
                <a:t>MARKET SIZE ESTIMATES</a:t>
              </a:r>
            </a:p>
          </p:txBody>
        </p:sp>
        <p:sp>
          <p:nvSpPr>
            <p:cNvPr id="7" name="TextBox 7"/>
            <p:cNvSpPr txBox="1"/>
            <p:nvPr/>
          </p:nvSpPr>
          <p:spPr>
            <a:xfrm>
              <a:off x="0" y="4949603"/>
              <a:ext cx="7264400" cy="1947029"/>
            </a:xfrm>
            <a:prstGeom prst="rect">
              <a:avLst/>
            </a:prstGeom>
          </p:spPr>
          <p:txBody>
            <a:bodyPr lIns="0" tIns="0" rIns="0" bIns="0" rtlCol="0" anchor="t">
              <a:spAutoFit/>
            </a:bodyPr>
            <a:lstStyle/>
            <a:p>
              <a:pPr marL="0" lvl="0" indent="0" algn="l">
                <a:lnSpc>
                  <a:spcPts val="2939"/>
                </a:lnSpc>
                <a:spcBef>
                  <a:spcPct val="0"/>
                </a:spcBef>
              </a:pPr>
              <a:r>
                <a:rPr lang="en-US" sz="2099" dirty="0">
                  <a:solidFill>
                    <a:srgbClr val="D6E6E9"/>
                  </a:solidFill>
                  <a:latin typeface="Clear Sans"/>
                  <a:ea typeface="Clear Sans"/>
                  <a:cs typeface="Clear Sans"/>
                  <a:sym typeface="Clear Sans"/>
                </a:rPr>
                <a:t>The digital pharmacy market in Egypt is projected to grow significantly, with estimates suggesting a big </a:t>
              </a:r>
              <a:r>
                <a:rPr lang="en-US" sz="2099" b="1" dirty="0">
                  <a:solidFill>
                    <a:srgbClr val="D6E6E9"/>
                  </a:solidFill>
                  <a:latin typeface="Clear Sans Bold"/>
                  <a:ea typeface="Clear Sans Bold"/>
                  <a:cs typeface="Clear Sans Bold"/>
                  <a:sym typeface="Clear Sans Bold"/>
                </a:rPr>
                <a:t>opportunity</a:t>
              </a:r>
              <a:r>
                <a:rPr lang="en-US" sz="2099" dirty="0">
                  <a:solidFill>
                    <a:srgbClr val="D6E6E9"/>
                  </a:solidFill>
                  <a:latin typeface="Clear Sans"/>
                  <a:ea typeface="Clear Sans"/>
                  <a:cs typeface="Clear Sans"/>
                  <a:sym typeface="Clear Sans"/>
                </a:rPr>
                <a:t> as online health solutions gain traction.</a:t>
              </a:r>
            </a:p>
          </p:txBody>
        </p:sp>
      </p:grpSp>
      <p:sp>
        <p:nvSpPr>
          <p:cNvPr id="8" name="Freeform 8"/>
          <p:cNvSpPr/>
          <p:nvPr/>
        </p:nvSpPr>
        <p:spPr>
          <a:xfrm>
            <a:off x="-3137432" y="7200900"/>
            <a:ext cx="6274865" cy="4114800"/>
          </a:xfrm>
          <a:custGeom>
            <a:avLst/>
            <a:gdLst/>
            <a:ahLst/>
            <a:cxnLst/>
            <a:rect l="l" t="t" r="r" b="b"/>
            <a:pathLst>
              <a:path w="6274865" h="4114800">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A8C98"/>
        </a:solidFill>
        <a:effectLst/>
      </p:bgPr>
    </p:bg>
    <p:spTree>
      <p:nvGrpSpPr>
        <p:cNvPr id="1" name=""/>
        <p:cNvGrpSpPr/>
        <p:nvPr/>
      </p:nvGrpSpPr>
      <p:grpSpPr>
        <a:xfrm>
          <a:off x="0" y="0"/>
          <a:ext cx="0" cy="0"/>
          <a:chOff x="0" y="0"/>
          <a:chExt cx="0" cy="0"/>
        </a:xfrm>
      </p:grpSpPr>
      <p:sp>
        <p:nvSpPr>
          <p:cNvPr id="2" name="TextBox 2"/>
          <p:cNvSpPr txBox="1"/>
          <p:nvPr/>
        </p:nvSpPr>
        <p:spPr>
          <a:xfrm>
            <a:off x="666750" y="1562086"/>
            <a:ext cx="8324850" cy="2114550"/>
          </a:xfrm>
          <a:prstGeom prst="rect">
            <a:avLst/>
          </a:prstGeom>
        </p:spPr>
        <p:txBody>
          <a:bodyPr lIns="0" tIns="0" rIns="0" bIns="0" rtlCol="0" anchor="t">
            <a:spAutoFit/>
          </a:bodyPr>
          <a:lstStyle/>
          <a:p>
            <a:pPr marL="0" lvl="0" indent="0" algn="l">
              <a:lnSpc>
                <a:spcPts val="8399"/>
              </a:lnSpc>
            </a:pPr>
            <a:r>
              <a:rPr lang="en-US" sz="6999" spc="-139">
                <a:solidFill>
                  <a:srgbClr val="D6E6E9"/>
                </a:solidFill>
                <a:latin typeface="Tenor Sans"/>
                <a:ea typeface="Tenor Sans"/>
                <a:cs typeface="Tenor Sans"/>
                <a:sym typeface="Tenor Sans"/>
              </a:rPr>
              <a:t>SWOT Analysis of PharmaConnect</a:t>
            </a:r>
          </a:p>
        </p:txBody>
      </p:sp>
      <p:grpSp>
        <p:nvGrpSpPr>
          <p:cNvPr id="3" name="Group 3"/>
          <p:cNvGrpSpPr/>
          <p:nvPr/>
        </p:nvGrpSpPr>
        <p:grpSpPr>
          <a:xfrm>
            <a:off x="10734675" y="3317075"/>
            <a:ext cx="5448300" cy="5200788"/>
            <a:chOff x="0" y="-47625"/>
            <a:chExt cx="7264400" cy="6934385"/>
          </a:xfrm>
        </p:grpSpPr>
        <p:sp>
          <p:nvSpPr>
            <p:cNvPr id="4" name="TextBox 4"/>
            <p:cNvSpPr txBox="1"/>
            <p:nvPr/>
          </p:nvSpPr>
          <p:spPr>
            <a:xfrm>
              <a:off x="0" y="-47625"/>
              <a:ext cx="7264400" cy="536215"/>
            </a:xfrm>
            <a:prstGeom prst="rect">
              <a:avLst/>
            </a:prstGeom>
          </p:spPr>
          <p:txBody>
            <a:bodyPr lIns="0" tIns="0" rIns="0" bIns="0" rtlCol="0" anchor="t">
              <a:spAutoFit/>
            </a:bodyPr>
            <a:lstStyle/>
            <a:p>
              <a:pPr marL="0" lvl="0" indent="0" algn="l">
                <a:lnSpc>
                  <a:spcPts val="3360"/>
                </a:lnSpc>
                <a:spcBef>
                  <a:spcPct val="0"/>
                </a:spcBef>
              </a:pPr>
              <a:r>
                <a:rPr lang="en-US" sz="2400" b="1" dirty="0">
                  <a:solidFill>
                    <a:srgbClr val="D6E6E9"/>
                  </a:solidFill>
                  <a:latin typeface="Clear Sans Medium"/>
                  <a:ea typeface="Clear Sans Medium"/>
                  <a:cs typeface="Clear Sans Medium"/>
                  <a:sym typeface="Clear Sans Medium"/>
                </a:rPr>
                <a:t>STRENGTHS</a:t>
              </a:r>
            </a:p>
          </p:txBody>
        </p:sp>
        <p:sp>
          <p:nvSpPr>
            <p:cNvPr id="5" name="TextBox 5"/>
            <p:cNvSpPr txBox="1"/>
            <p:nvPr/>
          </p:nvSpPr>
          <p:spPr>
            <a:xfrm>
              <a:off x="0" y="878056"/>
              <a:ext cx="7264400" cy="3434616"/>
            </a:xfrm>
            <a:prstGeom prst="rect">
              <a:avLst/>
            </a:prstGeom>
          </p:spPr>
          <p:txBody>
            <a:bodyPr lIns="0" tIns="0" rIns="0" bIns="0" rtlCol="0" anchor="t">
              <a:spAutoFit/>
            </a:bodyPr>
            <a:lstStyle/>
            <a:p>
              <a:pPr marL="0" lvl="0" indent="0" algn="l">
                <a:lnSpc>
                  <a:spcPts val="2939"/>
                </a:lnSpc>
                <a:spcBef>
                  <a:spcPct val="0"/>
                </a:spcBef>
              </a:pPr>
              <a:r>
                <a:rPr lang="en-US" sz="2099" dirty="0" err="1">
                  <a:solidFill>
                    <a:srgbClr val="D6E6E9"/>
                  </a:solidFill>
                  <a:latin typeface="Clear Sans"/>
                  <a:ea typeface="Clear Sans"/>
                  <a:cs typeface="Clear Sans"/>
                  <a:sym typeface="Clear Sans"/>
                </a:rPr>
                <a:t>PharmaConnect</a:t>
              </a:r>
              <a:r>
                <a:rPr lang="en-US" sz="2099" dirty="0">
                  <a:solidFill>
                    <a:srgbClr val="D6E6E9"/>
                  </a:solidFill>
                  <a:latin typeface="Clear Sans"/>
                  <a:ea typeface="Clear Sans"/>
                  <a:cs typeface="Clear Sans"/>
                  <a:sym typeface="Clear Sans"/>
                </a:rPr>
                <a:t> leverages </a:t>
              </a:r>
              <a:r>
                <a:rPr lang="en-US" sz="2099" b="1" dirty="0">
                  <a:solidFill>
                    <a:srgbClr val="D6E6E9"/>
                  </a:solidFill>
                  <a:latin typeface="Clear Sans Bold"/>
                  <a:ea typeface="Clear Sans Bold"/>
                  <a:cs typeface="Clear Sans Bold"/>
                  <a:sym typeface="Clear Sans Bold"/>
                </a:rPr>
                <a:t>local market knowledge</a:t>
              </a:r>
              <a:r>
                <a:rPr lang="en-US" sz="2099" dirty="0">
                  <a:solidFill>
                    <a:srgbClr val="D6E6E9"/>
                  </a:solidFill>
                  <a:latin typeface="Clear Sans"/>
                  <a:ea typeface="Clear Sans"/>
                  <a:cs typeface="Clear Sans"/>
                  <a:sym typeface="Clear Sans"/>
                </a:rPr>
                <a:t> to create a user-friendly platform that simplifies patient-pharmacy interactions in Egypt's healthcare landscape. Also, it will get revenue from all the pharmacies contracted with it as of marketing and the process.</a:t>
              </a:r>
            </a:p>
          </p:txBody>
        </p:sp>
        <p:sp>
          <p:nvSpPr>
            <p:cNvPr id="6" name="TextBox 6"/>
            <p:cNvSpPr txBox="1"/>
            <p:nvPr/>
          </p:nvSpPr>
          <p:spPr>
            <a:xfrm>
              <a:off x="0" y="4312673"/>
              <a:ext cx="7264400" cy="536215"/>
            </a:xfrm>
            <a:prstGeom prst="rect">
              <a:avLst/>
            </a:prstGeom>
          </p:spPr>
          <p:txBody>
            <a:bodyPr lIns="0" tIns="0" rIns="0" bIns="0" rtlCol="0" anchor="t">
              <a:spAutoFit/>
            </a:bodyPr>
            <a:lstStyle/>
            <a:p>
              <a:pPr lvl="0">
                <a:lnSpc>
                  <a:spcPts val="3360"/>
                </a:lnSpc>
                <a:spcBef>
                  <a:spcPct val="0"/>
                </a:spcBef>
              </a:pPr>
              <a:r>
                <a:rPr lang="en-US" sz="2400" b="1" dirty="0">
                  <a:solidFill>
                    <a:srgbClr val="D6E6E9"/>
                  </a:solidFill>
                  <a:latin typeface="Clear Sans Medium"/>
                  <a:ea typeface="Clear Sans Medium"/>
                  <a:cs typeface="Clear Sans Medium"/>
                  <a:sym typeface="Clear Sans Medium"/>
                </a:rPr>
                <a:t>WEAKNESSES</a:t>
              </a:r>
            </a:p>
          </p:txBody>
        </p:sp>
        <p:sp>
          <p:nvSpPr>
            <p:cNvPr id="7" name="TextBox 7"/>
            <p:cNvSpPr txBox="1"/>
            <p:nvPr/>
          </p:nvSpPr>
          <p:spPr>
            <a:xfrm>
              <a:off x="0" y="4949603"/>
              <a:ext cx="7264400" cy="1937157"/>
            </a:xfrm>
            <a:prstGeom prst="rect">
              <a:avLst/>
            </a:prstGeom>
          </p:spPr>
          <p:txBody>
            <a:bodyPr lIns="0" tIns="0" rIns="0" bIns="0" rtlCol="0" anchor="t">
              <a:spAutoFit/>
            </a:bodyPr>
            <a:lstStyle/>
            <a:p>
              <a:pPr marL="0" lvl="0" indent="0" algn="l">
                <a:lnSpc>
                  <a:spcPts val="2939"/>
                </a:lnSpc>
                <a:spcBef>
                  <a:spcPct val="0"/>
                </a:spcBef>
              </a:pPr>
              <a:r>
                <a:rPr lang="en-US" sz="2099" dirty="0">
                  <a:solidFill>
                    <a:srgbClr val="D6E6E9"/>
                  </a:solidFill>
                  <a:latin typeface="Clear Sans"/>
                  <a:ea typeface="Clear Sans"/>
                  <a:cs typeface="Clear Sans"/>
                  <a:sym typeface="Clear Sans"/>
                </a:rPr>
                <a:t>As a new entrant, </a:t>
              </a:r>
              <a:r>
                <a:rPr lang="en-US" sz="2099" dirty="0" err="1">
                  <a:solidFill>
                    <a:srgbClr val="D6E6E9"/>
                  </a:solidFill>
                  <a:latin typeface="Clear Sans"/>
                  <a:ea typeface="Clear Sans"/>
                  <a:cs typeface="Clear Sans"/>
                  <a:sym typeface="Clear Sans"/>
                </a:rPr>
                <a:t>PharmaConnect</a:t>
              </a:r>
              <a:r>
                <a:rPr lang="en-US" sz="2099" dirty="0">
                  <a:solidFill>
                    <a:srgbClr val="D6E6E9"/>
                  </a:solidFill>
                  <a:latin typeface="Clear Sans"/>
                  <a:ea typeface="Clear Sans"/>
                  <a:cs typeface="Clear Sans"/>
                  <a:sym typeface="Clear Sans"/>
                </a:rPr>
                <a:t> faces </a:t>
              </a:r>
              <a:r>
                <a:rPr lang="en-US" sz="2099" b="1" dirty="0">
                  <a:solidFill>
                    <a:srgbClr val="D6E6E9"/>
                  </a:solidFill>
                  <a:latin typeface="Clear Sans Bold"/>
                  <a:ea typeface="Clear Sans Bold"/>
                  <a:cs typeface="Clear Sans Bold"/>
                  <a:sym typeface="Clear Sans Bold"/>
                </a:rPr>
                <a:t>technology adoption barriers</a:t>
              </a:r>
              <a:r>
                <a:rPr lang="en-US" sz="2099" dirty="0">
                  <a:solidFill>
                    <a:srgbClr val="D6E6E9"/>
                  </a:solidFill>
                  <a:latin typeface="Clear Sans"/>
                  <a:ea typeface="Clear Sans"/>
                  <a:cs typeface="Clear Sans"/>
                  <a:sym typeface="Clear Sans"/>
                </a:rPr>
                <a:t> among users and must ensure strong cooperation from pharmacies to succeed.</a:t>
              </a:r>
            </a:p>
          </p:txBody>
        </p:sp>
      </p:grpSp>
      <p:sp>
        <p:nvSpPr>
          <p:cNvPr id="8" name="Freeform 8"/>
          <p:cNvSpPr/>
          <p:nvPr/>
        </p:nvSpPr>
        <p:spPr>
          <a:xfrm>
            <a:off x="-3137432" y="7200900"/>
            <a:ext cx="6274865" cy="4114800"/>
          </a:xfrm>
          <a:custGeom>
            <a:avLst/>
            <a:gdLst/>
            <a:ahLst/>
            <a:cxnLst/>
            <a:rect l="l" t="t" r="r" b="b"/>
            <a:pathLst>
              <a:path w="6274865" h="4114800">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F3C4D"/>
        </a:solidFill>
        <a:effectLst/>
      </p:bgPr>
    </p:bg>
    <p:spTree>
      <p:nvGrpSpPr>
        <p:cNvPr id="1" name=""/>
        <p:cNvGrpSpPr/>
        <p:nvPr/>
      </p:nvGrpSpPr>
      <p:grpSpPr>
        <a:xfrm>
          <a:off x="0" y="0"/>
          <a:ext cx="0" cy="0"/>
          <a:chOff x="0" y="0"/>
          <a:chExt cx="0" cy="0"/>
        </a:xfrm>
      </p:grpSpPr>
      <p:sp>
        <p:nvSpPr>
          <p:cNvPr id="2" name="TextBox 2"/>
          <p:cNvSpPr txBox="1"/>
          <p:nvPr/>
        </p:nvSpPr>
        <p:spPr>
          <a:xfrm>
            <a:off x="666750" y="1562086"/>
            <a:ext cx="8324850" cy="2114550"/>
          </a:xfrm>
          <a:prstGeom prst="rect">
            <a:avLst/>
          </a:prstGeom>
        </p:spPr>
        <p:txBody>
          <a:bodyPr lIns="0" tIns="0" rIns="0" bIns="0" rtlCol="0" anchor="t">
            <a:spAutoFit/>
          </a:bodyPr>
          <a:lstStyle/>
          <a:p>
            <a:pPr marL="0" lvl="0" indent="0" algn="l">
              <a:lnSpc>
                <a:spcPts val="8399"/>
              </a:lnSpc>
            </a:pPr>
            <a:r>
              <a:rPr lang="en-US" sz="6999" spc="-139">
                <a:solidFill>
                  <a:srgbClr val="D6E6E9"/>
                </a:solidFill>
                <a:latin typeface="Tenor Sans"/>
                <a:ea typeface="Tenor Sans"/>
                <a:cs typeface="Tenor Sans"/>
                <a:sym typeface="Tenor Sans"/>
              </a:rPr>
              <a:t>Opportunities and Threats</a:t>
            </a:r>
          </a:p>
        </p:txBody>
      </p:sp>
      <p:grpSp>
        <p:nvGrpSpPr>
          <p:cNvPr id="3" name="Group 3"/>
          <p:cNvGrpSpPr/>
          <p:nvPr/>
        </p:nvGrpSpPr>
        <p:grpSpPr>
          <a:xfrm>
            <a:off x="10734675" y="3317075"/>
            <a:ext cx="5448300" cy="5568411"/>
            <a:chOff x="0" y="-47625"/>
            <a:chExt cx="7264400" cy="7424548"/>
          </a:xfrm>
        </p:grpSpPr>
        <p:sp>
          <p:nvSpPr>
            <p:cNvPr id="4" name="TextBox 4"/>
            <p:cNvSpPr txBox="1"/>
            <p:nvPr/>
          </p:nvSpPr>
          <p:spPr>
            <a:xfrm>
              <a:off x="0" y="-47625"/>
              <a:ext cx="7264400" cy="536215"/>
            </a:xfrm>
            <a:prstGeom prst="rect">
              <a:avLst/>
            </a:prstGeom>
          </p:spPr>
          <p:txBody>
            <a:bodyPr lIns="0" tIns="0" rIns="0" bIns="0" rtlCol="0" anchor="t">
              <a:spAutoFit/>
            </a:bodyPr>
            <a:lstStyle/>
            <a:p>
              <a:pPr marL="0" lvl="0" indent="0" algn="l">
                <a:lnSpc>
                  <a:spcPts val="3360"/>
                </a:lnSpc>
                <a:spcBef>
                  <a:spcPct val="0"/>
                </a:spcBef>
              </a:pPr>
              <a:r>
                <a:rPr lang="en-US" sz="2400" b="1" dirty="0">
                  <a:solidFill>
                    <a:srgbClr val="D6E6E9"/>
                  </a:solidFill>
                  <a:latin typeface="Clear Sans Medium"/>
                  <a:ea typeface="Clear Sans Medium"/>
                  <a:cs typeface="Clear Sans Medium"/>
                  <a:sym typeface="Clear Sans Medium"/>
                </a:rPr>
                <a:t>Opportunities</a:t>
              </a:r>
            </a:p>
          </p:txBody>
        </p:sp>
        <p:sp>
          <p:nvSpPr>
            <p:cNvPr id="5" name="TextBox 5"/>
            <p:cNvSpPr txBox="1"/>
            <p:nvPr/>
          </p:nvSpPr>
          <p:spPr>
            <a:xfrm>
              <a:off x="0" y="878058"/>
              <a:ext cx="7264400" cy="1937157"/>
            </a:xfrm>
            <a:prstGeom prst="rect">
              <a:avLst/>
            </a:prstGeom>
          </p:spPr>
          <p:txBody>
            <a:bodyPr lIns="0" tIns="0" rIns="0" bIns="0" rtlCol="0" anchor="t">
              <a:spAutoFit/>
            </a:bodyPr>
            <a:lstStyle/>
            <a:p>
              <a:pPr marL="0" lvl="0" indent="0" algn="l">
                <a:lnSpc>
                  <a:spcPts val="2939"/>
                </a:lnSpc>
                <a:spcBef>
                  <a:spcPct val="0"/>
                </a:spcBef>
              </a:pPr>
              <a:r>
                <a:rPr lang="en-US" sz="2099">
                  <a:solidFill>
                    <a:srgbClr val="D6E6E9"/>
                  </a:solidFill>
                  <a:latin typeface="Clear Sans"/>
                  <a:ea typeface="Clear Sans"/>
                  <a:cs typeface="Clear Sans"/>
                  <a:sym typeface="Clear Sans"/>
                </a:rPr>
                <a:t>The increasing demand for </a:t>
              </a:r>
              <a:r>
                <a:rPr lang="en-US" sz="2099" b="1">
                  <a:solidFill>
                    <a:srgbClr val="D6E6E9"/>
                  </a:solidFill>
                  <a:latin typeface="Clear Sans Bold"/>
                  <a:ea typeface="Clear Sans Bold"/>
                  <a:cs typeface="Clear Sans Bold"/>
                  <a:sym typeface="Clear Sans Bold"/>
                </a:rPr>
                <a:t>digital health solutions</a:t>
              </a:r>
              <a:r>
                <a:rPr lang="en-US" sz="2099">
                  <a:solidFill>
                    <a:srgbClr val="D6E6E9"/>
                  </a:solidFill>
                  <a:latin typeface="Clear Sans"/>
                  <a:ea typeface="Clear Sans"/>
                  <a:cs typeface="Clear Sans"/>
                  <a:sym typeface="Clear Sans"/>
                </a:rPr>
                <a:t> presents significant opportunities for PharmaConnect to enhance patient access and convenience in Egypt.</a:t>
              </a:r>
            </a:p>
          </p:txBody>
        </p:sp>
        <p:sp>
          <p:nvSpPr>
            <p:cNvPr id="6" name="TextBox 6"/>
            <p:cNvSpPr txBox="1"/>
            <p:nvPr/>
          </p:nvSpPr>
          <p:spPr>
            <a:xfrm>
              <a:off x="0" y="4023921"/>
              <a:ext cx="7264400" cy="536215"/>
            </a:xfrm>
            <a:prstGeom prst="rect">
              <a:avLst/>
            </a:prstGeom>
          </p:spPr>
          <p:txBody>
            <a:bodyPr lIns="0" tIns="0" rIns="0" bIns="0" rtlCol="0" anchor="t">
              <a:spAutoFit/>
            </a:bodyPr>
            <a:lstStyle/>
            <a:p>
              <a:pPr marL="0" lvl="0" indent="0" algn="l">
                <a:lnSpc>
                  <a:spcPts val="3360"/>
                </a:lnSpc>
                <a:spcBef>
                  <a:spcPct val="0"/>
                </a:spcBef>
              </a:pPr>
              <a:r>
                <a:rPr lang="en-US" sz="2400" b="1" dirty="0">
                  <a:solidFill>
                    <a:srgbClr val="D6E6E9"/>
                  </a:solidFill>
                  <a:latin typeface="Clear Sans Medium"/>
                  <a:ea typeface="Clear Sans Medium"/>
                  <a:cs typeface="Clear Sans Medium"/>
                  <a:sym typeface="Clear Sans Medium"/>
                </a:rPr>
                <a:t>Threats</a:t>
              </a:r>
            </a:p>
          </p:txBody>
        </p:sp>
        <p:sp>
          <p:nvSpPr>
            <p:cNvPr id="7" name="TextBox 7"/>
            <p:cNvSpPr txBox="1"/>
            <p:nvPr/>
          </p:nvSpPr>
          <p:spPr>
            <a:xfrm>
              <a:off x="0" y="4949603"/>
              <a:ext cx="7264400" cy="2427320"/>
            </a:xfrm>
            <a:prstGeom prst="rect">
              <a:avLst/>
            </a:prstGeom>
          </p:spPr>
          <p:txBody>
            <a:bodyPr lIns="0" tIns="0" rIns="0" bIns="0" rtlCol="0" anchor="t">
              <a:spAutoFit/>
            </a:bodyPr>
            <a:lstStyle/>
            <a:p>
              <a:pPr marL="0" lvl="0" indent="0" algn="l">
                <a:lnSpc>
                  <a:spcPts val="2939"/>
                </a:lnSpc>
                <a:spcBef>
                  <a:spcPct val="0"/>
                </a:spcBef>
              </a:pPr>
              <a:r>
                <a:rPr lang="en-US" sz="2099">
                  <a:solidFill>
                    <a:srgbClr val="D6E6E9"/>
                  </a:solidFill>
                  <a:latin typeface="Clear Sans"/>
                  <a:ea typeface="Clear Sans"/>
                  <a:cs typeface="Clear Sans"/>
                  <a:sym typeface="Clear Sans"/>
                </a:rPr>
                <a:t>Regulatory changes and competition from established players pose challenges, potentially impacting PharmaConnect's market entry and growth strategies in the healthcare landscape.</a:t>
              </a:r>
            </a:p>
          </p:txBody>
        </p:sp>
      </p:grpSp>
      <p:sp>
        <p:nvSpPr>
          <p:cNvPr id="8" name="Freeform 8"/>
          <p:cNvSpPr/>
          <p:nvPr/>
        </p:nvSpPr>
        <p:spPr>
          <a:xfrm>
            <a:off x="-3137432" y="7200900"/>
            <a:ext cx="6274865" cy="4114800"/>
          </a:xfrm>
          <a:custGeom>
            <a:avLst/>
            <a:gdLst/>
            <a:ahLst/>
            <a:cxnLst/>
            <a:rect l="l" t="t" r="r" b="b"/>
            <a:pathLst>
              <a:path w="6274865" h="4114800">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A6F82"/>
        </a:solidFill>
        <a:effectLst/>
      </p:bgPr>
    </p:bg>
    <p:spTree>
      <p:nvGrpSpPr>
        <p:cNvPr id="1" name="">
          <a:extLst>
            <a:ext uri="{FF2B5EF4-FFF2-40B4-BE49-F238E27FC236}">
              <a16:creationId xmlns:a16="http://schemas.microsoft.com/office/drawing/2014/main" id="{594FACCB-498F-9DA6-5C5F-48C55B498B70}"/>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BCA3C41-850F-22FA-2B9F-16EA9407EF5F}"/>
              </a:ext>
            </a:extLst>
          </p:cNvPr>
          <p:cNvSpPr txBox="1"/>
          <p:nvPr/>
        </p:nvSpPr>
        <p:spPr>
          <a:xfrm>
            <a:off x="666750" y="1562086"/>
            <a:ext cx="8324850" cy="1038105"/>
          </a:xfrm>
          <a:prstGeom prst="rect">
            <a:avLst/>
          </a:prstGeom>
        </p:spPr>
        <p:txBody>
          <a:bodyPr lIns="0" tIns="0" rIns="0" bIns="0" rtlCol="0" anchor="t">
            <a:spAutoFit/>
          </a:bodyPr>
          <a:lstStyle/>
          <a:p>
            <a:pPr marL="0" lvl="0" indent="0" algn="l">
              <a:lnSpc>
                <a:spcPts val="8399"/>
              </a:lnSpc>
            </a:pPr>
            <a:r>
              <a:rPr lang="en-US" sz="6999" spc="-139" dirty="0">
                <a:solidFill>
                  <a:srgbClr val="D6E6E9"/>
                </a:solidFill>
                <a:latin typeface="Tenor Sans"/>
                <a:ea typeface="Tenor Sans"/>
                <a:cs typeface="Tenor Sans"/>
                <a:sym typeface="Tenor Sans"/>
              </a:rPr>
              <a:t>Project Steps:</a:t>
            </a:r>
          </a:p>
        </p:txBody>
      </p:sp>
      <p:grpSp>
        <p:nvGrpSpPr>
          <p:cNvPr id="3" name="Group 3">
            <a:extLst>
              <a:ext uri="{FF2B5EF4-FFF2-40B4-BE49-F238E27FC236}">
                <a16:creationId xmlns:a16="http://schemas.microsoft.com/office/drawing/2014/main" id="{C5E82474-4418-7E25-6BA7-6690979E571A}"/>
              </a:ext>
            </a:extLst>
          </p:cNvPr>
          <p:cNvGrpSpPr/>
          <p:nvPr/>
        </p:nvGrpSpPr>
        <p:grpSpPr>
          <a:xfrm>
            <a:off x="666750" y="3390900"/>
            <a:ext cx="15516225" cy="4143701"/>
            <a:chOff x="-13423900" y="-115889"/>
            <a:chExt cx="20688300" cy="5524935"/>
          </a:xfrm>
        </p:grpSpPr>
        <p:sp>
          <p:nvSpPr>
            <p:cNvPr id="4" name="TextBox 4">
              <a:extLst>
                <a:ext uri="{FF2B5EF4-FFF2-40B4-BE49-F238E27FC236}">
                  <a16:creationId xmlns:a16="http://schemas.microsoft.com/office/drawing/2014/main" id="{98B17CBF-27ED-B553-6772-6573E4D254C7}"/>
                </a:ext>
              </a:extLst>
            </p:cNvPr>
            <p:cNvSpPr txBox="1"/>
            <p:nvPr/>
          </p:nvSpPr>
          <p:spPr>
            <a:xfrm>
              <a:off x="-13423900" y="-115889"/>
              <a:ext cx="7264400" cy="5203647"/>
            </a:xfrm>
            <a:prstGeom prst="rect">
              <a:avLst/>
            </a:prstGeom>
          </p:spPr>
          <p:txBody>
            <a:bodyPr lIns="0" tIns="0" rIns="0" bIns="0" rtlCol="0" anchor="t">
              <a:spAutoFit/>
            </a:bodyPr>
            <a:lstStyle/>
            <a:p>
              <a:pPr marL="342900" lvl="0" indent="-342900" algn="l">
                <a:lnSpc>
                  <a:spcPts val="3360"/>
                </a:lnSpc>
                <a:spcBef>
                  <a:spcPct val="0"/>
                </a:spcBef>
                <a:buFontTx/>
                <a:buChar char="-"/>
              </a:pPr>
              <a:r>
                <a:rPr lang="en-US" sz="2800" b="1" dirty="0">
                  <a:solidFill>
                    <a:srgbClr val="D6E6E9"/>
                  </a:solidFill>
                  <a:latin typeface="Clear Sans Medium"/>
                  <a:ea typeface="Clear Sans Medium"/>
                  <a:cs typeface="Clear Sans Medium"/>
                  <a:sym typeface="Clear Sans Medium"/>
                </a:rPr>
                <a:t>Data Exploration</a:t>
              </a:r>
            </a:p>
            <a:p>
              <a:pPr marL="342900" lvl="0" indent="-342900" algn="l">
                <a:lnSpc>
                  <a:spcPts val="3360"/>
                </a:lnSpc>
                <a:spcBef>
                  <a:spcPct val="0"/>
                </a:spcBef>
                <a:buFontTx/>
                <a:buChar char="-"/>
              </a:pPr>
              <a:endParaRPr lang="en-US" sz="2800" b="1" dirty="0">
                <a:solidFill>
                  <a:srgbClr val="D6E6E9"/>
                </a:solidFill>
                <a:latin typeface="Clear Sans Medium"/>
                <a:ea typeface="Clear Sans Medium"/>
                <a:cs typeface="Clear Sans Medium"/>
                <a:sym typeface="Clear Sans Medium"/>
              </a:endParaRPr>
            </a:p>
            <a:p>
              <a:pPr marL="342900" lvl="0" indent="-342900" algn="l">
                <a:lnSpc>
                  <a:spcPts val="3360"/>
                </a:lnSpc>
                <a:spcBef>
                  <a:spcPct val="0"/>
                </a:spcBef>
                <a:buFontTx/>
                <a:buChar char="-"/>
              </a:pPr>
              <a:r>
                <a:rPr lang="en-US" sz="2800" b="1" dirty="0">
                  <a:solidFill>
                    <a:srgbClr val="D6E6E9"/>
                  </a:solidFill>
                  <a:latin typeface="Clear Sans Medium"/>
                  <a:ea typeface="Clear Sans Medium"/>
                  <a:cs typeface="Clear Sans Medium"/>
                  <a:sym typeface="Clear Sans Medium"/>
                </a:rPr>
                <a:t>Data Cleaning</a:t>
              </a:r>
            </a:p>
            <a:p>
              <a:pPr marL="342900" lvl="0" indent="-342900" algn="l">
                <a:lnSpc>
                  <a:spcPts val="3360"/>
                </a:lnSpc>
                <a:spcBef>
                  <a:spcPct val="0"/>
                </a:spcBef>
                <a:buFontTx/>
                <a:buChar char="-"/>
              </a:pPr>
              <a:endParaRPr lang="en-US" sz="2800" b="1" dirty="0">
                <a:solidFill>
                  <a:srgbClr val="D6E6E9"/>
                </a:solidFill>
                <a:latin typeface="Clear Sans Medium"/>
                <a:ea typeface="Clear Sans Medium"/>
                <a:cs typeface="Clear Sans Medium"/>
                <a:sym typeface="Clear Sans Medium"/>
              </a:endParaRPr>
            </a:p>
            <a:p>
              <a:pPr marL="342900" lvl="0" indent="-342900" algn="l">
                <a:lnSpc>
                  <a:spcPts val="3360"/>
                </a:lnSpc>
                <a:spcBef>
                  <a:spcPct val="0"/>
                </a:spcBef>
                <a:buFontTx/>
                <a:buChar char="-"/>
              </a:pPr>
              <a:r>
                <a:rPr lang="en-US" sz="2800" b="1" dirty="0">
                  <a:solidFill>
                    <a:srgbClr val="D6E6E9"/>
                  </a:solidFill>
                  <a:latin typeface="Clear Sans Medium"/>
                  <a:ea typeface="Clear Sans Medium"/>
                  <a:cs typeface="Clear Sans Medium"/>
                  <a:sym typeface="Clear Sans Medium"/>
                </a:rPr>
                <a:t>Data Modeling</a:t>
              </a:r>
            </a:p>
            <a:p>
              <a:pPr marL="342900" lvl="0" indent="-342900" algn="l">
                <a:lnSpc>
                  <a:spcPts val="3360"/>
                </a:lnSpc>
                <a:spcBef>
                  <a:spcPct val="0"/>
                </a:spcBef>
                <a:buFontTx/>
                <a:buChar char="-"/>
              </a:pPr>
              <a:endParaRPr lang="en-US" sz="2800" b="1" dirty="0">
                <a:solidFill>
                  <a:srgbClr val="D6E6E9"/>
                </a:solidFill>
                <a:latin typeface="Clear Sans Medium"/>
                <a:ea typeface="Clear Sans Medium"/>
                <a:cs typeface="Clear Sans Medium"/>
                <a:sym typeface="Clear Sans Medium"/>
              </a:endParaRPr>
            </a:p>
            <a:p>
              <a:pPr marL="342900" lvl="0" indent="-342900" algn="l">
                <a:lnSpc>
                  <a:spcPts val="3360"/>
                </a:lnSpc>
                <a:spcBef>
                  <a:spcPct val="0"/>
                </a:spcBef>
                <a:buFontTx/>
                <a:buChar char="-"/>
              </a:pPr>
              <a:r>
                <a:rPr lang="en-US" sz="2800" b="1" dirty="0">
                  <a:solidFill>
                    <a:srgbClr val="D6E6E9"/>
                  </a:solidFill>
                  <a:latin typeface="Clear Sans Medium"/>
                  <a:ea typeface="Clear Sans Medium"/>
                  <a:cs typeface="Clear Sans Medium"/>
                  <a:sym typeface="Clear Sans Medium"/>
                </a:rPr>
                <a:t>Insights Extraction</a:t>
              </a:r>
            </a:p>
            <a:p>
              <a:pPr marL="342900" lvl="0" indent="-342900" algn="l">
                <a:lnSpc>
                  <a:spcPts val="3360"/>
                </a:lnSpc>
                <a:spcBef>
                  <a:spcPct val="0"/>
                </a:spcBef>
                <a:buFontTx/>
                <a:buChar char="-"/>
              </a:pPr>
              <a:endParaRPr lang="en-US" sz="2800" b="1" dirty="0">
                <a:solidFill>
                  <a:srgbClr val="D6E6E9"/>
                </a:solidFill>
                <a:latin typeface="Clear Sans Medium"/>
                <a:ea typeface="Clear Sans Medium"/>
                <a:cs typeface="Clear Sans Medium"/>
                <a:sym typeface="Clear Sans Medium"/>
              </a:endParaRPr>
            </a:p>
            <a:p>
              <a:pPr marL="342900" lvl="0" indent="-342900" algn="l">
                <a:lnSpc>
                  <a:spcPts val="3360"/>
                </a:lnSpc>
                <a:spcBef>
                  <a:spcPct val="0"/>
                </a:spcBef>
                <a:buFontTx/>
                <a:buChar char="-"/>
              </a:pPr>
              <a:r>
                <a:rPr lang="en-US" sz="2800" b="1" dirty="0">
                  <a:solidFill>
                    <a:srgbClr val="D6E6E9"/>
                  </a:solidFill>
                  <a:latin typeface="Clear Sans Medium"/>
                  <a:ea typeface="Clear Sans Medium"/>
                  <a:cs typeface="Clear Sans Medium"/>
                  <a:sym typeface="Clear Sans Medium"/>
                </a:rPr>
                <a:t>Dashboard Creation</a:t>
              </a:r>
            </a:p>
          </p:txBody>
        </p:sp>
        <p:sp>
          <p:nvSpPr>
            <p:cNvPr id="5" name="TextBox 5">
              <a:extLst>
                <a:ext uri="{FF2B5EF4-FFF2-40B4-BE49-F238E27FC236}">
                  <a16:creationId xmlns:a16="http://schemas.microsoft.com/office/drawing/2014/main" id="{560048CE-8E1B-9B65-5513-81C7DA9F6CDB}"/>
                </a:ext>
              </a:extLst>
            </p:cNvPr>
            <p:cNvSpPr txBox="1"/>
            <p:nvPr/>
          </p:nvSpPr>
          <p:spPr>
            <a:xfrm>
              <a:off x="0" y="878058"/>
              <a:ext cx="7264400" cy="459443"/>
            </a:xfrm>
            <a:prstGeom prst="rect">
              <a:avLst/>
            </a:prstGeom>
          </p:spPr>
          <p:txBody>
            <a:bodyPr lIns="0" tIns="0" rIns="0" bIns="0" rtlCol="0" anchor="t">
              <a:spAutoFit/>
            </a:bodyPr>
            <a:lstStyle/>
            <a:p>
              <a:pPr marL="0" lvl="0" indent="0" algn="l">
                <a:lnSpc>
                  <a:spcPts val="2939"/>
                </a:lnSpc>
                <a:spcBef>
                  <a:spcPct val="0"/>
                </a:spcBef>
              </a:pPr>
              <a:endParaRPr lang="en-US" sz="2099" dirty="0">
                <a:solidFill>
                  <a:srgbClr val="D6E6E9"/>
                </a:solidFill>
                <a:latin typeface="Clear Sans"/>
                <a:ea typeface="Clear Sans"/>
                <a:cs typeface="Clear Sans"/>
                <a:sym typeface="Clear Sans"/>
              </a:endParaRPr>
            </a:p>
          </p:txBody>
        </p:sp>
        <p:sp>
          <p:nvSpPr>
            <p:cNvPr id="6" name="TextBox 6">
              <a:extLst>
                <a:ext uri="{FF2B5EF4-FFF2-40B4-BE49-F238E27FC236}">
                  <a16:creationId xmlns:a16="http://schemas.microsoft.com/office/drawing/2014/main" id="{B3CD90B2-02D6-49D6-7B73-924377504431}"/>
                </a:ext>
              </a:extLst>
            </p:cNvPr>
            <p:cNvSpPr txBox="1"/>
            <p:nvPr/>
          </p:nvSpPr>
          <p:spPr>
            <a:xfrm>
              <a:off x="0" y="4023921"/>
              <a:ext cx="7264400" cy="536215"/>
            </a:xfrm>
            <a:prstGeom prst="rect">
              <a:avLst/>
            </a:prstGeom>
          </p:spPr>
          <p:txBody>
            <a:bodyPr lIns="0" tIns="0" rIns="0" bIns="0" rtlCol="0" anchor="t">
              <a:spAutoFit/>
            </a:bodyPr>
            <a:lstStyle/>
            <a:p>
              <a:pPr marL="0" lvl="0" indent="0" algn="l">
                <a:lnSpc>
                  <a:spcPts val="3360"/>
                </a:lnSpc>
                <a:spcBef>
                  <a:spcPct val="0"/>
                </a:spcBef>
              </a:pPr>
              <a:endParaRPr lang="en-US" sz="2400" b="1" dirty="0">
                <a:solidFill>
                  <a:srgbClr val="D6E6E9"/>
                </a:solidFill>
                <a:latin typeface="Clear Sans Medium"/>
                <a:ea typeface="Clear Sans Medium"/>
                <a:cs typeface="Clear Sans Medium"/>
                <a:sym typeface="Clear Sans Medium"/>
              </a:endParaRPr>
            </a:p>
          </p:txBody>
        </p:sp>
        <p:sp>
          <p:nvSpPr>
            <p:cNvPr id="7" name="TextBox 7">
              <a:extLst>
                <a:ext uri="{FF2B5EF4-FFF2-40B4-BE49-F238E27FC236}">
                  <a16:creationId xmlns:a16="http://schemas.microsoft.com/office/drawing/2014/main" id="{1211472F-92AF-4C02-C8D7-F921406D7D7D}"/>
                </a:ext>
              </a:extLst>
            </p:cNvPr>
            <p:cNvSpPr txBox="1"/>
            <p:nvPr/>
          </p:nvSpPr>
          <p:spPr>
            <a:xfrm>
              <a:off x="0" y="4949603"/>
              <a:ext cx="7264400" cy="459443"/>
            </a:xfrm>
            <a:prstGeom prst="rect">
              <a:avLst/>
            </a:prstGeom>
          </p:spPr>
          <p:txBody>
            <a:bodyPr lIns="0" tIns="0" rIns="0" bIns="0" rtlCol="0" anchor="t">
              <a:spAutoFit/>
            </a:bodyPr>
            <a:lstStyle/>
            <a:p>
              <a:pPr marL="0" lvl="0" indent="0" algn="l">
                <a:lnSpc>
                  <a:spcPts val="2939"/>
                </a:lnSpc>
                <a:spcBef>
                  <a:spcPct val="0"/>
                </a:spcBef>
              </a:pPr>
              <a:endParaRPr lang="en-US" sz="2099" dirty="0">
                <a:solidFill>
                  <a:srgbClr val="D6E6E9"/>
                </a:solidFill>
                <a:latin typeface="Clear Sans"/>
                <a:ea typeface="Clear Sans"/>
                <a:cs typeface="Clear Sans"/>
                <a:sym typeface="Clear Sans"/>
              </a:endParaRPr>
            </a:p>
          </p:txBody>
        </p:sp>
      </p:grpSp>
      <p:sp>
        <p:nvSpPr>
          <p:cNvPr id="8" name="Freeform 8">
            <a:extLst>
              <a:ext uri="{FF2B5EF4-FFF2-40B4-BE49-F238E27FC236}">
                <a16:creationId xmlns:a16="http://schemas.microsoft.com/office/drawing/2014/main" id="{1959B636-AB72-1875-3E2E-FC67FF3982BF}"/>
              </a:ext>
            </a:extLst>
          </p:cNvPr>
          <p:cNvSpPr/>
          <p:nvPr/>
        </p:nvSpPr>
        <p:spPr>
          <a:xfrm>
            <a:off x="-3137432" y="7200900"/>
            <a:ext cx="6274865" cy="4114800"/>
          </a:xfrm>
          <a:custGeom>
            <a:avLst/>
            <a:gdLst/>
            <a:ahLst/>
            <a:cxnLst/>
            <a:rect l="l" t="t" r="r" b="b"/>
            <a:pathLst>
              <a:path w="6274865" h="4114800">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Tree>
    <p:extLst>
      <p:ext uri="{BB962C8B-B14F-4D97-AF65-F5344CB8AC3E}">
        <p14:creationId xmlns:p14="http://schemas.microsoft.com/office/powerpoint/2010/main" val="2473898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A8C98"/>
        </a:solidFill>
        <a:effectLst/>
      </p:bgPr>
    </p:bg>
    <p:spTree>
      <p:nvGrpSpPr>
        <p:cNvPr id="1" name="">
          <a:extLst>
            <a:ext uri="{FF2B5EF4-FFF2-40B4-BE49-F238E27FC236}">
              <a16:creationId xmlns:a16="http://schemas.microsoft.com/office/drawing/2014/main" id="{65C9B92F-92A1-609F-A4ED-F7862484C31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0570EB31-E224-2C40-EBD6-31B3DE146762}"/>
              </a:ext>
            </a:extLst>
          </p:cNvPr>
          <p:cNvSpPr txBox="1"/>
          <p:nvPr/>
        </p:nvSpPr>
        <p:spPr>
          <a:xfrm>
            <a:off x="666750" y="1562086"/>
            <a:ext cx="8324850" cy="1038105"/>
          </a:xfrm>
          <a:prstGeom prst="rect">
            <a:avLst/>
          </a:prstGeom>
        </p:spPr>
        <p:txBody>
          <a:bodyPr lIns="0" tIns="0" rIns="0" bIns="0" rtlCol="0" anchor="t">
            <a:spAutoFit/>
          </a:bodyPr>
          <a:lstStyle/>
          <a:p>
            <a:pPr marL="0" lvl="0" indent="0" algn="l">
              <a:lnSpc>
                <a:spcPts val="8399"/>
              </a:lnSpc>
            </a:pPr>
            <a:r>
              <a:rPr lang="en-US" sz="6999" spc="-139" dirty="0">
                <a:solidFill>
                  <a:srgbClr val="D6E6E9"/>
                </a:solidFill>
                <a:latin typeface="Tenor Sans"/>
                <a:ea typeface="Tenor Sans"/>
                <a:cs typeface="Tenor Sans"/>
                <a:sym typeface="Tenor Sans"/>
              </a:rPr>
              <a:t>Data Exploration</a:t>
            </a:r>
          </a:p>
        </p:txBody>
      </p:sp>
      <p:grpSp>
        <p:nvGrpSpPr>
          <p:cNvPr id="3" name="Group 3">
            <a:extLst>
              <a:ext uri="{FF2B5EF4-FFF2-40B4-BE49-F238E27FC236}">
                <a16:creationId xmlns:a16="http://schemas.microsoft.com/office/drawing/2014/main" id="{08973405-F4EC-1660-93FA-5845912740A8}"/>
              </a:ext>
            </a:extLst>
          </p:cNvPr>
          <p:cNvGrpSpPr/>
          <p:nvPr/>
        </p:nvGrpSpPr>
        <p:grpSpPr>
          <a:xfrm>
            <a:off x="666750" y="3390900"/>
            <a:ext cx="5448300" cy="4092502"/>
            <a:chOff x="0" y="-47625"/>
            <a:chExt cx="7264400" cy="5456670"/>
          </a:xfrm>
        </p:grpSpPr>
        <p:sp>
          <p:nvSpPr>
            <p:cNvPr id="4" name="TextBox 4">
              <a:extLst>
                <a:ext uri="{FF2B5EF4-FFF2-40B4-BE49-F238E27FC236}">
                  <a16:creationId xmlns:a16="http://schemas.microsoft.com/office/drawing/2014/main" id="{DE7B3E75-52BE-141D-B9A8-CBFA50C819F6}"/>
                </a:ext>
              </a:extLst>
            </p:cNvPr>
            <p:cNvSpPr txBox="1"/>
            <p:nvPr/>
          </p:nvSpPr>
          <p:spPr>
            <a:xfrm>
              <a:off x="0" y="-47625"/>
              <a:ext cx="7264400" cy="4605706"/>
            </a:xfrm>
            <a:prstGeom prst="rect">
              <a:avLst/>
            </a:prstGeom>
          </p:spPr>
          <p:txBody>
            <a:bodyPr lIns="0" tIns="0" rIns="0" bIns="0" rtlCol="0" anchor="t">
              <a:spAutoFit/>
            </a:bodyPr>
            <a:lstStyle/>
            <a:p>
              <a:pPr marL="0" lvl="0" indent="0" algn="l">
                <a:lnSpc>
                  <a:spcPts val="3360"/>
                </a:lnSpc>
                <a:spcBef>
                  <a:spcPct val="0"/>
                </a:spcBef>
              </a:pPr>
              <a:r>
                <a:rPr lang="en-US" sz="2400" b="1" dirty="0">
                  <a:solidFill>
                    <a:srgbClr val="D6E6E9"/>
                  </a:solidFill>
                  <a:latin typeface="Clear Sans Medium"/>
                  <a:ea typeface="Clear Sans Medium"/>
                  <a:cs typeface="Clear Sans Medium"/>
                  <a:sym typeface="Clear Sans Medium"/>
                </a:rPr>
                <a:t>The data was received from the backend team as a backup file, so we explored it through </a:t>
              </a:r>
              <a:r>
                <a:rPr lang="en-US" sz="2400" b="1" dirty="0" err="1">
                  <a:solidFill>
                    <a:srgbClr val="D6E6E9"/>
                  </a:solidFill>
                  <a:latin typeface="Clear Sans Medium"/>
                  <a:ea typeface="Clear Sans Medium"/>
                  <a:cs typeface="Clear Sans Medium"/>
                  <a:sym typeface="Clear Sans Medium"/>
                </a:rPr>
                <a:t>Sql</a:t>
              </a:r>
              <a:r>
                <a:rPr lang="en-US" sz="2400" b="1" dirty="0">
                  <a:solidFill>
                    <a:srgbClr val="D6E6E9"/>
                  </a:solidFill>
                  <a:latin typeface="Clear Sans Medium"/>
                  <a:ea typeface="Clear Sans Medium"/>
                  <a:cs typeface="Clear Sans Medium"/>
                  <a:sym typeface="Clear Sans Medium"/>
                </a:rPr>
                <a:t> Server Management Studio and found 32 tables each had its own attributes, while lots of them was for related to the backend code, we extracted the needed information from  7 tables</a:t>
              </a:r>
            </a:p>
          </p:txBody>
        </p:sp>
        <p:sp>
          <p:nvSpPr>
            <p:cNvPr id="5" name="TextBox 5">
              <a:extLst>
                <a:ext uri="{FF2B5EF4-FFF2-40B4-BE49-F238E27FC236}">
                  <a16:creationId xmlns:a16="http://schemas.microsoft.com/office/drawing/2014/main" id="{AD888E87-D8EB-0B73-C660-2D6181BADB64}"/>
                </a:ext>
              </a:extLst>
            </p:cNvPr>
            <p:cNvSpPr txBox="1"/>
            <p:nvPr/>
          </p:nvSpPr>
          <p:spPr>
            <a:xfrm>
              <a:off x="0" y="878056"/>
              <a:ext cx="7264400" cy="459443"/>
            </a:xfrm>
            <a:prstGeom prst="rect">
              <a:avLst/>
            </a:prstGeom>
          </p:spPr>
          <p:txBody>
            <a:bodyPr lIns="0" tIns="0" rIns="0" bIns="0" rtlCol="0" anchor="t">
              <a:spAutoFit/>
            </a:bodyPr>
            <a:lstStyle/>
            <a:p>
              <a:pPr marL="0" lvl="0" indent="0" algn="l">
                <a:lnSpc>
                  <a:spcPts val="2939"/>
                </a:lnSpc>
                <a:spcBef>
                  <a:spcPct val="0"/>
                </a:spcBef>
              </a:pPr>
              <a:endParaRPr lang="en-US" sz="2099" dirty="0">
                <a:solidFill>
                  <a:srgbClr val="D6E6E9"/>
                </a:solidFill>
                <a:latin typeface="Clear Sans"/>
                <a:ea typeface="Clear Sans"/>
                <a:cs typeface="Clear Sans"/>
                <a:sym typeface="Clear Sans"/>
              </a:endParaRPr>
            </a:p>
          </p:txBody>
        </p:sp>
        <p:sp>
          <p:nvSpPr>
            <p:cNvPr id="7" name="TextBox 7">
              <a:extLst>
                <a:ext uri="{FF2B5EF4-FFF2-40B4-BE49-F238E27FC236}">
                  <a16:creationId xmlns:a16="http://schemas.microsoft.com/office/drawing/2014/main" id="{62C6472D-08AF-CFA3-1687-28EDE35FAF1D}"/>
                </a:ext>
              </a:extLst>
            </p:cNvPr>
            <p:cNvSpPr txBox="1"/>
            <p:nvPr/>
          </p:nvSpPr>
          <p:spPr>
            <a:xfrm>
              <a:off x="0" y="4949602"/>
              <a:ext cx="7264400" cy="459443"/>
            </a:xfrm>
            <a:prstGeom prst="rect">
              <a:avLst/>
            </a:prstGeom>
          </p:spPr>
          <p:txBody>
            <a:bodyPr lIns="0" tIns="0" rIns="0" bIns="0" rtlCol="0" anchor="t">
              <a:spAutoFit/>
            </a:bodyPr>
            <a:lstStyle/>
            <a:p>
              <a:pPr marL="0" lvl="0" indent="0" algn="l">
                <a:lnSpc>
                  <a:spcPts val="2939"/>
                </a:lnSpc>
                <a:spcBef>
                  <a:spcPct val="0"/>
                </a:spcBef>
              </a:pPr>
              <a:endParaRPr lang="en-US" sz="2099" dirty="0">
                <a:solidFill>
                  <a:srgbClr val="D6E6E9"/>
                </a:solidFill>
                <a:latin typeface="Clear Sans"/>
                <a:ea typeface="Clear Sans"/>
                <a:cs typeface="Clear Sans"/>
                <a:sym typeface="Clear Sans"/>
              </a:endParaRPr>
            </a:p>
          </p:txBody>
        </p:sp>
      </p:grpSp>
      <p:sp>
        <p:nvSpPr>
          <p:cNvPr id="8" name="Freeform 8">
            <a:extLst>
              <a:ext uri="{FF2B5EF4-FFF2-40B4-BE49-F238E27FC236}">
                <a16:creationId xmlns:a16="http://schemas.microsoft.com/office/drawing/2014/main" id="{D583676D-44A7-77F1-1428-E33242629707}"/>
              </a:ext>
            </a:extLst>
          </p:cNvPr>
          <p:cNvSpPr/>
          <p:nvPr/>
        </p:nvSpPr>
        <p:spPr>
          <a:xfrm>
            <a:off x="-3137432" y="7200900"/>
            <a:ext cx="6274865" cy="4114800"/>
          </a:xfrm>
          <a:custGeom>
            <a:avLst/>
            <a:gdLst/>
            <a:ahLst/>
            <a:cxnLst/>
            <a:rect l="l" t="t" r="r" b="b"/>
            <a:pathLst>
              <a:path w="6274865" h="4114800">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0" name="Picture 9" descr="A screenshot of a computer&#10;&#10;AI-generated content may be incorrect.">
            <a:extLst>
              <a:ext uri="{FF2B5EF4-FFF2-40B4-BE49-F238E27FC236}">
                <a16:creationId xmlns:a16="http://schemas.microsoft.com/office/drawing/2014/main" id="{8B074F60-6401-E2E3-5B51-1AE2400798EA}"/>
              </a:ext>
            </a:extLst>
          </p:cNvPr>
          <p:cNvPicPr>
            <a:picLocks noChangeAspect="1"/>
          </p:cNvPicPr>
          <p:nvPr/>
        </p:nvPicPr>
        <p:blipFill>
          <a:blip r:embed="rId4"/>
          <a:stretch>
            <a:fillRect/>
          </a:stretch>
        </p:blipFill>
        <p:spPr>
          <a:xfrm>
            <a:off x="10972800" y="1349300"/>
            <a:ext cx="6154009" cy="7878274"/>
          </a:xfrm>
          <a:prstGeom prst="rect">
            <a:avLst/>
          </a:prstGeom>
        </p:spPr>
      </p:pic>
    </p:spTree>
    <p:extLst>
      <p:ext uri="{BB962C8B-B14F-4D97-AF65-F5344CB8AC3E}">
        <p14:creationId xmlns:p14="http://schemas.microsoft.com/office/powerpoint/2010/main" val="3274344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F3C4D"/>
        </a:solidFill>
        <a:effectLst/>
      </p:bgPr>
    </p:bg>
    <p:spTree>
      <p:nvGrpSpPr>
        <p:cNvPr id="1" name="">
          <a:extLst>
            <a:ext uri="{FF2B5EF4-FFF2-40B4-BE49-F238E27FC236}">
              <a16:creationId xmlns:a16="http://schemas.microsoft.com/office/drawing/2014/main" id="{B43ABC60-8150-1719-A88C-A62D52EA5D3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2AB57AC-2C70-6073-3456-A0715449F55C}"/>
              </a:ext>
            </a:extLst>
          </p:cNvPr>
          <p:cNvSpPr txBox="1"/>
          <p:nvPr/>
        </p:nvSpPr>
        <p:spPr>
          <a:xfrm>
            <a:off x="666750" y="1562086"/>
            <a:ext cx="8324850" cy="1038105"/>
          </a:xfrm>
          <a:prstGeom prst="rect">
            <a:avLst/>
          </a:prstGeom>
        </p:spPr>
        <p:txBody>
          <a:bodyPr lIns="0" tIns="0" rIns="0" bIns="0" rtlCol="0" anchor="t">
            <a:spAutoFit/>
          </a:bodyPr>
          <a:lstStyle/>
          <a:p>
            <a:pPr marL="0" lvl="0" indent="0" algn="l">
              <a:lnSpc>
                <a:spcPts val="8399"/>
              </a:lnSpc>
            </a:pPr>
            <a:r>
              <a:rPr lang="en-US" sz="6999" spc="-139" dirty="0">
                <a:solidFill>
                  <a:srgbClr val="D6E6E9"/>
                </a:solidFill>
                <a:latin typeface="Tenor Sans"/>
                <a:ea typeface="Tenor Sans"/>
                <a:cs typeface="Tenor Sans"/>
                <a:sym typeface="Tenor Sans"/>
              </a:rPr>
              <a:t>Data Cleaning</a:t>
            </a:r>
          </a:p>
        </p:txBody>
      </p:sp>
      <p:sp>
        <p:nvSpPr>
          <p:cNvPr id="8" name="Freeform 8">
            <a:extLst>
              <a:ext uri="{FF2B5EF4-FFF2-40B4-BE49-F238E27FC236}">
                <a16:creationId xmlns:a16="http://schemas.microsoft.com/office/drawing/2014/main" id="{35C1833B-815A-3BC6-D5A6-58A4923DA6EA}"/>
              </a:ext>
            </a:extLst>
          </p:cNvPr>
          <p:cNvSpPr/>
          <p:nvPr/>
        </p:nvSpPr>
        <p:spPr>
          <a:xfrm>
            <a:off x="-3137432" y="7200900"/>
            <a:ext cx="6274865" cy="4114800"/>
          </a:xfrm>
          <a:custGeom>
            <a:avLst/>
            <a:gdLst/>
            <a:ahLst/>
            <a:cxnLst/>
            <a:rect l="l" t="t" r="r" b="b"/>
            <a:pathLst>
              <a:path w="6274865" h="4114800">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TextBox 3">
            <a:extLst>
              <a:ext uri="{FF2B5EF4-FFF2-40B4-BE49-F238E27FC236}">
                <a16:creationId xmlns:a16="http://schemas.microsoft.com/office/drawing/2014/main" id="{CCB146B3-1E21-22A1-0E4A-02D665BB3C7B}"/>
              </a:ext>
            </a:extLst>
          </p:cNvPr>
          <p:cNvSpPr txBox="1"/>
          <p:nvPr/>
        </p:nvSpPr>
        <p:spPr>
          <a:xfrm>
            <a:off x="666750" y="3151835"/>
            <a:ext cx="6400800" cy="3546612"/>
          </a:xfrm>
          <a:prstGeom prst="rect">
            <a:avLst/>
          </a:prstGeom>
          <a:noFill/>
        </p:spPr>
        <p:txBody>
          <a:bodyPr wrap="square">
            <a:spAutoFit/>
          </a:bodyPr>
          <a:lstStyle/>
          <a:p>
            <a:pPr lvl="0">
              <a:lnSpc>
                <a:spcPts val="3360"/>
              </a:lnSpc>
              <a:spcBef>
                <a:spcPct val="0"/>
              </a:spcBef>
            </a:pPr>
            <a:r>
              <a:rPr lang="en-US" sz="2400" b="1" dirty="0">
                <a:solidFill>
                  <a:srgbClr val="D6E6E9"/>
                </a:solidFill>
                <a:latin typeface="Clear Sans Medium"/>
                <a:ea typeface="Clear Sans Medium"/>
                <a:cs typeface="Clear Sans Medium"/>
                <a:sym typeface="Clear Sans Medium"/>
              </a:rPr>
              <a:t>The dataset was reviewed and cleaned to improve quality and usability. All null (empty) tables and columns containing no meaningful data were identified and removed. This process ensured that the remaining data is relevant, complete, and consistent, making it suitable for accurate analysis and reporting.</a:t>
            </a:r>
          </a:p>
        </p:txBody>
      </p:sp>
      <p:pic>
        <p:nvPicPr>
          <p:cNvPr id="6" name="Picture 5">
            <a:extLst>
              <a:ext uri="{FF2B5EF4-FFF2-40B4-BE49-F238E27FC236}">
                <a16:creationId xmlns:a16="http://schemas.microsoft.com/office/drawing/2014/main" id="{BF09281B-1A37-8DD6-28C1-ECB392C3AC70}"/>
              </a:ext>
            </a:extLst>
          </p:cNvPr>
          <p:cNvPicPr>
            <a:picLocks noChangeAspect="1"/>
          </p:cNvPicPr>
          <p:nvPr/>
        </p:nvPicPr>
        <p:blipFill>
          <a:blip r:embed="rId4"/>
          <a:srcRect b="5284"/>
          <a:stretch/>
        </p:blipFill>
        <p:spPr>
          <a:xfrm>
            <a:off x="7620000" y="2324101"/>
            <a:ext cx="10515600" cy="6172200"/>
          </a:xfrm>
          <a:prstGeom prst="rect">
            <a:avLst/>
          </a:prstGeom>
        </p:spPr>
      </p:pic>
    </p:spTree>
    <p:extLst>
      <p:ext uri="{BB962C8B-B14F-4D97-AF65-F5344CB8AC3E}">
        <p14:creationId xmlns:p14="http://schemas.microsoft.com/office/powerpoint/2010/main" val="3821059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A6F82"/>
        </a:solidFill>
        <a:effectLst/>
      </p:bgPr>
    </p:bg>
    <p:spTree>
      <p:nvGrpSpPr>
        <p:cNvPr id="1" name="">
          <a:extLst>
            <a:ext uri="{FF2B5EF4-FFF2-40B4-BE49-F238E27FC236}">
              <a16:creationId xmlns:a16="http://schemas.microsoft.com/office/drawing/2014/main" id="{8D7B07F1-FE24-DFE4-7898-BDA61193F333}"/>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0CAA9D79-1C16-295B-64D8-EA7E473154E8}"/>
              </a:ext>
            </a:extLst>
          </p:cNvPr>
          <p:cNvSpPr txBox="1"/>
          <p:nvPr/>
        </p:nvSpPr>
        <p:spPr>
          <a:xfrm>
            <a:off x="666750" y="1562086"/>
            <a:ext cx="8324850" cy="1038105"/>
          </a:xfrm>
          <a:prstGeom prst="rect">
            <a:avLst/>
          </a:prstGeom>
        </p:spPr>
        <p:txBody>
          <a:bodyPr lIns="0" tIns="0" rIns="0" bIns="0" rtlCol="0" anchor="t">
            <a:spAutoFit/>
          </a:bodyPr>
          <a:lstStyle/>
          <a:p>
            <a:pPr marL="0" lvl="0" indent="0" algn="l">
              <a:lnSpc>
                <a:spcPts val="8399"/>
              </a:lnSpc>
            </a:pPr>
            <a:r>
              <a:rPr lang="en-US" sz="6999" spc="-139" dirty="0">
                <a:solidFill>
                  <a:srgbClr val="D6E6E9"/>
                </a:solidFill>
                <a:latin typeface="Tenor Sans"/>
                <a:ea typeface="Tenor Sans"/>
                <a:cs typeface="Tenor Sans"/>
                <a:sym typeface="Tenor Sans"/>
              </a:rPr>
              <a:t>Data Modeling</a:t>
            </a:r>
          </a:p>
        </p:txBody>
      </p:sp>
      <p:sp>
        <p:nvSpPr>
          <p:cNvPr id="8" name="Freeform 8">
            <a:extLst>
              <a:ext uri="{FF2B5EF4-FFF2-40B4-BE49-F238E27FC236}">
                <a16:creationId xmlns:a16="http://schemas.microsoft.com/office/drawing/2014/main" id="{D24C5FDB-732E-08E3-BFBF-BCF9B4E7C43E}"/>
              </a:ext>
            </a:extLst>
          </p:cNvPr>
          <p:cNvSpPr/>
          <p:nvPr/>
        </p:nvSpPr>
        <p:spPr>
          <a:xfrm>
            <a:off x="-3137432" y="7200900"/>
            <a:ext cx="6274865" cy="4114800"/>
          </a:xfrm>
          <a:custGeom>
            <a:avLst/>
            <a:gdLst/>
            <a:ahLst/>
            <a:cxnLst/>
            <a:rect l="l" t="t" r="r" b="b"/>
            <a:pathLst>
              <a:path w="6274865" h="4114800">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0" name="Picture 9" descr="A screenshot of a computer&#10;&#10;AI-generated content may be incorrect.">
            <a:extLst>
              <a:ext uri="{FF2B5EF4-FFF2-40B4-BE49-F238E27FC236}">
                <a16:creationId xmlns:a16="http://schemas.microsoft.com/office/drawing/2014/main" id="{243BC212-F0C5-F335-D7C0-EDF30B44E99A}"/>
              </a:ext>
            </a:extLst>
          </p:cNvPr>
          <p:cNvPicPr>
            <a:picLocks noChangeAspect="1"/>
          </p:cNvPicPr>
          <p:nvPr/>
        </p:nvPicPr>
        <p:blipFill>
          <a:blip r:embed="rId4"/>
          <a:stretch>
            <a:fillRect/>
          </a:stretch>
        </p:blipFill>
        <p:spPr>
          <a:xfrm>
            <a:off x="3985492" y="2567878"/>
            <a:ext cx="10317015" cy="6449325"/>
          </a:xfrm>
          <a:prstGeom prst="rect">
            <a:avLst/>
          </a:prstGeom>
        </p:spPr>
      </p:pic>
    </p:spTree>
    <p:extLst>
      <p:ext uri="{BB962C8B-B14F-4D97-AF65-F5344CB8AC3E}">
        <p14:creationId xmlns:p14="http://schemas.microsoft.com/office/powerpoint/2010/main" val="1390040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F3C4D"/>
        </a:solidFill>
        <a:effectLst/>
      </p:bgPr>
    </p:bg>
    <p:spTree>
      <p:nvGrpSpPr>
        <p:cNvPr id="1" name="">
          <a:extLst>
            <a:ext uri="{FF2B5EF4-FFF2-40B4-BE49-F238E27FC236}">
              <a16:creationId xmlns:a16="http://schemas.microsoft.com/office/drawing/2014/main" id="{D7F768C2-6B9F-8218-EE07-63F8A94BEDE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6B74C1A-25FC-DD35-7E6B-6F35E52C156B}"/>
              </a:ext>
            </a:extLst>
          </p:cNvPr>
          <p:cNvSpPr txBox="1"/>
          <p:nvPr/>
        </p:nvSpPr>
        <p:spPr>
          <a:xfrm>
            <a:off x="4981575" y="399058"/>
            <a:ext cx="8324850" cy="1038105"/>
          </a:xfrm>
          <a:prstGeom prst="rect">
            <a:avLst/>
          </a:prstGeom>
        </p:spPr>
        <p:txBody>
          <a:bodyPr lIns="0" tIns="0" rIns="0" bIns="0" rtlCol="0" anchor="t">
            <a:spAutoFit/>
          </a:bodyPr>
          <a:lstStyle/>
          <a:p>
            <a:pPr marL="0" lvl="0" indent="0" algn="l">
              <a:lnSpc>
                <a:spcPts val="8399"/>
              </a:lnSpc>
            </a:pPr>
            <a:r>
              <a:rPr lang="en-US" sz="6999" spc="-139" dirty="0">
                <a:solidFill>
                  <a:srgbClr val="D6E6E9"/>
                </a:solidFill>
                <a:latin typeface="Tenor Sans"/>
                <a:ea typeface="Tenor Sans"/>
                <a:cs typeface="Tenor Sans"/>
                <a:sym typeface="Tenor Sans"/>
              </a:rPr>
              <a:t>Dashboard Creation</a:t>
            </a:r>
          </a:p>
        </p:txBody>
      </p:sp>
      <p:sp>
        <p:nvSpPr>
          <p:cNvPr id="8" name="Freeform 8">
            <a:extLst>
              <a:ext uri="{FF2B5EF4-FFF2-40B4-BE49-F238E27FC236}">
                <a16:creationId xmlns:a16="http://schemas.microsoft.com/office/drawing/2014/main" id="{1AE4E91E-64D6-E7EC-9BD6-38A44D86A810}"/>
              </a:ext>
            </a:extLst>
          </p:cNvPr>
          <p:cNvSpPr/>
          <p:nvPr/>
        </p:nvSpPr>
        <p:spPr>
          <a:xfrm>
            <a:off x="-3657600" y="7734300"/>
            <a:ext cx="6274865" cy="4114800"/>
          </a:xfrm>
          <a:custGeom>
            <a:avLst/>
            <a:gdLst/>
            <a:ahLst/>
            <a:cxnLst/>
            <a:rect l="l" t="t" r="r" b="b"/>
            <a:pathLst>
              <a:path w="6274865" h="4114800">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7" name="Picture 6" descr="A screenshot of a graph&#10;&#10;AI-generated content may be incorrect.">
            <a:extLst>
              <a:ext uri="{FF2B5EF4-FFF2-40B4-BE49-F238E27FC236}">
                <a16:creationId xmlns:a16="http://schemas.microsoft.com/office/drawing/2014/main" id="{79F8EEF8-83D6-3FDD-1B25-793199511DB2}"/>
              </a:ext>
            </a:extLst>
          </p:cNvPr>
          <p:cNvPicPr>
            <a:picLocks noChangeAspect="1"/>
          </p:cNvPicPr>
          <p:nvPr/>
        </p:nvPicPr>
        <p:blipFill rotWithShape="1">
          <a:blip r:embed="rId4">
            <a:extLst>
              <a:ext uri="{28A0092B-C50C-407E-A947-70E740481C1C}">
                <a14:useLocalDpi xmlns:a14="http://schemas.microsoft.com/office/drawing/2010/main" val="0"/>
              </a:ext>
            </a:extLst>
          </a:blip>
          <a:srcRect l="114" r="114"/>
          <a:stretch/>
        </p:blipFill>
        <p:spPr>
          <a:xfrm>
            <a:off x="0" y="1546559"/>
            <a:ext cx="18288000" cy="8724112"/>
          </a:xfrm>
          <a:prstGeom prst="rect">
            <a:avLst/>
          </a:prstGeom>
        </p:spPr>
      </p:pic>
    </p:spTree>
    <p:extLst>
      <p:ext uri="{BB962C8B-B14F-4D97-AF65-F5344CB8AC3E}">
        <p14:creationId xmlns:p14="http://schemas.microsoft.com/office/powerpoint/2010/main" val="857484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A6F82"/>
        </a:solidFill>
        <a:effectLst/>
      </p:bgPr>
    </p:bg>
    <p:spTree>
      <p:nvGrpSpPr>
        <p:cNvPr id="1" name=""/>
        <p:cNvGrpSpPr/>
        <p:nvPr/>
      </p:nvGrpSpPr>
      <p:grpSpPr>
        <a:xfrm>
          <a:off x="0" y="0"/>
          <a:ext cx="0" cy="0"/>
          <a:chOff x="0" y="0"/>
          <a:chExt cx="0" cy="0"/>
        </a:xfrm>
      </p:grpSpPr>
      <p:sp>
        <p:nvSpPr>
          <p:cNvPr id="2" name="Freeform 2"/>
          <p:cNvSpPr/>
          <p:nvPr/>
        </p:nvSpPr>
        <p:spPr>
          <a:xfrm rot="-2926989">
            <a:off x="-12523958" y="-8852839"/>
            <a:ext cx="27274407" cy="25058977"/>
          </a:xfrm>
          <a:custGeom>
            <a:avLst/>
            <a:gdLst/>
            <a:ahLst/>
            <a:cxnLst/>
            <a:rect l="l" t="t" r="r" b="b"/>
            <a:pathLst>
              <a:path w="27274407" h="25058977">
                <a:moveTo>
                  <a:pt x="0" y="0"/>
                </a:moveTo>
                <a:lnTo>
                  <a:pt x="27274407" y="0"/>
                </a:lnTo>
                <a:lnTo>
                  <a:pt x="27274407" y="25058977"/>
                </a:lnTo>
                <a:lnTo>
                  <a:pt x="0" y="2505897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3" name="Freeform 3"/>
          <p:cNvSpPr/>
          <p:nvPr/>
        </p:nvSpPr>
        <p:spPr>
          <a:xfrm rot="5111384">
            <a:off x="13680135" y="1098024"/>
            <a:ext cx="12122938" cy="11672351"/>
          </a:xfrm>
          <a:custGeom>
            <a:avLst/>
            <a:gdLst/>
            <a:ahLst/>
            <a:cxnLst/>
            <a:rect l="l" t="t" r="r" b="b"/>
            <a:pathLst>
              <a:path w="12122938" h="11672351">
                <a:moveTo>
                  <a:pt x="0" y="0"/>
                </a:moveTo>
                <a:lnTo>
                  <a:pt x="12122939" y="0"/>
                </a:lnTo>
                <a:lnTo>
                  <a:pt x="12122939" y="11672352"/>
                </a:lnTo>
                <a:lnTo>
                  <a:pt x="0" y="116723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TextBox 4"/>
          <p:cNvSpPr txBox="1"/>
          <p:nvPr/>
        </p:nvSpPr>
        <p:spPr>
          <a:xfrm>
            <a:off x="1828800" y="916464"/>
            <a:ext cx="11201400" cy="3192541"/>
          </a:xfrm>
          <a:prstGeom prst="rect">
            <a:avLst/>
          </a:prstGeom>
        </p:spPr>
        <p:txBody>
          <a:bodyPr lIns="0" tIns="0" rIns="0" bIns="0" rtlCol="0" anchor="t">
            <a:spAutoFit/>
          </a:bodyPr>
          <a:lstStyle/>
          <a:p>
            <a:pPr marL="0" lvl="0" indent="0" algn="l">
              <a:lnSpc>
                <a:spcPts val="8399"/>
              </a:lnSpc>
            </a:pPr>
            <a:r>
              <a:rPr lang="en-US" sz="6999" spc="-139" dirty="0">
                <a:solidFill>
                  <a:srgbClr val="D6E6E9"/>
                </a:solidFill>
                <a:latin typeface="Tenor Sans"/>
                <a:ea typeface="Tenor Sans"/>
                <a:cs typeface="Tenor Sans"/>
                <a:sym typeface="Tenor Sans"/>
              </a:rPr>
              <a:t>Conclusion: Connecting Egypt to Better Medical Access</a:t>
            </a:r>
          </a:p>
        </p:txBody>
      </p:sp>
      <p:grpSp>
        <p:nvGrpSpPr>
          <p:cNvPr id="5" name="Group 5"/>
          <p:cNvGrpSpPr/>
          <p:nvPr/>
        </p:nvGrpSpPr>
        <p:grpSpPr>
          <a:xfrm>
            <a:off x="666750" y="5143500"/>
            <a:ext cx="8324850" cy="3465218"/>
            <a:chOff x="0" y="0"/>
            <a:chExt cx="11099800" cy="4620291"/>
          </a:xfrm>
        </p:grpSpPr>
        <p:sp>
          <p:nvSpPr>
            <p:cNvPr id="6" name="TextBox 6"/>
            <p:cNvSpPr txBox="1"/>
            <p:nvPr/>
          </p:nvSpPr>
          <p:spPr>
            <a:xfrm>
              <a:off x="0" y="-76200"/>
              <a:ext cx="11099800" cy="563880"/>
            </a:xfrm>
            <a:prstGeom prst="rect">
              <a:avLst/>
            </a:prstGeom>
          </p:spPr>
          <p:txBody>
            <a:bodyPr lIns="0" tIns="0" rIns="0" bIns="0" rtlCol="0" anchor="t">
              <a:spAutoFit/>
            </a:bodyPr>
            <a:lstStyle/>
            <a:p>
              <a:pPr marL="0" lvl="0" indent="0" algn="l">
                <a:lnSpc>
                  <a:spcPts val="3600"/>
                </a:lnSpc>
                <a:spcBef>
                  <a:spcPct val="0"/>
                </a:spcBef>
              </a:pPr>
              <a:endParaRPr lang="en-US" sz="2400" b="1" u="none" dirty="0">
                <a:solidFill>
                  <a:srgbClr val="D6E6E9"/>
                </a:solidFill>
                <a:latin typeface="Clear Sans Bold"/>
                <a:ea typeface="Clear Sans Bold"/>
                <a:cs typeface="Clear Sans Bold"/>
                <a:sym typeface="Clear Sans Bold"/>
              </a:endParaRPr>
            </a:p>
          </p:txBody>
        </p:sp>
        <p:sp>
          <p:nvSpPr>
            <p:cNvPr id="7" name="TextBox 7"/>
            <p:cNvSpPr txBox="1"/>
            <p:nvPr/>
          </p:nvSpPr>
          <p:spPr>
            <a:xfrm>
              <a:off x="0" y="567135"/>
              <a:ext cx="11099800" cy="471805"/>
            </a:xfrm>
            <a:prstGeom prst="rect">
              <a:avLst/>
            </a:prstGeom>
          </p:spPr>
          <p:txBody>
            <a:bodyPr lIns="0" tIns="0" rIns="0" bIns="0" rtlCol="0" anchor="t">
              <a:spAutoFit/>
            </a:bodyPr>
            <a:lstStyle/>
            <a:p>
              <a:pPr marL="0" lvl="0" indent="0" algn="l">
                <a:lnSpc>
                  <a:spcPts val="2940"/>
                </a:lnSpc>
                <a:spcBef>
                  <a:spcPct val="0"/>
                </a:spcBef>
              </a:pPr>
              <a:endParaRPr lang="en-US" sz="2100" u="none" dirty="0">
                <a:solidFill>
                  <a:srgbClr val="D6E6E9"/>
                </a:solidFill>
                <a:latin typeface="Clear Sans"/>
                <a:ea typeface="Clear Sans"/>
                <a:cs typeface="Clear Sans"/>
                <a:sym typeface="Clear Sans"/>
              </a:endParaRPr>
            </a:p>
          </p:txBody>
        </p:sp>
        <p:sp>
          <p:nvSpPr>
            <p:cNvPr id="8" name="TextBox 8"/>
            <p:cNvSpPr txBox="1"/>
            <p:nvPr/>
          </p:nvSpPr>
          <p:spPr>
            <a:xfrm>
              <a:off x="0" y="1714475"/>
              <a:ext cx="11099800" cy="563880"/>
            </a:xfrm>
            <a:prstGeom prst="rect">
              <a:avLst/>
            </a:prstGeom>
          </p:spPr>
          <p:txBody>
            <a:bodyPr lIns="0" tIns="0" rIns="0" bIns="0" rtlCol="0" anchor="t">
              <a:spAutoFit/>
            </a:bodyPr>
            <a:lstStyle/>
            <a:p>
              <a:pPr marL="0" lvl="0" indent="0" algn="l">
                <a:lnSpc>
                  <a:spcPts val="3600"/>
                </a:lnSpc>
                <a:spcBef>
                  <a:spcPct val="0"/>
                </a:spcBef>
              </a:pPr>
              <a:endParaRPr lang="en-US" sz="2400" b="1" dirty="0">
                <a:solidFill>
                  <a:srgbClr val="D6E6E9"/>
                </a:solidFill>
                <a:latin typeface="Clear Sans Bold"/>
                <a:ea typeface="Clear Sans Bold"/>
                <a:cs typeface="Clear Sans Bold"/>
                <a:sym typeface="Clear Sans Bold"/>
              </a:endParaRPr>
            </a:p>
          </p:txBody>
        </p:sp>
        <p:sp>
          <p:nvSpPr>
            <p:cNvPr id="9" name="TextBox 9"/>
            <p:cNvSpPr txBox="1"/>
            <p:nvPr/>
          </p:nvSpPr>
          <p:spPr>
            <a:xfrm>
              <a:off x="0" y="2357810"/>
              <a:ext cx="11099800" cy="471805"/>
            </a:xfrm>
            <a:prstGeom prst="rect">
              <a:avLst/>
            </a:prstGeom>
          </p:spPr>
          <p:txBody>
            <a:bodyPr lIns="0" tIns="0" rIns="0" bIns="0" rtlCol="0" anchor="t">
              <a:spAutoFit/>
            </a:bodyPr>
            <a:lstStyle/>
            <a:p>
              <a:pPr marL="0" lvl="0" indent="0" algn="l">
                <a:lnSpc>
                  <a:spcPts val="2940"/>
                </a:lnSpc>
                <a:spcBef>
                  <a:spcPct val="0"/>
                </a:spcBef>
              </a:pPr>
              <a:endParaRPr lang="en-US" sz="2100" dirty="0">
                <a:solidFill>
                  <a:srgbClr val="D6E6E9"/>
                </a:solidFill>
                <a:latin typeface="Clear Sans"/>
                <a:ea typeface="Clear Sans"/>
                <a:cs typeface="Clear Sans"/>
                <a:sym typeface="Clear Sans"/>
              </a:endParaRPr>
            </a:p>
          </p:txBody>
        </p:sp>
        <p:sp>
          <p:nvSpPr>
            <p:cNvPr id="10" name="TextBox 10"/>
            <p:cNvSpPr txBox="1"/>
            <p:nvPr/>
          </p:nvSpPr>
          <p:spPr>
            <a:xfrm>
              <a:off x="0" y="3505150"/>
              <a:ext cx="11099800" cy="563880"/>
            </a:xfrm>
            <a:prstGeom prst="rect">
              <a:avLst/>
            </a:prstGeom>
          </p:spPr>
          <p:txBody>
            <a:bodyPr lIns="0" tIns="0" rIns="0" bIns="0" rtlCol="0" anchor="t">
              <a:spAutoFit/>
            </a:bodyPr>
            <a:lstStyle/>
            <a:p>
              <a:pPr marL="0" lvl="0" indent="0" algn="l">
                <a:lnSpc>
                  <a:spcPts val="3600"/>
                </a:lnSpc>
                <a:spcBef>
                  <a:spcPct val="0"/>
                </a:spcBef>
              </a:pPr>
              <a:endParaRPr lang="en-US" sz="2400" b="1" dirty="0">
                <a:solidFill>
                  <a:srgbClr val="D6E6E9"/>
                </a:solidFill>
                <a:latin typeface="Clear Sans Bold"/>
                <a:ea typeface="Clear Sans Bold"/>
                <a:cs typeface="Clear Sans Bold"/>
                <a:sym typeface="Clear Sans Bold"/>
              </a:endParaRPr>
            </a:p>
          </p:txBody>
        </p:sp>
        <p:sp>
          <p:nvSpPr>
            <p:cNvPr id="11" name="TextBox 11"/>
            <p:cNvSpPr txBox="1"/>
            <p:nvPr/>
          </p:nvSpPr>
          <p:spPr>
            <a:xfrm>
              <a:off x="0" y="4148486"/>
              <a:ext cx="11099800" cy="471805"/>
            </a:xfrm>
            <a:prstGeom prst="rect">
              <a:avLst/>
            </a:prstGeom>
          </p:spPr>
          <p:txBody>
            <a:bodyPr lIns="0" tIns="0" rIns="0" bIns="0" rtlCol="0" anchor="t">
              <a:spAutoFit/>
            </a:bodyPr>
            <a:lstStyle/>
            <a:p>
              <a:pPr marL="0" lvl="0" indent="0" algn="l">
                <a:lnSpc>
                  <a:spcPts val="2940"/>
                </a:lnSpc>
                <a:spcBef>
                  <a:spcPct val="0"/>
                </a:spcBef>
              </a:pPr>
              <a:endParaRPr lang="en-US" sz="2100" dirty="0">
                <a:solidFill>
                  <a:srgbClr val="D6E6E9"/>
                </a:solidFill>
                <a:latin typeface="Clear Sans"/>
                <a:ea typeface="Clear Sans"/>
                <a:cs typeface="Clear Sans"/>
                <a:sym typeface="Clear Sans"/>
              </a:endParaRPr>
            </a:p>
          </p:txBody>
        </p:sp>
      </p:grpSp>
      <p:sp>
        <p:nvSpPr>
          <p:cNvPr id="12" name="TextBox 4">
            <a:extLst>
              <a:ext uri="{FF2B5EF4-FFF2-40B4-BE49-F238E27FC236}">
                <a16:creationId xmlns:a16="http://schemas.microsoft.com/office/drawing/2014/main" id="{112AC92D-815C-4FBD-BFBB-38A5133D7D66}"/>
              </a:ext>
            </a:extLst>
          </p:cNvPr>
          <p:cNvSpPr txBox="1"/>
          <p:nvPr/>
        </p:nvSpPr>
        <p:spPr>
          <a:xfrm>
            <a:off x="6419850" y="5929836"/>
            <a:ext cx="11201400" cy="1038105"/>
          </a:xfrm>
          <a:prstGeom prst="rect">
            <a:avLst/>
          </a:prstGeom>
        </p:spPr>
        <p:txBody>
          <a:bodyPr lIns="0" tIns="0" rIns="0" bIns="0" rtlCol="0" anchor="t">
            <a:spAutoFit/>
          </a:bodyPr>
          <a:lstStyle/>
          <a:p>
            <a:pPr marL="0" lvl="0" indent="0" algn="l">
              <a:lnSpc>
                <a:spcPts val="8399"/>
              </a:lnSpc>
            </a:pPr>
            <a:r>
              <a:rPr lang="en-US" sz="6999" spc="-139" dirty="0">
                <a:solidFill>
                  <a:srgbClr val="D6E6E9"/>
                </a:solidFill>
                <a:latin typeface="Tenor Sans"/>
                <a:ea typeface="Tenor Sans"/>
                <a:cs typeface="Tenor Sans"/>
                <a:sym typeface="Tenor Sans"/>
              </a:rPr>
              <a:t>Thanks!!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216</TotalTime>
  <Words>459</Words>
  <Application>Microsoft Office PowerPoint</Application>
  <PresentationFormat>Custom</PresentationFormat>
  <Paragraphs>50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PharmaConnect: Connecting Patients with Pharmacies</dc:title>
  <dc:creator>user</dc:creator>
  <dc:description>Presentation - PharmaConnect: Connecting Patients with Pharmacies</dc:description>
  <cp:lastModifiedBy>Mohamed Hesham Mohamed Ghonem</cp:lastModifiedBy>
  <cp:revision>6</cp:revision>
  <dcterms:created xsi:type="dcterms:W3CDTF">2006-08-16T00:00:00Z</dcterms:created>
  <dcterms:modified xsi:type="dcterms:W3CDTF">2025-12-16T18:48:11Z</dcterms:modified>
  <dc:identifier>DAG7lF0PC7A</dc:identifier>
</cp:coreProperties>
</file>