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4" r:id="rId4"/>
    <p:sldId id="274" r:id="rId5"/>
    <p:sldId id="259" r:id="rId6"/>
    <p:sldId id="271" r:id="rId7"/>
    <p:sldId id="258" r:id="rId8"/>
    <p:sldId id="272" r:id="rId9"/>
    <p:sldId id="273" r:id="rId10"/>
    <p:sldId id="261" r:id="rId11"/>
    <p:sldId id="262" r:id="rId12"/>
    <p:sldId id="265" r:id="rId13"/>
    <p:sldId id="266" r:id="rId14"/>
    <p:sldId id="267" r:id="rId15"/>
    <p:sldId id="268" r:id="rId16"/>
    <p:sldId id="270" r:id="rId17"/>
    <p:sldId id="263" r:id="rId18"/>
  </p:sldIdLst>
  <p:sldSz cx="18288000" cy="10287000"/>
  <p:notesSz cx="6858000" cy="9144000"/>
  <p:embeddedFontLst>
    <p:embeddedFont>
      <p:font typeface="Clear Sans" panose="020B0604020202020204" charset="0"/>
      <p:regular r:id="rId19"/>
    </p:embeddedFont>
    <p:embeddedFont>
      <p:font typeface="Clear Sans Bold" panose="020B0604020202020204" charset="0"/>
      <p:regular r:id="rId20"/>
    </p:embeddedFont>
    <p:embeddedFont>
      <p:font typeface="Clear Sans Medium" panose="020B0604020202020204" charset="0"/>
      <p:regular r:id="rId21"/>
    </p:embeddedFont>
    <p:embeddedFont>
      <p:font typeface="Tenor Sans"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hemeOverride" Target="../theme/themeOverride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themeOverride" Target="../theme/themeOverride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Layout" Target="../slideLayouts/slideLayout7.xml"/><Relationship Id="rId1" Type="http://schemas.openxmlformats.org/officeDocument/2006/relationships/themeOverride" Target="../theme/themeOverride3.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Layout" Target="../slideLayouts/slideLayout7.xml"/><Relationship Id="rId1" Type="http://schemas.openxmlformats.org/officeDocument/2006/relationships/themeOverride" Target="../theme/themeOverride4.xml"/><Relationship Id="rId4" Type="http://schemas.openxmlformats.org/officeDocument/2006/relationships/image" Target="../media/image4.jpg"/></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9F529C3-C941-49FD-8C67-82F134F64B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solidFill>
            <a:schemeClr val="tx1">
              <a:lumMod val="50000"/>
              <a:lumOff val="5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0586029-32A0-47E5-9AEC-AE3ABA6B9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5518" y="720090"/>
            <a:ext cx="16856964" cy="8846820"/>
          </a:xfrm>
          <a:prstGeom prst="rect">
            <a:avLst/>
          </a:prstGeom>
          <a:solidFill>
            <a:srgbClr val="FFFFFF"/>
          </a:solidFill>
          <a:ln w="9525">
            <a:noFill/>
          </a:ln>
          <a:effectLst>
            <a:outerShdw blurRad="63500" dist="17780" dir="5400000" algn="t" rotWithShape="0">
              <a:prstClr val="black">
                <a:alpha val="4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8C730EAB-A532-4295-A302-FB4B90DB9F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119937" y="1714500"/>
            <a:ext cx="0" cy="6858000"/>
          </a:xfrm>
          <a:prstGeom prst="line">
            <a:avLst/>
          </a:prstGeom>
          <a:ln>
            <a:solidFill>
              <a:srgbClr val="4E4E4E"/>
            </a:solidFill>
          </a:ln>
        </p:spPr>
        <p:style>
          <a:lnRef idx="1">
            <a:schemeClr val="accent1"/>
          </a:lnRef>
          <a:fillRef idx="0">
            <a:schemeClr val="accent1"/>
          </a:fillRef>
          <a:effectRef idx="0">
            <a:schemeClr val="accent1"/>
          </a:effectRef>
          <a:fontRef idx="minor">
            <a:schemeClr val="tx1"/>
          </a:fontRef>
        </p:style>
      </p:cxnSp>
      <p:grpSp>
        <p:nvGrpSpPr>
          <p:cNvPr id="2" name="Group 2"/>
          <p:cNvGrpSpPr/>
          <p:nvPr/>
        </p:nvGrpSpPr>
        <p:grpSpPr>
          <a:xfrm>
            <a:off x="965200" y="2613430"/>
            <a:ext cx="7942074" cy="5060137"/>
            <a:chOff x="0" y="180975"/>
            <a:chExt cx="13017500" cy="8293846"/>
          </a:xfrm>
        </p:grpSpPr>
        <p:sp>
          <p:nvSpPr>
            <p:cNvPr id="3" name="TextBox 3"/>
            <p:cNvSpPr txBox="1"/>
            <p:nvPr/>
          </p:nvSpPr>
          <p:spPr>
            <a:xfrm>
              <a:off x="0" y="180975"/>
              <a:ext cx="13017500" cy="6987470"/>
            </a:xfrm>
            <a:prstGeom prst="rect">
              <a:avLst/>
            </a:prstGeom>
          </p:spPr>
          <p:txBody>
            <a:bodyPr lIns="0" tIns="0" rIns="0" bIns="0" rtlCol="0" anchor="t">
              <a:spAutoFit/>
            </a:bodyPr>
            <a:lstStyle/>
            <a:p>
              <a:pPr defTabSz="740664">
                <a:lnSpc>
                  <a:spcPts val="8262"/>
                </a:lnSpc>
                <a:spcAft>
                  <a:spcPts val="600"/>
                </a:spcAft>
              </a:pPr>
              <a:r>
                <a:rPr lang="en-US" sz="8262" kern="1200" spc="-165" err="1">
                  <a:solidFill>
                    <a:srgbClr val="44585C"/>
                  </a:solidFill>
                  <a:latin typeface="Tenor Sans"/>
                  <a:ea typeface="+mn-ea"/>
                  <a:cs typeface="+mn-cs"/>
                  <a:sym typeface="Tenor Sans"/>
                </a:rPr>
                <a:t>CliniConnect</a:t>
              </a:r>
              <a:r>
                <a:rPr lang="en-US" sz="8262" kern="1200" spc="-165">
                  <a:solidFill>
                    <a:srgbClr val="44585C"/>
                  </a:solidFill>
                  <a:latin typeface="Tenor Sans"/>
                  <a:ea typeface="+mn-ea"/>
                  <a:cs typeface="+mn-cs"/>
                  <a:sym typeface="Tenor Sans"/>
                </a:rPr>
                <a:t>: Connecting Patients with Clinics</a:t>
              </a:r>
              <a:endParaRPr lang="en-US" sz="10200" spc="-204">
                <a:solidFill>
                  <a:srgbClr val="D6E6E9"/>
                </a:solidFill>
                <a:latin typeface="Tenor Sans"/>
                <a:ea typeface="Tenor Sans"/>
                <a:cs typeface="Tenor Sans"/>
                <a:sym typeface="Tenor Sans"/>
              </a:endParaRPr>
            </a:p>
          </p:txBody>
        </p:sp>
        <p:sp>
          <p:nvSpPr>
            <p:cNvPr id="4" name="TextBox 4"/>
            <p:cNvSpPr txBox="1"/>
            <p:nvPr/>
          </p:nvSpPr>
          <p:spPr>
            <a:xfrm>
              <a:off x="0" y="7764284"/>
              <a:ext cx="13017500" cy="710537"/>
            </a:xfrm>
            <a:prstGeom prst="rect">
              <a:avLst/>
            </a:prstGeom>
          </p:spPr>
          <p:txBody>
            <a:bodyPr lIns="0" tIns="0" rIns="0" bIns="0" rtlCol="0" anchor="t">
              <a:spAutoFit/>
            </a:bodyPr>
            <a:lstStyle/>
            <a:p>
              <a:pPr marL="0" lvl="0" indent="0" algn="l">
                <a:lnSpc>
                  <a:spcPts val="4480"/>
                </a:lnSpc>
                <a:spcBef>
                  <a:spcPct val="0"/>
                </a:spcBef>
              </a:pPr>
              <a:endParaRPr lang="en-US" sz="3200">
                <a:solidFill>
                  <a:srgbClr val="D6E6E9"/>
                </a:solidFill>
                <a:latin typeface="Clear Sans"/>
                <a:ea typeface="Clear Sans"/>
                <a:cs typeface="Clear Sans"/>
                <a:sym typeface="Clear Sans"/>
              </a:endParaRPr>
            </a:p>
          </p:txBody>
        </p:sp>
      </p:grpSp>
      <p:grpSp>
        <p:nvGrpSpPr>
          <p:cNvPr id="5" name="Group 5"/>
          <p:cNvGrpSpPr/>
          <p:nvPr/>
        </p:nvGrpSpPr>
        <p:grpSpPr>
          <a:xfrm>
            <a:off x="10867994" y="965200"/>
            <a:ext cx="4967534" cy="8356599"/>
            <a:chOff x="0" y="0"/>
            <a:chExt cx="947381" cy="1593725"/>
          </a:xfrm>
        </p:grpSpPr>
        <p:sp>
          <p:nvSpPr>
            <p:cNvPr id="6" name="Freeform 6"/>
            <p:cNvSpPr/>
            <p:nvPr/>
          </p:nvSpPr>
          <p:spPr>
            <a:xfrm>
              <a:off x="0" y="0"/>
              <a:ext cx="947381" cy="1593725"/>
            </a:xfrm>
            <a:custGeom>
              <a:avLst/>
              <a:gdLst/>
              <a:ahLst/>
              <a:cxnLst/>
              <a:rect l="l" t="t" r="r" b="b"/>
              <a:pathLst>
                <a:path w="947381" h="1593725">
                  <a:moveTo>
                    <a:pt x="0" y="0"/>
                  </a:moveTo>
                  <a:lnTo>
                    <a:pt x="947381" y="0"/>
                  </a:lnTo>
                  <a:lnTo>
                    <a:pt x="947381" y="1593725"/>
                  </a:lnTo>
                  <a:lnTo>
                    <a:pt x="0" y="1593725"/>
                  </a:lnTo>
                  <a:close/>
                </a:path>
              </a:pathLst>
            </a:custGeom>
            <a:blipFill>
              <a:blip r:embed="rId2"/>
              <a:stretch>
                <a:fillRect t="-58" b="-58"/>
              </a:stretch>
            </a:blipFill>
          </p:spPr>
          <p:txBody>
            <a:bodyPr/>
            <a:lstStyle/>
            <a:p>
              <a:endParaRPr lang="en-US"/>
            </a:p>
          </p:txBody>
        </p:sp>
      </p:grpSp>
      <p:pic>
        <p:nvPicPr>
          <p:cNvPr id="9" name="Picture 8" descr="A logo of a global education&#10;&#10;AI-generated content may be incorrect.">
            <a:extLst>
              <a:ext uri="{FF2B5EF4-FFF2-40B4-BE49-F238E27FC236}">
                <a16:creationId xmlns:a16="http://schemas.microsoft.com/office/drawing/2014/main" id="{BED65C06-66D2-D42F-8C6C-08C4739E7232}"/>
              </a:ext>
            </a:extLst>
          </p:cNvPr>
          <p:cNvPicPr>
            <a:picLocks noChangeAspect="1"/>
          </p:cNvPicPr>
          <p:nvPr/>
        </p:nvPicPr>
        <p:blipFill>
          <a:blip r:embed="rId3"/>
          <a:stretch>
            <a:fillRect/>
          </a:stretch>
        </p:blipFill>
        <p:spPr>
          <a:xfrm>
            <a:off x="965199" y="847604"/>
            <a:ext cx="1625595" cy="1286340"/>
          </a:xfrm>
          <a:prstGeom prst="rect">
            <a:avLst/>
          </a:prstGeom>
        </p:spPr>
      </p:pic>
      <p:pic>
        <p:nvPicPr>
          <p:cNvPr id="12" name="Picture 11" descr="A black and white sign with black text&#10;&#10;AI-generated content may be incorrect.">
            <a:extLst>
              <a:ext uri="{FF2B5EF4-FFF2-40B4-BE49-F238E27FC236}">
                <a16:creationId xmlns:a16="http://schemas.microsoft.com/office/drawing/2014/main" id="{92C0C542-4CBC-E6B7-D90B-103F4489C1E1}"/>
              </a:ext>
            </a:extLst>
          </p:cNvPr>
          <p:cNvPicPr>
            <a:picLocks noChangeAspect="1"/>
          </p:cNvPicPr>
          <p:nvPr/>
        </p:nvPicPr>
        <p:blipFill>
          <a:blip r:embed="rId4"/>
          <a:stretch>
            <a:fillRect/>
          </a:stretch>
        </p:blipFill>
        <p:spPr>
          <a:xfrm>
            <a:off x="16009270" y="1004116"/>
            <a:ext cx="1563211" cy="78658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7C98A213-5994-475E-B327-DC6EC27FB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3428"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2"/>
          <p:cNvSpPr txBox="1"/>
          <p:nvPr/>
        </p:nvSpPr>
        <p:spPr>
          <a:xfrm>
            <a:off x="958321" y="1005327"/>
            <a:ext cx="16364460" cy="1598754"/>
          </a:xfrm>
          <a:prstGeom prst="rect">
            <a:avLst/>
          </a:prstGeom>
        </p:spPr>
        <p:txBody>
          <a:bodyPr vert="horz" lIns="91440" tIns="45720" rIns="91440" bIns="45720" rtlCol="0" anchor="ctr">
            <a:normAutofit/>
          </a:bodyPr>
          <a:lstStyle/>
          <a:p>
            <a:pPr marL="0" lvl="0" indent="0" algn="ctr">
              <a:lnSpc>
                <a:spcPct val="90000"/>
              </a:lnSpc>
              <a:spcBef>
                <a:spcPct val="0"/>
              </a:spcBef>
              <a:spcAft>
                <a:spcPts val="600"/>
              </a:spcAft>
            </a:pPr>
            <a:r>
              <a:rPr lang="en-US" sz="9900" spc="-139">
                <a:latin typeface="+mj-lt"/>
                <a:ea typeface="+mj-ea"/>
                <a:cs typeface="+mj-cs"/>
                <a:sym typeface="Tenor Sans"/>
              </a:rPr>
              <a:t>Team members:</a:t>
            </a:r>
          </a:p>
        </p:txBody>
      </p:sp>
      <p:sp>
        <p:nvSpPr>
          <p:cNvPr id="31" name="sketch line">
            <a:extLst>
              <a:ext uri="{FF2B5EF4-FFF2-40B4-BE49-F238E27FC236}">
                <a16:creationId xmlns:a16="http://schemas.microsoft.com/office/drawing/2014/main" id="{4B030A0D-0DAD-4A99-89BB-419527D6A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84064" y="2700132"/>
            <a:ext cx="8115300" cy="27432"/>
          </a:xfrm>
          <a:custGeom>
            <a:avLst/>
            <a:gdLst>
              <a:gd name="csX0" fmla="*/ 0 w 8115300"/>
              <a:gd name="csY0" fmla="*/ 0 h 27432"/>
              <a:gd name="csX1" fmla="*/ 432816 w 8115300"/>
              <a:gd name="csY1" fmla="*/ 0 h 27432"/>
              <a:gd name="csX2" fmla="*/ 1190244 w 8115300"/>
              <a:gd name="csY2" fmla="*/ 0 h 27432"/>
              <a:gd name="csX3" fmla="*/ 1623060 w 8115300"/>
              <a:gd name="csY3" fmla="*/ 0 h 27432"/>
              <a:gd name="csX4" fmla="*/ 2218182 w 8115300"/>
              <a:gd name="csY4" fmla="*/ 0 h 27432"/>
              <a:gd name="csX5" fmla="*/ 3056763 w 8115300"/>
              <a:gd name="csY5" fmla="*/ 0 h 27432"/>
              <a:gd name="csX6" fmla="*/ 3733038 w 8115300"/>
              <a:gd name="csY6" fmla="*/ 0 h 27432"/>
              <a:gd name="csX7" fmla="*/ 4490466 w 8115300"/>
              <a:gd name="csY7" fmla="*/ 0 h 27432"/>
              <a:gd name="csX8" fmla="*/ 5085588 w 8115300"/>
              <a:gd name="csY8" fmla="*/ 0 h 27432"/>
              <a:gd name="csX9" fmla="*/ 5761863 w 8115300"/>
              <a:gd name="csY9" fmla="*/ 0 h 27432"/>
              <a:gd name="csX10" fmla="*/ 6600444 w 8115300"/>
              <a:gd name="csY10" fmla="*/ 0 h 27432"/>
              <a:gd name="csX11" fmla="*/ 7114413 w 8115300"/>
              <a:gd name="csY11" fmla="*/ 0 h 27432"/>
              <a:gd name="csX12" fmla="*/ 8115300 w 8115300"/>
              <a:gd name="csY12" fmla="*/ 0 h 27432"/>
              <a:gd name="csX13" fmla="*/ 8115300 w 8115300"/>
              <a:gd name="csY13" fmla="*/ 27432 h 27432"/>
              <a:gd name="csX14" fmla="*/ 7520178 w 8115300"/>
              <a:gd name="csY14" fmla="*/ 27432 h 27432"/>
              <a:gd name="csX15" fmla="*/ 7087362 w 8115300"/>
              <a:gd name="csY15" fmla="*/ 27432 h 27432"/>
              <a:gd name="csX16" fmla="*/ 6411087 w 8115300"/>
              <a:gd name="csY16" fmla="*/ 27432 h 27432"/>
              <a:gd name="csX17" fmla="*/ 5897118 w 8115300"/>
              <a:gd name="csY17" fmla="*/ 27432 h 27432"/>
              <a:gd name="csX18" fmla="*/ 5220843 w 8115300"/>
              <a:gd name="csY18" fmla="*/ 27432 h 27432"/>
              <a:gd name="csX19" fmla="*/ 4544568 w 8115300"/>
              <a:gd name="csY19" fmla="*/ 27432 h 27432"/>
              <a:gd name="csX20" fmla="*/ 3868293 w 8115300"/>
              <a:gd name="csY20" fmla="*/ 27432 h 27432"/>
              <a:gd name="csX21" fmla="*/ 3192018 w 8115300"/>
              <a:gd name="csY21" fmla="*/ 27432 h 27432"/>
              <a:gd name="csX22" fmla="*/ 2596896 w 8115300"/>
              <a:gd name="csY22" fmla="*/ 27432 h 27432"/>
              <a:gd name="csX23" fmla="*/ 1839468 w 8115300"/>
              <a:gd name="csY23" fmla="*/ 27432 h 27432"/>
              <a:gd name="csX24" fmla="*/ 1163193 w 8115300"/>
              <a:gd name="csY24" fmla="*/ 27432 h 27432"/>
              <a:gd name="csX25" fmla="*/ 0 w 8115300"/>
              <a:gd name="csY25" fmla="*/ 27432 h 27432"/>
              <a:gd name="csX26" fmla="*/ 0 w 8115300"/>
              <a:gd name="csY26" fmla="*/ 0 h 27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115300" h="27432" fill="none" extrusionOk="0">
                <a:moveTo>
                  <a:pt x="0" y="0"/>
                </a:moveTo>
                <a:cubicBezTo>
                  <a:pt x="190010" y="894"/>
                  <a:pt x="220703" y="16712"/>
                  <a:pt x="432816" y="0"/>
                </a:cubicBezTo>
                <a:cubicBezTo>
                  <a:pt x="644929" y="-16712"/>
                  <a:pt x="925351" y="-2130"/>
                  <a:pt x="1190244" y="0"/>
                </a:cubicBezTo>
                <a:cubicBezTo>
                  <a:pt x="1455137" y="2130"/>
                  <a:pt x="1428691" y="10242"/>
                  <a:pt x="1623060" y="0"/>
                </a:cubicBezTo>
                <a:cubicBezTo>
                  <a:pt x="1817429" y="-10242"/>
                  <a:pt x="1970637" y="26101"/>
                  <a:pt x="2218182" y="0"/>
                </a:cubicBezTo>
                <a:cubicBezTo>
                  <a:pt x="2465727" y="-26101"/>
                  <a:pt x="2697424" y="-37662"/>
                  <a:pt x="3056763" y="0"/>
                </a:cubicBezTo>
                <a:cubicBezTo>
                  <a:pt x="3416102" y="37662"/>
                  <a:pt x="3593057" y="5679"/>
                  <a:pt x="3733038" y="0"/>
                </a:cubicBezTo>
                <a:cubicBezTo>
                  <a:pt x="3873019" y="-5679"/>
                  <a:pt x="4227702" y="-17899"/>
                  <a:pt x="4490466" y="0"/>
                </a:cubicBezTo>
                <a:cubicBezTo>
                  <a:pt x="4753230" y="17899"/>
                  <a:pt x="4954916" y="-7629"/>
                  <a:pt x="5085588" y="0"/>
                </a:cubicBezTo>
                <a:cubicBezTo>
                  <a:pt x="5216260" y="7629"/>
                  <a:pt x="5443283" y="13568"/>
                  <a:pt x="5761863" y="0"/>
                </a:cubicBezTo>
                <a:cubicBezTo>
                  <a:pt x="6080443" y="-13568"/>
                  <a:pt x="6414913" y="34176"/>
                  <a:pt x="6600444" y="0"/>
                </a:cubicBezTo>
                <a:cubicBezTo>
                  <a:pt x="6785975" y="-34176"/>
                  <a:pt x="6979908" y="24439"/>
                  <a:pt x="7114413" y="0"/>
                </a:cubicBezTo>
                <a:cubicBezTo>
                  <a:pt x="7248918" y="-24439"/>
                  <a:pt x="7753242" y="49243"/>
                  <a:pt x="8115300" y="0"/>
                </a:cubicBezTo>
                <a:cubicBezTo>
                  <a:pt x="8114711" y="10802"/>
                  <a:pt x="8114630" y="18406"/>
                  <a:pt x="8115300" y="27432"/>
                </a:cubicBezTo>
                <a:cubicBezTo>
                  <a:pt x="7919968" y="56537"/>
                  <a:pt x="7815832" y="29302"/>
                  <a:pt x="7520178" y="27432"/>
                </a:cubicBezTo>
                <a:cubicBezTo>
                  <a:pt x="7224524" y="25562"/>
                  <a:pt x="7237397" y="41582"/>
                  <a:pt x="7087362" y="27432"/>
                </a:cubicBezTo>
                <a:cubicBezTo>
                  <a:pt x="6937327" y="13282"/>
                  <a:pt x="6666361" y="21099"/>
                  <a:pt x="6411087" y="27432"/>
                </a:cubicBezTo>
                <a:cubicBezTo>
                  <a:pt x="6155814" y="33765"/>
                  <a:pt x="6076699" y="29106"/>
                  <a:pt x="5897118" y="27432"/>
                </a:cubicBezTo>
                <a:cubicBezTo>
                  <a:pt x="5717537" y="25758"/>
                  <a:pt x="5480643" y="60140"/>
                  <a:pt x="5220843" y="27432"/>
                </a:cubicBezTo>
                <a:cubicBezTo>
                  <a:pt x="4961043" y="-5276"/>
                  <a:pt x="4741983" y="10261"/>
                  <a:pt x="4544568" y="27432"/>
                </a:cubicBezTo>
                <a:cubicBezTo>
                  <a:pt x="4347154" y="44603"/>
                  <a:pt x="4107592" y="3653"/>
                  <a:pt x="3868293" y="27432"/>
                </a:cubicBezTo>
                <a:cubicBezTo>
                  <a:pt x="3628995" y="51211"/>
                  <a:pt x="3474283" y="17408"/>
                  <a:pt x="3192018" y="27432"/>
                </a:cubicBezTo>
                <a:cubicBezTo>
                  <a:pt x="2909754" y="37456"/>
                  <a:pt x="2798966" y="32872"/>
                  <a:pt x="2596896" y="27432"/>
                </a:cubicBezTo>
                <a:cubicBezTo>
                  <a:pt x="2394826" y="21992"/>
                  <a:pt x="2025585" y="38694"/>
                  <a:pt x="1839468" y="27432"/>
                </a:cubicBezTo>
                <a:cubicBezTo>
                  <a:pt x="1653351" y="16170"/>
                  <a:pt x="1444068" y="17283"/>
                  <a:pt x="1163193" y="27432"/>
                </a:cubicBezTo>
                <a:cubicBezTo>
                  <a:pt x="882319" y="37581"/>
                  <a:pt x="259987" y="69926"/>
                  <a:pt x="0" y="27432"/>
                </a:cubicBezTo>
                <a:cubicBezTo>
                  <a:pt x="586" y="19291"/>
                  <a:pt x="-218" y="13009"/>
                  <a:pt x="0" y="0"/>
                </a:cubicBezTo>
                <a:close/>
              </a:path>
              <a:path w="8115300" h="27432" stroke="0" extrusionOk="0">
                <a:moveTo>
                  <a:pt x="0" y="0"/>
                </a:moveTo>
                <a:cubicBezTo>
                  <a:pt x="246921" y="20773"/>
                  <a:pt x="378767" y="-16956"/>
                  <a:pt x="595122" y="0"/>
                </a:cubicBezTo>
                <a:cubicBezTo>
                  <a:pt x="811477" y="16956"/>
                  <a:pt x="846257" y="-13061"/>
                  <a:pt x="1027938" y="0"/>
                </a:cubicBezTo>
                <a:cubicBezTo>
                  <a:pt x="1209619" y="13061"/>
                  <a:pt x="1578503" y="7172"/>
                  <a:pt x="1866519" y="0"/>
                </a:cubicBezTo>
                <a:cubicBezTo>
                  <a:pt x="2154535" y="-7172"/>
                  <a:pt x="2226239" y="7373"/>
                  <a:pt x="2461641" y="0"/>
                </a:cubicBezTo>
                <a:cubicBezTo>
                  <a:pt x="2697043" y="-7373"/>
                  <a:pt x="2901650" y="-10054"/>
                  <a:pt x="3056763" y="0"/>
                </a:cubicBezTo>
                <a:cubicBezTo>
                  <a:pt x="3211876" y="10054"/>
                  <a:pt x="3585194" y="26991"/>
                  <a:pt x="3895344" y="0"/>
                </a:cubicBezTo>
                <a:cubicBezTo>
                  <a:pt x="4205494" y="-26991"/>
                  <a:pt x="4295029" y="18672"/>
                  <a:pt x="4409313" y="0"/>
                </a:cubicBezTo>
                <a:cubicBezTo>
                  <a:pt x="4523597" y="-18672"/>
                  <a:pt x="4956843" y="3306"/>
                  <a:pt x="5247894" y="0"/>
                </a:cubicBezTo>
                <a:cubicBezTo>
                  <a:pt x="5538945" y="-3306"/>
                  <a:pt x="5725486" y="41316"/>
                  <a:pt x="6086475" y="0"/>
                </a:cubicBezTo>
                <a:cubicBezTo>
                  <a:pt x="6447464" y="-41316"/>
                  <a:pt x="6467270" y="-130"/>
                  <a:pt x="6762750" y="0"/>
                </a:cubicBezTo>
                <a:cubicBezTo>
                  <a:pt x="7058230" y="130"/>
                  <a:pt x="7713814" y="14357"/>
                  <a:pt x="8115300" y="0"/>
                </a:cubicBezTo>
                <a:cubicBezTo>
                  <a:pt x="8113940" y="10164"/>
                  <a:pt x="8115383" y="19377"/>
                  <a:pt x="8115300" y="27432"/>
                </a:cubicBezTo>
                <a:cubicBezTo>
                  <a:pt x="7951056" y="30523"/>
                  <a:pt x="7778080" y="21630"/>
                  <a:pt x="7682484" y="27432"/>
                </a:cubicBezTo>
                <a:cubicBezTo>
                  <a:pt x="7586888" y="33234"/>
                  <a:pt x="7123604" y="-3715"/>
                  <a:pt x="6843903" y="27432"/>
                </a:cubicBezTo>
                <a:cubicBezTo>
                  <a:pt x="6564202" y="58579"/>
                  <a:pt x="6499708" y="46045"/>
                  <a:pt x="6329934" y="27432"/>
                </a:cubicBezTo>
                <a:cubicBezTo>
                  <a:pt x="6160160" y="8819"/>
                  <a:pt x="5847230" y="12305"/>
                  <a:pt x="5653659" y="27432"/>
                </a:cubicBezTo>
                <a:cubicBezTo>
                  <a:pt x="5460088" y="42559"/>
                  <a:pt x="5091368" y="49579"/>
                  <a:pt x="4815078" y="27432"/>
                </a:cubicBezTo>
                <a:cubicBezTo>
                  <a:pt x="4538788" y="5285"/>
                  <a:pt x="4312121" y="56408"/>
                  <a:pt x="4138803" y="27432"/>
                </a:cubicBezTo>
                <a:cubicBezTo>
                  <a:pt x="3965485" y="-1544"/>
                  <a:pt x="3850471" y="37054"/>
                  <a:pt x="3705987" y="27432"/>
                </a:cubicBezTo>
                <a:cubicBezTo>
                  <a:pt x="3561503" y="17810"/>
                  <a:pt x="3428606" y="6693"/>
                  <a:pt x="3192018" y="27432"/>
                </a:cubicBezTo>
                <a:cubicBezTo>
                  <a:pt x="2955430" y="48171"/>
                  <a:pt x="2708142" y="29499"/>
                  <a:pt x="2353437" y="27432"/>
                </a:cubicBezTo>
                <a:cubicBezTo>
                  <a:pt x="1998732" y="25365"/>
                  <a:pt x="1984171" y="39554"/>
                  <a:pt x="1677162" y="27432"/>
                </a:cubicBezTo>
                <a:cubicBezTo>
                  <a:pt x="1370153" y="15310"/>
                  <a:pt x="1367960" y="5957"/>
                  <a:pt x="1163193" y="27432"/>
                </a:cubicBezTo>
                <a:cubicBezTo>
                  <a:pt x="958426" y="48907"/>
                  <a:pt x="303607" y="-7538"/>
                  <a:pt x="0" y="27432"/>
                </a:cubicBezTo>
                <a:cubicBezTo>
                  <a:pt x="-383" y="21019"/>
                  <a:pt x="-503" y="1243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erson sitting at a computer&#10;&#10;AI-generated content may be incorrect.">
            <a:extLst>
              <a:ext uri="{FF2B5EF4-FFF2-40B4-BE49-F238E27FC236}">
                <a16:creationId xmlns:a16="http://schemas.microsoft.com/office/drawing/2014/main" id="{26919B6E-8989-3B54-FCDA-A093BDDF981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4973757"/>
            <a:ext cx="5637276" cy="3311899"/>
          </a:xfrm>
          <a:prstGeom prst="rect">
            <a:avLst/>
          </a:prstGeom>
        </p:spPr>
      </p:pic>
      <p:pic>
        <p:nvPicPr>
          <p:cNvPr id="10" name="Picture 9" descr="A person sitting at a computer&#10;&#10;AI-generated content may be incorrect.">
            <a:extLst>
              <a:ext uri="{FF2B5EF4-FFF2-40B4-BE49-F238E27FC236}">
                <a16:creationId xmlns:a16="http://schemas.microsoft.com/office/drawing/2014/main" id="{30E44B5B-5219-BFAB-E448-8DB4FDF182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096000" y="4973757"/>
            <a:ext cx="5637276" cy="3311899"/>
          </a:xfrm>
          <a:prstGeom prst="rect">
            <a:avLst/>
          </a:prstGeom>
        </p:spPr>
      </p:pic>
      <p:grpSp>
        <p:nvGrpSpPr>
          <p:cNvPr id="3" name="Group 3"/>
          <p:cNvGrpSpPr/>
          <p:nvPr/>
        </p:nvGrpSpPr>
        <p:grpSpPr>
          <a:xfrm>
            <a:off x="11734800" y="6362700"/>
            <a:ext cx="7706868" cy="1477566"/>
            <a:chOff x="-4635998" y="878057"/>
            <a:chExt cx="16181856" cy="2446387"/>
          </a:xfrm>
        </p:grpSpPr>
        <p:sp>
          <p:nvSpPr>
            <p:cNvPr id="4" name="TextBox 4"/>
            <p:cNvSpPr txBox="1"/>
            <p:nvPr/>
          </p:nvSpPr>
          <p:spPr>
            <a:xfrm>
              <a:off x="-4635998" y="1337500"/>
              <a:ext cx="16181856" cy="1986944"/>
            </a:xfrm>
            <a:prstGeom prst="rect">
              <a:avLst/>
            </a:prstGeom>
          </p:spPr>
          <p:txBody>
            <a:bodyPr wrap="square" lIns="0" tIns="0" rIns="0" bIns="0" rtlCol="0" anchor="t">
              <a:spAutoFit/>
            </a:bodyPr>
            <a:lstStyle/>
            <a:p>
              <a:pPr defTabSz="562566">
                <a:lnSpc>
                  <a:spcPts val="2067"/>
                </a:lnSpc>
                <a:spcBef>
                  <a:spcPct val="0"/>
                </a:spcBef>
                <a:spcAft>
                  <a:spcPts val="393"/>
                </a:spcAft>
              </a:pPr>
              <a:r>
                <a:rPr lang="en-US" sz="2800" b="1" kern="1200" dirty="0">
                  <a:solidFill>
                    <a:schemeClr val="tx1">
                      <a:lumMod val="65000"/>
                      <a:lumOff val="35000"/>
                    </a:schemeClr>
                  </a:solidFill>
                  <a:latin typeface="Clear Sans Medium"/>
                  <a:ea typeface="+mn-ea"/>
                  <a:cs typeface="+mn-cs"/>
                  <a:sym typeface="Clear Sans Medium"/>
                </a:rPr>
                <a:t>Mohamed Hesham Mohamed Ghonem</a:t>
              </a:r>
              <a:br>
                <a:rPr lang="en-US" sz="2800" b="1" kern="1200" dirty="0">
                  <a:solidFill>
                    <a:schemeClr val="tx1">
                      <a:lumMod val="65000"/>
                      <a:lumOff val="35000"/>
                    </a:schemeClr>
                  </a:solidFill>
                  <a:latin typeface="Clear Sans Medium"/>
                  <a:ea typeface="+mn-ea"/>
                  <a:cs typeface="+mn-cs"/>
                  <a:sym typeface="Clear Sans Medium"/>
                </a:rPr>
              </a:br>
              <a:r>
                <a:rPr lang="en-US" sz="2800" b="1" kern="1200" dirty="0">
                  <a:solidFill>
                    <a:schemeClr val="tx1">
                      <a:lumMod val="65000"/>
                      <a:lumOff val="35000"/>
                    </a:schemeClr>
                  </a:solidFill>
                  <a:latin typeface="Clear Sans Medium"/>
                  <a:ea typeface="+mn-ea"/>
                  <a:cs typeface="+mn-cs"/>
                  <a:sym typeface="Clear Sans Medium"/>
                </a:rPr>
                <a:t>Youssef Mohamed Mahmoud</a:t>
              </a:r>
              <a:endParaRPr lang="ar-EG" sz="2800" b="1" kern="1200" dirty="0">
                <a:solidFill>
                  <a:schemeClr val="tx1">
                    <a:lumMod val="65000"/>
                    <a:lumOff val="35000"/>
                  </a:schemeClr>
                </a:solidFill>
                <a:latin typeface="Clear Sans Medium"/>
                <a:ea typeface="+mn-ea"/>
                <a:cs typeface="+mn-cs"/>
                <a:sym typeface="Clear Sans Medium"/>
              </a:endParaRPr>
            </a:p>
            <a:p>
              <a:pPr defTabSz="562566">
                <a:lnSpc>
                  <a:spcPts val="2067"/>
                </a:lnSpc>
                <a:spcBef>
                  <a:spcPct val="0"/>
                </a:spcBef>
                <a:spcAft>
                  <a:spcPts val="393"/>
                </a:spcAft>
              </a:pPr>
              <a:r>
                <a:rPr lang="en-US" sz="2800" b="1" kern="1200" dirty="0">
                  <a:solidFill>
                    <a:schemeClr val="tx1">
                      <a:lumMod val="65000"/>
                      <a:lumOff val="35000"/>
                    </a:schemeClr>
                  </a:solidFill>
                  <a:latin typeface="Clear Sans Medium"/>
                  <a:ea typeface="+mn-ea"/>
                  <a:cs typeface="+mn-cs"/>
                  <a:sym typeface="Clear Sans Medium"/>
                </a:rPr>
                <a:t>Ali Ayman Ali</a:t>
              </a:r>
            </a:p>
            <a:p>
              <a:pPr defTabSz="562566">
                <a:lnSpc>
                  <a:spcPts val="2067"/>
                </a:lnSpc>
                <a:spcBef>
                  <a:spcPct val="0"/>
                </a:spcBef>
                <a:spcAft>
                  <a:spcPts val="393"/>
                </a:spcAft>
              </a:pPr>
              <a:r>
                <a:rPr lang="en-US" sz="2800" b="1" kern="1200" dirty="0">
                  <a:solidFill>
                    <a:schemeClr val="tx1">
                      <a:lumMod val="65000"/>
                      <a:lumOff val="35000"/>
                    </a:schemeClr>
                  </a:solidFill>
                  <a:latin typeface="Clear Sans Medium"/>
                  <a:ea typeface="+mn-ea"/>
                  <a:cs typeface="+mn-cs"/>
                  <a:sym typeface="Clear Sans Medium"/>
                </a:rPr>
                <a:t>Abdallah Tarek Abdallah</a:t>
              </a:r>
              <a:endParaRPr lang="en-US" sz="4400" b="1" dirty="0">
                <a:solidFill>
                  <a:schemeClr val="tx1">
                    <a:lumMod val="65000"/>
                    <a:lumOff val="35000"/>
                  </a:schemeClr>
                </a:solidFill>
                <a:latin typeface="Clear Sans Medium"/>
                <a:ea typeface="Clear Sans Medium"/>
                <a:cs typeface="Clear Sans Medium"/>
                <a:sym typeface="Clear Sans Medium"/>
              </a:endParaRPr>
            </a:p>
          </p:txBody>
        </p:sp>
        <p:sp>
          <p:nvSpPr>
            <p:cNvPr id="5" name="TextBox 5"/>
            <p:cNvSpPr txBox="1"/>
            <p:nvPr/>
          </p:nvSpPr>
          <p:spPr>
            <a:xfrm>
              <a:off x="0" y="878057"/>
              <a:ext cx="7264400" cy="459443"/>
            </a:xfrm>
            <a:prstGeom prst="rect">
              <a:avLst/>
            </a:prstGeom>
          </p:spPr>
          <p:txBody>
            <a:bodyPr lIns="0" tIns="0" rIns="0" bIns="0" rtlCol="0" anchor="t">
              <a:spAutoFit/>
            </a:bodyPr>
            <a:lstStyle/>
            <a:p>
              <a:pPr marL="0" lvl="0" indent="0" algn="l">
                <a:lnSpc>
                  <a:spcPts val="2939"/>
                </a:lnSpc>
                <a:spcBef>
                  <a:spcPct val="0"/>
                </a:spcBef>
              </a:pPr>
              <a:endParaRPr lang="en-US" sz="2099">
                <a:solidFill>
                  <a:srgbClr val="D6E6E9"/>
                </a:solidFill>
                <a:latin typeface="Clear Sans"/>
                <a:ea typeface="Clear Sans"/>
                <a:cs typeface="Clear Sans"/>
                <a:sym typeface="Clear Sans"/>
              </a:endParaRPr>
            </a:p>
          </p:txBody>
        </p:sp>
      </p:grpSp>
      <p:pic>
        <p:nvPicPr>
          <p:cNvPr id="11" name="Picture 10" descr="A logo of a global education&#10;&#10;AI-generated content may be incorrect.">
            <a:extLst>
              <a:ext uri="{FF2B5EF4-FFF2-40B4-BE49-F238E27FC236}">
                <a16:creationId xmlns:a16="http://schemas.microsoft.com/office/drawing/2014/main" id="{EC231A71-2B71-03A2-C390-87160A30CD06}"/>
              </a:ext>
            </a:extLst>
          </p:cNvPr>
          <p:cNvPicPr>
            <a:picLocks noChangeAspect="1"/>
          </p:cNvPicPr>
          <p:nvPr/>
        </p:nvPicPr>
        <p:blipFill>
          <a:blip r:embed="rId3"/>
          <a:stretch>
            <a:fillRect/>
          </a:stretch>
        </p:blipFill>
        <p:spPr>
          <a:xfrm>
            <a:off x="965199" y="847604"/>
            <a:ext cx="1625595" cy="1286340"/>
          </a:xfrm>
          <a:prstGeom prst="rect">
            <a:avLst/>
          </a:prstGeom>
        </p:spPr>
      </p:pic>
      <p:pic>
        <p:nvPicPr>
          <p:cNvPr id="13" name="Picture 12" descr="A black and white sign with black text&#10;&#10;AI-generated content may be incorrect.">
            <a:extLst>
              <a:ext uri="{FF2B5EF4-FFF2-40B4-BE49-F238E27FC236}">
                <a16:creationId xmlns:a16="http://schemas.microsoft.com/office/drawing/2014/main" id="{8969E7E1-680D-1CFB-7B35-97B9E3D39518}"/>
              </a:ext>
            </a:extLst>
          </p:cNvPr>
          <p:cNvPicPr>
            <a:picLocks noChangeAspect="1"/>
          </p:cNvPicPr>
          <p:nvPr/>
        </p:nvPicPr>
        <p:blipFill>
          <a:blip r:embed="rId4"/>
          <a:stretch>
            <a:fillRect/>
          </a:stretch>
        </p:blipFill>
        <p:spPr>
          <a:xfrm>
            <a:off x="16009270" y="1004116"/>
            <a:ext cx="1563211" cy="78658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B6E807-758F-B69B-D532-533ADE82946C}"/>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A1F6BF70-C7D1-4AF9-8DB4-BEEB8A9C35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7998" cy="102860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2">
            <a:extLst>
              <a:ext uri="{FF2B5EF4-FFF2-40B4-BE49-F238E27FC236}">
                <a16:creationId xmlns:a16="http://schemas.microsoft.com/office/drawing/2014/main" id="{7A80399B-EF26-D3BE-4CE6-8B69276E2720}"/>
              </a:ext>
            </a:extLst>
          </p:cNvPr>
          <p:cNvSpPr txBox="1"/>
          <p:nvPr/>
        </p:nvSpPr>
        <p:spPr>
          <a:xfrm>
            <a:off x="967597" y="1645920"/>
            <a:ext cx="5694459" cy="6999310"/>
          </a:xfrm>
          <a:prstGeom prst="rect">
            <a:avLst/>
          </a:prstGeom>
        </p:spPr>
        <p:txBody>
          <a:bodyPr vert="horz" lIns="91440" tIns="45720" rIns="91440" bIns="45720" rtlCol="0" anchor="ctr">
            <a:normAutofit/>
          </a:bodyPr>
          <a:lstStyle/>
          <a:p>
            <a:pPr lvl="0">
              <a:lnSpc>
                <a:spcPct val="90000"/>
              </a:lnSpc>
              <a:spcBef>
                <a:spcPct val="0"/>
              </a:spcBef>
              <a:spcAft>
                <a:spcPts val="600"/>
              </a:spcAft>
            </a:pPr>
            <a:r>
              <a:rPr lang="en-US" sz="7200" kern="1200" spc="-139" dirty="0">
                <a:solidFill>
                  <a:schemeClr val="tx1"/>
                </a:solidFill>
                <a:latin typeface="+mj-lt"/>
                <a:ea typeface="+mj-ea"/>
                <a:cs typeface="+mj-cs"/>
                <a:sym typeface="Tenor Sans"/>
              </a:rPr>
              <a:t>Problem Statement</a:t>
            </a:r>
          </a:p>
        </p:txBody>
      </p:sp>
      <p:grpSp>
        <p:nvGrpSpPr>
          <p:cNvPr id="23" name="Group 22">
            <a:extLst>
              <a:ext uri="{FF2B5EF4-FFF2-40B4-BE49-F238E27FC236}">
                <a16:creationId xmlns:a16="http://schemas.microsoft.com/office/drawing/2014/main" id="{0C66A8B6-1F6E-4FCC-93B9-B9986B6FD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3864" y="8918932"/>
            <a:ext cx="18164135" cy="788670"/>
            <a:chOff x="82576" y="5945955"/>
            <a:chExt cx="12109423" cy="525780"/>
          </a:xfrm>
        </p:grpSpPr>
        <p:sp>
          <p:nvSpPr>
            <p:cNvPr id="24" name="Rectangle 23">
              <a:extLst>
                <a:ext uri="{FF2B5EF4-FFF2-40B4-BE49-F238E27FC236}">
                  <a16:creationId xmlns:a16="http://schemas.microsoft.com/office/drawing/2014/main" id="{CAF7C4FD-65AD-4BBE-886A-D2E923F94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1BA8278B-6DF7-481F-B1FA-FFE7D6C3C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0559" y="881743"/>
            <a:ext cx="9757950" cy="852351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5">
            <a:extLst>
              <a:ext uri="{FF2B5EF4-FFF2-40B4-BE49-F238E27FC236}">
                <a16:creationId xmlns:a16="http://schemas.microsoft.com/office/drawing/2014/main" id="{B3904EF5-4A79-0BFE-41CF-F2C2C81ED299}"/>
              </a:ext>
            </a:extLst>
          </p:cNvPr>
          <p:cNvSpPr txBox="1"/>
          <p:nvPr/>
        </p:nvSpPr>
        <p:spPr>
          <a:xfrm>
            <a:off x="8673718" y="2518276"/>
            <a:ext cx="7824448" cy="6435223"/>
          </a:xfrm>
          <a:prstGeom prst="rect">
            <a:avLst/>
          </a:prstGeom>
        </p:spPr>
        <p:txBody>
          <a:bodyPr lIns="0" tIns="0" rIns="0" bIns="0" rtlCol="0" anchor="t">
            <a:spAutoFit/>
          </a:bodyPr>
          <a:lstStyle/>
          <a:p>
            <a:pPr defTabSz="1301923">
              <a:lnSpc>
                <a:spcPts val="4184"/>
              </a:lnSpc>
              <a:spcBef>
                <a:spcPct val="0"/>
              </a:spcBef>
              <a:spcAft>
                <a:spcPts val="678"/>
              </a:spcAft>
            </a:pPr>
            <a:r>
              <a:rPr lang="en-US" sz="3200" dirty="0"/>
              <a:t>Despite rising demand for healthcare services in Egypt, </a:t>
            </a:r>
            <a:r>
              <a:rPr lang="en-US" sz="3200" b="1" dirty="0"/>
              <a:t>clinic utilization remains low</a:t>
            </a:r>
            <a:r>
              <a:rPr lang="en-US" sz="3200" dirty="0"/>
              <a:t> due to inefficient scheduling, fragmented communication between clinics and doctors, and high patient no-show rates. Existing platforms focus mainly on patient-facing booking or pharmacy delivery, leaving a gap in </a:t>
            </a:r>
            <a:r>
              <a:rPr lang="en-US" sz="3200" b="1" dirty="0"/>
              <a:t>B2B solutions that optimize clinic–doctor workflows</a:t>
            </a:r>
            <a:r>
              <a:rPr lang="en-US" sz="3200" dirty="0"/>
              <a:t>. This inefficiency results in lost revenue for clinics, underutilized medical capacity, and reduced patient access to timely care.</a:t>
            </a:r>
            <a:endParaRPr lang="en-US" sz="2099" dirty="0">
              <a:solidFill>
                <a:srgbClr val="D6E6E9"/>
              </a:solidFill>
              <a:latin typeface="Clear Sans"/>
              <a:ea typeface="Clear Sans"/>
              <a:cs typeface="Clear Sans"/>
              <a:sym typeface="Clear Sans"/>
            </a:endParaRPr>
          </a:p>
        </p:txBody>
      </p:sp>
      <p:pic>
        <p:nvPicPr>
          <p:cNvPr id="9" name="Picture 8" descr="A logo of a global education&#10;&#10;AI-generated content may be incorrect.">
            <a:extLst>
              <a:ext uri="{FF2B5EF4-FFF2-40B4-BE49-F238E27FC236}">
                <a16:creationId xmlns:a16="http://schemas.microsoft.com/office/drawing/2014/main" id="{43CCC571-4F26-03CA-5BEA-989D4EE0DF39}"/>
              </a:ext>
            </a:extLst>
          </p:cNvPr>
          <p:cNvPicPr>
            <a:picLocks noChangeAspect="1"/>
          </p:cNvPicPr>
          <p:nvPr/>
        </p:nvPicPr>
        <p:blipFill>
          <a:blip r:embed="rId3"/>
          <a:stretch>
            <a:fillRect/>
          </a:stretch>
        </p:blipFill>
        <p:spPr>
          <a:xfrm>
            <a:off x="965199" y="847604"/>
            <a:ext cx="1625595" cy="1286340"/>
          </a:xfrm>
          <a:prstGeom prst="rect">
            <a:avLst/>
          </a:prstGeom>
        </p:spPr>
      </p:pic>
      <p:pic>
        <p:nvPicPr>
          <p:cNvPr id="10" name="Picture 9" descr="A black and white sign with black text&#10;&#10;AI-generated content may be incorrect.">
            <a:extLst>
              <a:ext uri="{FF2B5EF4-FFF2-40B4-BE49-F238E27FC236}">
                <a16:creationId xmlns:a16="http://schemas.microsoft.com/office/drawing/2014/main" id="{F0A1A17C-80CD-0817-B2C2-719F3863B2FF}"/>
              </a:ext>
            </a:extLst>
          </p:cNvPr>
          <p:cNvPicPr>
            <a:picLocks noChangeAspect="1"/>
          </p:cNvPicPr>
          <p:nvPr/>
        </p:nvPicPr>
        <p:blipFill>
          <a:blip r:embed="rId4"/>
          <a:stretch>
            <a:fillRect/>
          </a:stretch>
        </p:blipFill>
        <p:spPr>
          <a:xfrm>
            <a:off x="16009270" y="1004116"/>
            <a:ext cx="1563211" cy="786584"/>
          </a:xfrm>
          <a:prstGeom prst="rect">
            <a:avLst/>
          </a:prstGeom>
        </p:spPr>
      </p:pic>
    </p:spTree>
    <p:extLst>
      <p:ext uri="{BB962C8B-B14F-4D97-AF65-F5344CB8AC3E}">
        <p14:creationId xmlns:p14="http://schemas.microsoft.com/office/powerpoint/2010/main" val="1079245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1F772D-93C7-6CC0-36CB-D5F8B6FC2862}"/>
            </a:ext>
          </a:extLst>
        </p:cNvPr>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065EC75D-2458-08F0-2F3B-B047F829A1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7998" cy="102860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2">
            <a:extLst>
              <a:ext uri="{FF2B5EF4-FFF2-40B4-BE49-F238E27FC236}">
                <a16:creationId xmlns:a16="http://schemas.microsoft.com/office/drawing/2014/main" id="{FEC2BEBB-2479-A9DE-F0BE-1E9A95CFD6F6}"/>
              </a:ext>
            </a:extLst>
          </p:cNvPr>
          <p:cNvSpPr txBox="1"/>
          <p:nvPr/>
        </p:nvSpPr>
        <p:spPr>
          <a:xfrm>
            <a:off x="967597" y="1645920"/>
            <a:ext cx="5694459" cy="6999310"/>
          </a:xfrm>
          <a:prstGeom prst="rect">
            <a:avLst/>
          </a:prstGeom>
        </p:spPr>
        <p:txBody>
          <a:bodyPr vert="horz" lIns="91440" tIns="45720" rIns="91440" bIns="45720" rtlCol="0" anchor="ctr">
            <a:normAutofit/>
          </a:bodyPr>
          <a:lstStyle/>
          <a:p>
            <a:pPr lvl="0">
              <a:lnSpc>
                <a:spcPct val="90000"/>
              </a:lnSpc>
              <a:spcBef>
                <a:spcPct val="0"/>
              </a:spcBef>
              <a:spcAft>
                <a:spcPts val="600"/>
              </a:spcAft>
            </a:pPr>
            <a:r>
              <a:rPr lang="en-US" sz="7200" kern="1200" spc="-139">
                <a:solidFill>
                  <a:schemeClr val="tx1"/>
                </a:solidFill>
                <a:latin typeface="+mj-lt"/>
                <a:ea typeface="+mj-ea"/>
                <a:cs typeface="+mj-cs"/>
                <a:sym typeface="Tenor Sans"/>
              </a:rPr>
              <a:t>Introduction to </a:t>
            </a:r>
            <a:r>
              <a:rPr lang="en-US" sz="7200" kern="1200">
                <a:solidFill>
                  <a:schemeClr val="tx1"/>
                </a:solidFill>
                <a:latin typeface="+mj-lt"/>
                <a:ea typeface="+mj-ea"/>
                <a:cs typeface="+mj-cs"/>
                <a:sym typeface="Clear Sans"/>
              </a:rPr>
              <a:t>CliniConnect</a:t>
            </a:r>
            <a:endParaRPr lang="en-US" sz="7200" kern="1200" spc="-139">
              <a:solidFill>
                <a:schemeClr val="tx1"/>
              </a:solidFill>
              <a:latin typeface="+mj-lt"/>
              <a:ea typeface="+mj-ea"/>
              <a:cs typeface="+mj-cs"/>
              <a:sym typeface="Tenor Sans"/>
            </a:endParaRPr>
          </a:p>
        </p:txBody>
      </p:sp>
      <p:grpSp>
        <p:nvGrpSpPr>
          <p:cNvPr id="23" name="Group 22">
            <a:extLst>
              <a:ext uri="{FF2B5EF4-FFF2-40B4-BE49-F238E27FC236}">
                <a16:creationId xmlns:a16="http://schemas.microsoft.com/office/drawing/2014/main" id="{279526D6-8AD8-9B33-44D5-13A6E6DC7A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3864" y="8918932"/>
            <a:ext cx="18164135" cy="788670"/>
            <a:chOff x="82576" y="5945955"/>
            <a:chExt cx="12109423" cy="525780"/>
          </a:xfrm>
        </p:grpSpPr>
        <p:sp>
          <p:nvSpPr>
            <p:cNvPr id="24" name="Rectangle 23">
              <a:extLst>
                <a:ext uri="{FF2B5EF4-FFF2-40B4-BE49-F238E27FC236}">
                  <a16:creationId xmlns:a16="http://schemas.microsoft.com/office/drawing/2014/main" id="{0E49D82A-257D-4219-03E5-345CFA5B4A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C3CEC21B-777E-0052-2575-F60D1F5400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Rectangle 26">
            <a:extLst>
              <a:ext uri="{FF2B5EF4-FFF2-40B4-BE49-F238E27FC236}">
                <a16:creationId xmlns:a16="http://schemas.microsoft.com/office/drawing/2014/main" id="{45055C4D-1CD9-4300-9596-448B9A122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0559" y="881743"/>
            <a:ext cx="9757950" cy="852351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3">
            <a:extLst>
              <a:ext uri="{FF2B5EF4-FFF2-40B4-BE49-F238E27FC236}">
                <a16:creationId xmlns:a16="http://schemas.microsoft.com/office/drawing/2014/main" id="{94A8D8C8-CA48-0F94-ABBA-2FBB46391B52}"/>
              </a:ext>
            </a:extLst>
          </p:cNvPr>
          <p:cNvGrpSpPr/>
          <p:nvPr/>
        </p:nvGrpSpPr>
        <p:grpSpPr>
          <a:xfrm>
            <a:off x="8673718" y="1521229"/>
            <a:ext cx="7824448" cy="7468980"/>
            <a:chOff x="0" y="-47625"/>
            <a:chExt cx="7264400" cy="6934385"/>
          </a:xfrm>
        </p:grpSpPr>
        <p:sp>
          <p:nvSpPr>
            <p:cNvPr id="4" name="TextBox 4">
              <a:extLst>
                <a:ext uri="{FF2B5EF4-FFF2-40B4-BE49-F238E27FC236}">
                  <a16:creationId xmlns:a16="http://schemas.microsoft.com/office/drawing/2014/main" id="{86EF5662-9B23-5C0C-27B8-5925B6C9F2B8}"/>
                </a:ext>
              </a:extLst>
            </p:cNvPr>
            <p:cNvSpPr txBox="1"/>
            <p:nvPr/>
          </p:nvSpPr>
          <p:spPr>
            <a:xfrm>
              <a:off x="0" y="-47625"/>
              <a:ext cx="7264400" cy="530032"/>
            </a:xfrm>
            <a:prstGeom prst="rect">
              <a:avLst/>
            </a:prstGeom>
          </p:spPr>
          <p:txBody>
            <a:bodyPr lIns="0" tIns="0" rIns="0" bIns="0" rtlCol="0" anchor="t">
              <a:spAutoFit/>
            </a:bodyPr>
            <a:lstStyle/>
            <a:p>
              <a:pPr defTabSz="1301923">
                <a:lnSpc>
                  <a:spcPts val="4784"/>
                </a:lnSpc>
                <a:spcBef>
                  <a:spcPct val="0"/>
                </a:spcBef>
                <a:spcAft>
                  <a:spcPts val="678"/>
                </a:spcAft>
              </a:pPr>
              <a:r>
                <a:rPr lang="en-US" sz="3417" b="1" kern="1200">
                  <a:solidFill>
                    <a:srgbClr val="44585C"/>
                  </a:solidFill>
                  <a:latin typeface="Clear Sans Medium"/>
                  <a:ea typeface="+mn-ea"/>
                  <a:cs typeface="+mn-cs"/>
                  <a:sym typeface="Clear Sans Medium"/>
                </a:rPr>
                <a:t>CONNECTING PATIENTS</a:t>
              </a:r>
              <a:endParaRPr lang="en-US" sz="2400" b="1">
                <a:solidFill>
                  <a:srgbClr val="D6E6E9"/>
                </a:solidFill>
                <a:latin typeface="Clear Sans Medium"/>
                <a:ea typeface="Clear Sans Medium"/>
                <a:cs typeface="Clear Sans Medium"/>
                <a:sym typeface="Clear Sans Medium"/>
              </a:endParaRPr>
            </a:p>
          </p:txBody>
        </p:sp>
        <p:sp>
          <p:nvSpPr>
            <p:cNvPr id="5" name="TextBox 5">
              <a:extLst>
                <a:ext uri="{FF2B5EF4-FFF2-40B4-BE49-F238E27FC236}">
                  <a16:creationId xmlns:a16="http://schemas.microsoft.com/office/drawing/2014/main" id="{1A733D92-DF18-C170-4973-8930D71900CD}"/>
                </a:ext>
              </a:extLst>
            </p:cNvPr>
            <p:cNvSpPr txBox="1"/>
            <p:nvPr/>
          </p:nvSpPr>
          <p:spPr>
            <a:xfrm>
              <a:off x="0" y="878058"/>
              <a:ext cx="7264400" cy="1937157"/>
            </a:xfrm>
            <a:prstGeom prst="rect">
              <a:avLst/>
            </a:prstGeom>
          </p:spPr>
          <p:txBody>
            <a:bodyPr lIns="0" tIns="0" rIns="0" bIns="0" rtlCol="0" anchor="t">
              <a:spAutoFit/>
            </a:bodyPr>
            <a:lstStyle/>
            <a:p>
              <a:pPr defTabSz="1301923">
                <a:lnSpc>
                  <a:spcPts val="4184"/>
                </a:lnSpc>
                <a:spcBef>
                  <a:spcPct val="0"/>
                </a:spcBef>
                <a:spcAft>
                  <a:spcPts val="678"/>
                </a:spcAft>
              </a:pPr>
              <a:r>
                <a:rPr lang="en-US" sz="2989" kern="1200" err="1">
                  <a:solidFill>
                    <a:srgbClr val="44585C"/>
                  </a:solidFill>
                  <a:latin typeface="Clear Sans"/>
                  <a:ea typeface="+mn-ea"/>
                  <a:cs typeface="+mn-cs"/>
                  <a:sym typeface="Clear Sans"/>
                </a:rPr>
                <a:t>CliniConnect</a:t>
              </a:r>
              <a:r>
                <a:rPr lang="en-US" sz="2989" kern="1200">
                  <a:solidFill>
                    <a:srgbClr val="44585C"/>
                  </a:solidFill>
                  <a:latin typeface="Clear Sans"/>
                  <a:ea typeface="+mn-ea"/>
                  <a:cs typeface="+mn-cs"/>
                  <a:sym typeface="Clear Sans"/>
                </a:rPr>
                <a:t> is designed to seamlessly connect </a:t>
              </a:r>
              <a:r>
                <a:rPr lang="en-US" sz="2989" b="1" kern="1200">
                  <a:solidFill>
                    <a:srgbClr val="44585C"/>
                  </a:solidFill>
                  <a:latin typeface="Clear Sans Bold"/>
                  <a:ea typeface="+mn-ea"/>
                  <a:cs typeface="+mn-cs"/>
                  <a:sym typeface="Clear Sans Bold"/>
                </a:rPr>
                <a:t>patients with local clinics</a:t>
              </a:r>
              <a:r>
                <a:rPr lang="en-US" sz="2989" kern="1200">
                  <a:solidFill>
                    <a:srgbClr val="44585C"/>
                  </a:solidFill>
                  <a:latin typeface="Clear Sans"/>
                  <a:ea typeface="+mn-ea"/>
                  <a:cs typeface="+mn-cs"/>
                  <a:sym typeface="Clear Sans"/>
                </a:rPr>
                <a:t>, enhancing access to essential medications through an intuitive interface.</a:t>
              </a:r>
              <a:endParaRPr lang="en-US" sz="2099">
                <a:solidFill>
                  <a:srgbClr val="D6E6E9"/>
                </a:solidFill>
                <a:latin typeface="Clear Sans"/>
                <a:ea typeface="Clear Sans"/>
                <a:cs typeface="Clear Sans"/>
                <a:sym typeface="Clear Sans"/>
              </a:endParaRPr>
            </a:p>
          </p:txBody>
        </p:sp>
        <p:sp>
          <p:nvSpPr>
            <p:cNvPr id="6" name="TextBox 6">
              <a:extLst>
                <a:ext uri="{FF2B5EF4-FFF2-40B4-BE49-F238E27FC236}">
                  <a16:creationId xmlns:a16="http://schemas.microsoft.com/office/drawing/2014/main" id="{D08C2329-5B0A-8D3B-9C28-1466824F47FD}"/>
                </a:ext>
              </a:extLst>
            </p:cNvPr>
            <p:cNvSpPr txBox="1"/>
            <p:nvPr/>
          </p:nvSpPr>
          <p:spPr>
            <a:xfrm>
              <a:off x="0" y="4023921"/>
              <a:ext cx="7264400" cy="530032"/>
            </a:xfrm>
            <a:prstGeom prst="rect">
              <a:avLst/>
            </a:prstGeom>
          </p:spPr>
          <p:txBody>
            <a:bodyPr lIns="0" tIns="0" rIns="0" bIns="0" rtlCol="0" anchor="t">
              <a:spAutoFit/>
            </a:bodyPr>
            <a:lstStyle/>
            <a:p>
              <a:pPr defTabSz="1301923">
                <a:lnSpc>
                  <a:spcPts val="4784"/>
                </a:lnSpc>
                <a:spcBef>
                  <a:spcPct val="0"/>
                </a:spcBef>
                <a:spcAft>
                  <a:spcPts val="678"/>
                </a:spcAft>
              </a:pPr>
              <a:r>
                <a:rPr lang="en-US" sz="3417" b="1" kern="1200">
                  <a:solidFill>
                    <a:srgbClr val="44585C"/>
                  </a:solidFill>
                  <a:latin typeface="Clear Sans Medium"/>
                  <a:ea typeface="+mn-ea"/>
                  <a:cs typeface="+mn-cs"/>
                  <a:sym typeface="Clear Sans Medium"/>
                </a:rPr>
                <a:t>KEY FEATURES</a:t>
              </a:r>
              <a:endParaRPr lang="en-US" sz="2400" b="1">
                <a:solidFill>
                  <a:srgbClr val="D6E6E9"/>
                </a:solidFill>
                <a:latin typeface="Clear Sans Medium"/>
                <a:ea typeface="Clear Sans Medium"/>
                <a:cs typeface="Clear Sans Medium"/>
                <a:sym typeface="Clear Sans Medium"/>
              </a:endParaRPr>
            </a:p>
          </p:txBody>
        </p:sp>
        <p:sp>
          <p:nvSpPr>
            <p:cNvPr id="7" name="TextBox 7">
              <a:extLst>
                <a:ext uri="{FF2B5EF4-FFF2-40B4-BE49-F238E27FC236}">
                  <a16:creationId xmlns:a16="http://schemas.microsoft.com/office/drawing/2014/main" id="{D0042527-41C7-5BEB-05F4-FB98737FD8E7}"/>
                </a:ext>
              </a:extLst>
            </p:cNvPr>
            <p:cNvSpPr txBox="1"/>
            <p:nvPr/>
          </p:nvSpPr>
          <p:spPr>
            <a:xfrm>
              <a:off x="0" y="4949603"/>
              <a:ext cx="7264400" cy="1937157"/>
            </a:xfrm>
            <a:prstGeom prst="rect">
              <a:avLst/>
            </a:prstGeom>
          </p:spPr>
          <p:txBody>
            <a:bodyPr lIns="0" tIns="0" rIns="0" bIns="0" rtlCol="0" anchor="t">
              <a:spAutoFit/>
            </a:bodyPr>
            <a:lstStyle/>
            <a:p>
              <a:pPr defTabSz="1301923">
                <a:lnSpc>
                  <a:spcPts val="4184"/>
                </a:lnSpc>
                <a:spcBef>
                  <a:spcPct val="0"/>
                </a:spcBef>
                <a:spcAft>
                  <a:spcPts val="678"/>
                </a:spcAft>
              </a:pPr>
              <a:r>
                <a:rPr lang="en-US" sz="2989" kern="1200">
                  <a:solidFill>
                    <a:srgbClr val="44585C"/>
                  </a:solidFill>
                  <a:latin typeface="Clear Sans"/>
                  <a:ea typeface="+mn-ea"/>
                  <a:cs typeface="+mn-cs"/>
                  <a:sym typeface="Clear Sans"/>
                </a:rPr>
                <a:t>Users can easily </a:t>
              </a:r>
              <a:r>
                <a:rPr lang="en-US" sz="2989" b="1" kern="1200">
                  <a:solidFill>
                    <a:srgbClr val="44585C"/>
                  </a:solidFill>
                  <a:latin typeface="Clear Sans Bold"/>
                  <a:ea typeface="+mn-ea"/>
                  <a:cs typeface="+mn-cs"/>
                  <a:sym typeface="Clear Sans Bold"/>
                </a:rPr>
                <a:t>locate nearby clinics</a:t>
              </a:r>
              <a:r>
                <a:rPr lang="en-US" sz="2989" kern="1200">
                  <a:solidFill>
                    <a:srgbClr val="44585C"/>
                  </a:solidFill>
                  <a:latin typeface="Clear Sans"/>
                  <a:ea typeface="+mn-ea"/>
                  <a:cs typeface="+mn-cs"/>
                  <a:sym typeface="Clear Sans"/>
                </a:rPr>
                <a:t>, and book consultations, ensuring a comprehensive healthcare experience at their fingertips.</a:t>
              </a:r>
              <a:endParaRPr lang="en-US" sz="2099">
                <a:solidFill>
                  <a:srgbClr val="D6E6E9"/>
                </a:solidFill>
                <a:latin typeface="Clear Sans"/>
                <a:ea typeface="Clear Sans"/>
                <a:cs typeface="Clear Sans"/>
                <a:sym typeface="Clear Sans"/>
              </a:endParaRPr>
            </a:p>
          </p:txBody>
        </p:sp>
      </p:grpSp>
      <p:pic>
        <p:nvPicPr>
          <p:cNvPr id="9" name="Picture 8" descr="A logo of a global education&#10;&#10;AI-generated content may be incorrect.">
            <a:extLst>
              <a:ext uri="{FF2B5EF4-FFF2-40B4-BE49-F238E27FC236}">
                <a16:creationId xmlns:a16="http://schemas.microsoft.com/office/drawing/2014/main" id="{8967937E-05B1-2422-C479-A2C5598707EF}"/>
              </a:ext>
            </a:extLst>
          </p:cNvPr>
          <p:cNvPicPr>
            <a:picLocks noChangeAspect="1"/>
          </p:cNvPicPr>
          <p:nvPr/>
        </p:nvPicPr>
        <p:blipFill>
          <a:blip r:embed="rId3"/>
          <a:stretch>
            <a:fillRect/>
          </a:stretch>
        </p:blipFill>
        <p:spPr>
          <a:xfrm>
            <a:off x="965199" y="847604"/>
            <a:ext cx="1625595" cy="1286340"/>
          </a:xfrm>
          <a:prstGeom prst="rect">
            <a:avLst/>
          </a:prstGeom>
        </p:spPr>
      </p:pic>
      <p:pic>
        <p:nvPicPr>
          <p:cNvPr id="10" name="Picture 9" descr="A black and white sign with black text&#10;&#10;AI-generated content may be incorrect.">
            <a:extLst>
              <a:ext uri="{FF2B5EF4-FFF2-40B4-BE49-F238E27FC236}">
                <a16:creationId xmlns:a16="http://schemas.microsoft.com/office/drawing/2014/main" id="{AB09F8C5-0BB6-59B7-2939-F24860784016}"/>
              </a:ext>
            </a:extLst>
          </p:cNvPr>
          <p:cNvPicPr>
            <a:picLocks noChangeAspect="1"/>
          </p:cNvPicPr>
          <p:nvPr/>
        </p:nvPicPr>
        <p:blipFill>
          <a:blip r:embed="rId4"/>
          <a:stretch>
            <a:fillRect/>
          </a:stretch>
        </p:blipFill>
        <p:spPr>
          <a:xfrm>
            <a:off x="16009270" y="1004116"/>
            <a:ext cx="1563211" cy="786584"/>
          </a:xfrm>
          <a:prstGeom prst="rect">
            <a:avLst/>
          </a:prstGeom>
        </p:spPr>
      </p:pic>
    </p:spTree>
    <p:extLst>
      <p:ext uri="{BB962C8B-B14F-4D97-AF65-F5344CB8AC3E}">
        <p14:creationId xmlns:p14="http://schemas.microsoft.com/office/powerpoint/2010/main" val="1197652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88263A24-0C1F-4677-B43C-4AE14E276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1" name="Rectangle 30">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7329" y="457203"/>
            <a:ext cx="16646024" cy="2359723"/>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extBox 2"/>
          <p:cNvSpPr txBox="1"/>
          <p:nvPr/>
        </p:nvSpPr>
        <p:spPr>
          <a:xfrm>
            <a:off x="1303020" y="608362"/>
            <a:ext cx="7502652" cy="2057400"/>
          </a:xfrm>
          <a:prstGeom prst="rect">
            <a:avLst/>
          </a:prstGeom>
        </p:spPr>
        <p:txBody>
          <a:bodyPr vert="horz" lIns="91440" tIns="45720" rIns="91440" bIns="45720" rtlCol="0" anchor="ctr">
            <a:normAutofit/>
          </a:bodyPr>
          <a:lstStyle/>
          <a:p>
            <a:pPr marL="0" lvl="0" indent="0">
              <a:lnSpc>
                <a:spcPct val="90000"/>
              </a:lnSpc>
              <a:spcBef>
                <a:spcPct val="0"/>
              </a:spcBef>
              <a:spcAft>
                <a:spcPts val="600"/>
              </a:spcAft>
            </a:pPr>
            <a:r>
              <a:rPr lang="en-US" sz="5400" spc="-139">
                <a:latin typeface="+mj-lt"/>
                <a:ea typeface="+mj-ea"/>
                <a:cs typeface="+mj-cs"/>
                <a:sym typeface="Tenor Sans"/>
              </a:rPr>
              <a:t>Market Context</a:t>
            </a:r>
          </a:p>
        </p:txBody>
      </p:sp>
      <p:sp>
        <p:nvSpPr>
          <p:cNvPr id="28" name="Rectangle 27">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2176" y="1146636"/>
            <a:ext cx="192024" cy="98085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80476" y="1607754"/>
            <a:ext cx="1532187" cy="13716"/>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7" descr="A group of people standing around a device&#10;&#10;AI-generated content may be incorrect.">
            <a:extLst>
              <a:ext uri="{FF2B5EF4-FFF2-40B4-BE49-F238E27FC236}">
                <a16:creationId xmlns:a16="http://schemas.microsoft.com/office/drawing/2014/main" id="{19A24110-DDE9-AEF8-A70B-12BD1FA962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3587" y="3317556"/>
            <a:ext cx="8147304" cy="5947531"/>
          </a:xfrm>
          <a:prstGeom prst="rect">
            <a:avLst/>
          </a:prstGeom>
        </p:spPr>
      </p:pic>
      <p:grpSp>
        <p:nvGrpSpPr>
          <p:cNvPr id="3" name="Group 3"/>
          <p:cNvGrpSpPr/>
          <p:nvPr/>
        </p:nvGrpSpPr>
        <p:grpSpPr>
          <a:xfrm>
            <a:off x="9317112" y="4668144"/>
            <a:ext cx="8147304" cy="3391927"/>
            <a:chOff x="0" y="-47625"/>
            <a:chExt cx="9182100" cy="4340979"/>
          </a:xfrm>
        </p:grpSpPr>
        <p:sp>
          <p:nvSpPr>
            <p:cNvPr id="4" name="TextBox 4"/>
            <p:cNvSpPr txBox="1"/>
            <p:nvPr/>
          </p:nvSpPr>
          <p:spPr>
            <a:xfrm>
              <a:off x="0" y="-47625"/>
              <a:ext cx="9182100" cy="466115"/>
            </a:xfrm>
            <a:prstGeom prst="rect">
              <a:avLst/>
            </a:prstGeom>
          </p:spPr>
          <p:txBody>
            <a:bodyPr lIns="0" tIns="0" rIns="0" bIns="0" rtlCol="0" anchor="t">
              <a:spAutoFit/>
            </a:bodyPr>
            <a:lstStyle/>
            <a:p>
              <a:pPr defTabSz="760781">
                <a:lnSpc>
                  <a:spcPts val="2795"/>
                </a:lnSpc>
                <a:spcBef>
                  <a:spcPct val="0"/>
                </a:spcBef>
                <a:spcAft>
                  <a:spcPts val="960"/>
                </a:spcAft>
              </a:pPr>
              <a:r>
                <a:rPr lang="en-US" sz="2662" b="1" kern="1200">
                  <a:solidFill>
                    <a:srgbClr val="44585C"/>
                  </a:solidFill>
                  <a:latin typeface="Clear Sans Medium"/>
                  <a:ea typeface="+mn-ea"/>
                  <a:cs typeface="+mn-cs"/>
                  <a:sym typeface="Clear Sans Medium"/>
                </a:rPr>
                <a:t>HEALTHCARE LANDSCAPE IN EGYPT</a:t>
              </a:r>
              <a:endParaRPr lang="en-US" sz="3200" b="1">
                <a:solidFill>
                  <a:srgbClr val="D6E6E9"/>
                </a:solidFill>
                <a:latin typeface="Clear Sans Medium"/>
                <a:ea typeface="Clear Sans Medium"/>
                <a:cs typeface="Clear Sans Medium"/>
                <a:sym typeface="Clear Sans Medium"/>
              </a:endParaRPr>
            </a:p>
          </p:txBody>
        </p:sp>
        <p:sp>
          <p:nvSpPr>
            <p:cNvPr id="5" name="TextBox 5"/>
            <p:cNvSpPr txBox="1"/>
            <p:nvPr/>
          </p:nvSpPr>
          <p:spPr>
            <a:xfrm>
              <a:off x="0" y="1146159"/>
              <a:ext cx="9182100" cy="3147195"/>
            </a:xfrm>
            <a:prstGeom prst="rect">
              <a:avLst/>
            </a:prstGeom>
          </p:spPr>
          <p:txBody>
            <a:bodyPr lIns="0" tIns="0" rIns="0" bIns="0" rtlCol="0" anchor="t">
              <a:spAutoFit/>
            </a:bodyPr>
            <a:lstStyle/>
            <a:p>
              <a:pPr defTabSz="760781">
                <a:lnSpc>
                  <a:spcPts val="2445"/>
                </a:lnSpc>
                <a:spcBef>
                  <a:spcPct val="0"/>
                </a:spcBef>
                <a:spcAft>
                  <a:spcPts val="960"/>
                </a:spcAft>
              </a:pPr>
              <a:r>
                <a:rPr lang="en-US" sz="2880" kern="1200" dirty="0">
                  <a:solidFill>
                    <a:srgbClr val="44585C"/>
                  </a:solidFill>
                  <a:latin typeface="Clear Sans"/>
                  <a:ea typeface="+mn-ea"/>
                  <a:cs typeface="+mn-cs"/>
                  <a:sym typeface="Clear Sans"/>
                </a:rPr>
                <a:t>Egypt's healthcare system is evolving, with increasing demand for digital solutions that enhance patient access to pharmacies and streamline medication procurement.</a:t>
              </a:r>
            </a:p>
            <a:p>
              <a:pPr defTabSz="760781">
                <a:lnSpc>
                  <a:spcPts val="2445"/>
                </a:lnSpc>
                <a:spcBef>
                  <a:spcPct val="0"/>
                </a:spcBef>
                <a:spcAft>
                  <a:spcPts val="960"/>
                </a:spcAft>
              </a:pPr>
              <a:br>
                <a:rPr lang="en-US" sz="2880" kern="1200" dirty="0">
                  <a:solidFill>
                    <a:srgbClr val="44585C"/>
                  </a:solidFill>
                  <a:latin typeface="Clear Sans"/>
                  <a:ea typeface="+mn-ea"/>
                  <a:cs typeface="+mn-cs"/>
                  <a:sym typeface="Clear Sans"/>
                </a:rPr>
              </a:br>
              <a:r>
                <a:rPr lang="en-US" sz="2880" kern="1200" dirty="0">
                  <a:solidFill>
                    <a:srgbClr val="44585C"/>
                  </a:solidFill>
                  <a:latin typeface="Clear Sans"/>
                  <a:ea typeface="+mn-ea"/>
                  <a:cs typeface="+mn-cs"/>
                </a:rPr>
                <a:t>The Egypt digital health platforms market is</a:t>
              </a:r>
            </a:p>
            <a:p>
              <a:pPr defTabSz="760781">
                <a:lnSpc>
                  <a:spcPts val="2445"/>
                </a:lnSpc>
                <a:spcBef>
                  <a:spcPct val="0"/>
                </a:spcBef>
                <a:spcAft>
                  <a:spcPts val="960"/>
                </a:spcAft>
              </a:pPr>
              <a:r>
                <a:rPr lang="en-US" sz="2880" kern="1200" dirty="0">
                  <a:solidFill>
                    <a:srgbClr val="44585C"/>
                  </a:solidFill>
                  <a:latin typeface="Clear Sans"/>
                  <a:ea typeface="+mn-ea"/>
                  <a:cs typeface="+mn-cs"/>
                </a:rPr>
                <a:t> valued at more than </a:t>
              </a:r>
              <a:r>
                <a:rPr lang="en-US" sz="4000" b="1" kern="1200" dirty="0">
                  <a:solidFill>
                    <a:srgbClr val="44585C"/>
                  </a:solidFill>
                  <a:latin typeface="Clear Sans"/>
                  <a:ea typeface="+mn-ea"/>
                  <a:cs typeface="+mn-cs"/>
                </a:rPr>
                <a:t>100</a:t>
              </a:r>
              <a:r>
                <a:rPr lang="en-US" sz="2880" kern="1200" dirty="0">
                  <a:solidFill>
                    <a:srgbClr val="44585C"/>
                  </a:solidFill>
                  <a:latin typeface="Clear Sans"/>
                  <a:ea typeface="+mn-ea"/>
                  <a:cs typeface="+mn-cs"/>
                </a:rPr>
                <a:t> million USD by 2024.</a:t>
              </a:r>
              <a:endParaRPr lang="en-US" sz="3600" dirty="0">
                <a:solidFill>
                  <a:srgbClr val="D6E6E9"/>
                </a:solidFill>
                <a:latin typeface="Clear Sans"/>
                <a:cs typeface="Clear Sans"/>
                <a:sym typeface="Clear Sans"/>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32FC5A8-4659-C0C2-63E2-16A7F831413F}"/>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4A7D17C8-E192-E900-EF2C-F8CDC667F4A5}"/>
              </a:ext>
            </a:extLst>
          </p:cNvPr>
          <p:cNvSpPr txBox="1"/>
          <p:nvPr/>
        </p:nvSpPr>
        <p:spPr>
          <a:xfrm>
            <a:off x="666750" y="1562100"/>
            <a:ext cx="8324850" cy="1038105"/>
          </a:xfrm>
          <a:prstGeom prst="rect">
            <a:avLst/>
          </a:prstGeom>
        </p:spPr>
        <p:txBody>
          <a:bodyPr lIns="0" tIns="0" rIns="0" bIns="0" rtlCol="0" anchor="t">
            <a:spAutoFit/>
          </a:bodyPr>
          <a:lstStyle/>
          <a:p>
            <a:pPr marL="0" lvl="0" indent="0" algn="l">
              <a:lnSpc>
                <a:spcPts val="8399"/>
              </a:lnSpc>
            </a:pPr>
            <a:r>
              <a:rPr lang="en-US" sz="6999" spc="-139" dirty="0">
                <a:latin typeface="Tenor Sans"/>
                <a:ea typeface="Tenor Sans"/>
                <a:cs typeface="Tenor Sans"/>
                <a:sym typeface="Tenor Sans"/>
              </a:rPr>
              <a:t>Competitors</a:t>
            </a:r>
          </a:p>
        </p:txBody>
      </p:sp>
      <p:grpSp>
        <p:nvGrpSpPr>
          <p:cNvPr id="3" name="Group 3">
            <a:extLst>
              <a:ext uri="{FF2B5EF4-FFF2-40B4-BE49-F238E27FC236}">
                <a16:creationId xmlns:a16="http://schemas.microsoft.com/office/drawing/2014/main" id="{3DE45EF2-F44F-15DA-DC3E-DC4D845211BE}"/>
              </a:ext>
            </a:extLst>
          </p:cNvPr>
          <p:cNvGrpSpPr/>
          <p:nvPr/>
        </p:nvGrpSpPr>
        <p:grpSpPr>
          <a:xfrm>
            <a:off x="4495800" y="3279953"/>
            <a:ext cx="9753600" cy="1495713"/>
            <a:chOff x="0" y="-47625"/>
            <a:chExt cx="9182100" cy="1598962"/>
          </a:xfrm>
        </p:grpSpPr>
        <p:sp>
          <p:nvSpPr>
            <p:cNvPr id="4" name="TextBox 4">
              <a:extLst>
                <a:ext uri="{FF2B5EF4-FFF2-40B4-BE49-F238E27FC236}">
                  <a16:creationId xmlns:a16="http://schemas.microsoft.com/office/drawing/2014/main" id="{200DEA82-B20C-5631-9219-B2E2849F9E7C}"/>
                </a:ext>
              </a:extLst>
            </p:cNvPr>
            <p:cNvSpPr txBox="1"/>
            <p:nvPr/>
          </p:nvSpPr>
          <p:spPr>
            <a:xfrm>
              <a:off x="0" y="-47625"/>
              <a:ext cx="9182100" cy="466115"/>
            </a:xfrm>
            <a:prstGeom prst="rect">
              <a:avLst/>
            </a:prstGeom>
          </p:spPr>
          <p:txBody>
            <a:bodyPr lIns="0" tIns="0" rIns="0" bIns="0" rtlCol="0" anchor="t">
              <a:spAutoFit/>
            </a:bodyPr>
            <a:lstStyle/>
            <a:p>
              <a:pPr marL="0" lvl="0" indent="0" algn="l">
                <a:lnSpc>
                  <a:spcPts val="3360"/>
                </a:lnSpc>
                <a:spcBef>
                  <a:spcPct val="0"/>
                </a:spcBef>
              </a:pPr>
              <a:endParaRPr lang="en-US" sz="3200" b="1" dirty="0">
                <a:solidFill>
                  <a:srgbClr val="D6E6E9"/>
                </a:solidFill>
                <a:latin typeface="Clear Sans Medium"/>
                <a:ea typeface="Clear Sans Medium"/>
                <a:cs typeface="Clear Sans Medium"/>
                <a:sym typeface="Clear Sans Medium"/>
              </a:endParaRPr>
            </a:p>
          </p:txBody>
        </p:sp>
        <p:sp>
          <p:nvSpPr>
            <p:cNvPr id="5" name="TextBox 5">
              <a:extLst>
                <a:ext uri="{FF2B5EF4-FFF2-40B4-BE49-F238E27FC236}">
                  <a16:creationId xmlns:a16="http://schemas.microsoft.com/office/drawing/2014/main" id="{58882AF8-E3CB-753F-61F9-64584C0B7A3C}"/>
                </a:ext>
              </a:extLst>
            </p:cNvPr>
            <p:cNvSpPr txBox="1"/>
            <p:nvPr/>
          </p:nvSpPr>
          <p:spPr>
            <a:xfrm>
              <a:off x="0" y="1146159"/>
              <a:ext cx="9182100" cy="405178"/>
            </a:xfrm>
            <a:prstGeom prst="rect">
              <a:avLst/>
            </a:prstGeom>
          </p:spPr>
          <p:txBody>
            <a:bodyPr lIns="0" tIns="0" rIns="0" bIns="0" rtlCol="0" anchor="t">
              <a:spAutoFit/>
            </a:bodyPr>
            <a:lstStyle/>
            <a:p>
              <a:pPr lvl="0">
                <a:lnSpc>
                  <a:spcPts val="2939"/>
                </a:lnSpc>
                <a:spcBef>
                  <a:spcPct val="0"/>
                </a:spcBef>
              </a:pPr>
              <a:endParaRPr lang="en-US" sz="3200" dirty="0">
                <a:solidFill>
                  <a:srgbClr val="D6E6E9"/>
                </a:solidFill>
                <a:latin typeface="Clear Sans"/>
                <a:cs typeface="Clear Sans"/>
                <a:sym typeface="Clear Sans"/>
              </a:endParaRPr>
            </a:p>
          </p:txBody>
        </p:sp>
      </p:grpSp>
      <p:graphicFrame>
        <p:nvGraphicFramePr>
          <p:cNvPr id="8" name="Table 7">
            <a:extLst>
              <a:ext uri="{FF2B5EF4-FFF2-40B4-BE49-F238E27FC236}">
                <a16:creationId xmlns:a16="http://schemas.microsoft.com/office/drawing/2014/main" id="{5B9DD7B6-9B90-29A9-7AE7-F2908C712576}"/>
              </a:ext>
            </a:extLst>
          </p:cNvPr>
          <p:cNvGraphicFramePr>
            <a:graphicFrameLocks noGrp="1"/>
          </p:cNvGraphicFramePr>
          <p:nvPr>
            <p:extLst>
              <p:ext uri="{D42A27DB-BD31-4B8C-83A1-F6EECF244321}">
                <p14:modId xmlns:p14="http://schemas.microsoft.com/office/powerpoint/2010/main" val="571434763"/>
              </p:ext>
            </p:extLst>
          </p:nvPr>
        </p:nvGraphicFramePr>
        <p:xfrm>
          <a:off x="1603580" y="3230587"/>
          <a:ext cx="8991600" cy="6096000"/>
        </p:xfrm>
        <a:graphic>
          <a:graphicData uri="http://schemas.openxmlformats.org/drawingml/2006/table">
            <a:tbl>
              <a:tblPr>
                <a:tableStyleId>{2D5ABB26-0587-4C30-8999-92F81FD0307C}</a:tableStyleId>
              </a:tblPr>
              <a:tblGrid>
                <a:gridCol w="2997200">
                  <a:extLst>
                    <a:ext uri="{9D8B030D-6E8A-4147-A177-3AD203B41FA5}">
                      <a16:colId xmlns:a16="http://schemas.microsoft.com/office/drawing/2014/main" val="1271986399"/>
                    </a:ext>
                  </a:extLst>
                </a:gridCol>
                <a:gridCol w="2997200">
                  <a:extLst>
                    <a:ext uri="{9D8B030D-6E8A-4147-A177-3AD203B41FA5}">
                      <a16:colId xmlns:a16="http://schemas.microsoft.com/office/drawing/2014/main" val="1178753785"/>
                    </a:ext>
                  </a:extLst>
                </a:gridCol>
                <a:gridCol w="2997200">
                  <a:extLst>
                    <a:ext uri="{9D8B030D-6E8A-4147-A177-3AD203B41FA5}">
                      <a16:colId xmlns:a16="http://schemas.microsoft.com/office/drawing/2014/main" val="3327986487"/>
                    </a:ext>
                  </a:extLst>
                </a:gridCol>
              </a:tblGrid>
              <a:tr h="1486829">
                <a:tc>
                  <a:txBody>
                    <a:bodyPr/>
                    <a:lstStyle/>
                    <a:p>
                      <a:pPr>
                        <a:buNone/>
                      </a:pPr>
                      <a:r>
                        <a:rPr lang="en-US" b="1" dirty="0" err="1">
                          <a:solidFill>
                            <a:schemeClr val="tx1"/>
                          </a:solidFill>
                          <a:effectLst/>
                        </a:rPr>
                        <a:t>Vezeeta</a:t>
                      </a:r>
                      <a:endParaRPr lang="en-US" dirty="0">
                        <a:solidFill>
                          <a:schemeClr val="tx1"/>
                        </a:solidFill>
                        <a:effectLst/>
                      </a:endParaRPr>
                    </a:p>
                  </a:txBody>
                  <a:tcPr anchor="ctr"/>
                </a:tc>
                <a:tc>
                  <a:txBody>
                    <a:bodyPr/>
                    <a:lstStyle/>
                    <a:p>
                      <a:pPr>
                        <a:buNone/>
                      </a:pPr>
                      <a:r>
                        <a:rPr lang="en-US" dirty="0">
                          <a:solidFill>
                            <a:schemeClr val="tx1"/>
                          </a:solidFill>
                          <a:effectLst/>
                        </a:rPr>
                        <a:t>Doctor booking, teleconsultation, practice management</a:t>
                      </a:r>
                    </a:p>
                  </a:txBody>
                  <a:tcPr anchor="ctr"/>
                </a:tc>
                <a:tc>
                  <a:txBody>
                    <a:bodyPr/>
                    <a:lstStyle/>
                    <a:p>
                      <a:pPr>
                        <a:buNone/>
                      </a:pPr>
                      <a:r>
                        <a:rPr lang="en-US" b="1" dirty="0">
                          <a:solidFill>
                            <a:schemeClr val="tx1"/>
                          </a:solidFill>
                          <a:effectLst/>
                        </a:rPr>
                        <a:t>2012</a:t>
                      </a:r>
                      <a:endParaRPr lang="en-US" dirty="0">
                        <a:solidFill>
                          <a:schemeClr val="tx1"/>
                        </a:solidFill>
                        <a:effectLst/>
                      </a:endParaRPr>
                    </a:p>
                  </a:txBody>
                  <a:tcPr anchor="ctr"/>
                </a:tc>
                <a:extLst>
                  <a:ext uri="{0D108BD9-81ED-4DB2-BD59-A6C34878D82A}">
                    <a16:rowId xmlns:a16="http://schemas.microsoft.com/office/drawing/2014/main" val="613248932"/>
                  </a:ext>
                </a:extLst>
              </a:tr>
              <a:tr h="1486829">
                <a:tc>
                  <a:txBody>
                    <a:bodyPr/>
                    <a:lstStyle/>
                    <a:p>
                      <a:pPr>
                        <a:buNone/>
                      </a:pPr>
                      <a:r>
                        <a:rPr lang="en-US" b="1" dirty="0" err="1">
                          <a:solidFill>
                            <a:schemeClr val="tx1"/>
                          </a:solidFill>
                          <a:effectLst/>
                        </a:rPr>
                        <a:t>Yodawy</a:t>
                      </a:r>
                      <a:endParaRPr lang="en-US" dirty="0">
                        <a:solidFill>
                          <a:schemeClr val="tx1"/>
                        </a:solidFill>
                        <a:effectLst/>
                      </a:endParaRPr>
                    </a:p>
                  </a:txBody>
                  <a:tcPr anchor="ctr"/>
                </a:tc>
                <a:tc>
                  <a:txBody>
                    <a:bodyPr/>
                    <a:lstStyle/>
                    <a:p>
                      <a:pPr>
                        <a:buNone/>
                      </a:pPr>
                      <a:r>
                        <a:rPr lang="en-US" dirty="0">
                          <a:solidFill>
                            <a:schemeClr val="tx1"/>
                          </a:solidFill>
                          <a:effectLst/>
                        </a:rPr>
                        <a:t>Digital pharmacy, prescription delivery, insurance integration</a:t>
                      </a:r>
                    </a:p>
                  </a:txBody>
                  <a:tcPr anchor="ctr"/>
                </a:tc>
                <a:tc>
                  <a:txBody>
                    <a:bodyPr/>
                    <a:lstStyle/>
                    <a:p>
                      <a:pPr>
                        <a:buNone/>
                      </a:pPr>
                      <a:r>
                        <a:rPr lang="en-US" b="1">
                          <a:solidFill>
                            <a:schemeClr val="tx1"/>
                          </a:solidFill>
                          <a:effectLst/>
                        </a:rPr>
                        <a:t>2018</a:t>
                      </a:r>
                      <a:endParaRPr lang="en-US">
                        <a:solidFill>
                          <a:schemeClr val="tx1"/>
                        </a:solidFill>
                        <a:effectLst/>
                      </a:endParaRPr>
                    </a:p>
                  </a:txBody>
                  <a:tcPr anchor="ctr"/>
                </a:tc>
                <a:extLst>
                  <a:ext uri="{0D108BD9-81ED-4DB2-BD59-A6C34878D82A}">
                    <a16:rowId xmlns:a16="http://schemas.microsoft.com/office/drawing/2014/main" val="1723611767"/>
                  </a:ext>
                </a:extLst>
              </a:tr>
              <a:tr h="1040781">
                <a:tc>
                  <a:txBody>
                    <a:bodyPr/>
                    <a:lstStyle/>
                    <a:p>
                      <a:pPr>
                        <a:buNone/>
                      </a:pPr>
                      <a:r>
                        <a:rPr lang="en-US" b="1">
                          <a:solidFill>
                            <a:schemeClr val="tx1"/>
                          </a:solidFill>
                          <a:effectLst/>
                        </a:rPr>
                        <a:t>Chefaa</a:t>
                      </a:r>
                      <a:endParaRPr lang="en-US">
                        <a:solidFill>
                          <a:schemeClr val="tx1"/>
                        </a:solidFill>
                        <a:effectLst/>
                      </a:endParaRPr>
                    </a:p>
                  </a:txBody>
                  <a:tcPr anchor="ctr"/>
                </a:tc>
                <a:tc>
                  <a:txBody>
                    <a:bodyPr/>
                    <a:lstStyle/>
                    <a:p>
                      <a:pPr>
                        <a:buNone/>
                      </a:pPr>
                      <a:r>
                        <a:rPr lang="en-US" dirty="0">
                          <a:solidFill>
                            <a:schemeClr val="tx1"/>
                          </a:solidFill>
                          <a:effectLst/>
                        </a:rPr>
                        <a:t>Online pharmacy &amp; chronic medication delivery</a:t>
                      </a:r>
                    </a:p>
                  </a:txBody>
                  <a:tcPr anchor="ctr"/>
                </a:tc>
                <a:tc>
                  <a:txBody>
                    <a:bodyPr/>
                    <a:lstStyle/>
                    <a:p>
                      <a:pPr>
                        <a:buNone/>
                      </a:pPr>
                      <a:r>
                        <a:rPr lang="en-US" b="1">
                          <a:solidFill>
                            <a:schemeClr val="tx1"/>
                          </a:solidFill>
                          <a:effectLst/>
                        </a:rPr>
                        <a:t>2017</a:t>
                      </a:r>
                      <a:endParaRPr lang="en-US">
                        <a:solidFill>
                          <a:schemeClr val="tx1"/>
                        </a:solidFill>
                        <a:effectLst/>
                      </a:endParaRPr>
                    </a:p>
                  </a:txBody>
                  <a:tcPr anchor="ctr"/>
                </a:tc>
                <a:extLst>
                  <a:ext uri="{0D108BD9-81ED-4DB2-BD59-A6C34878D82A}">
                    <a16:rowId xmlns:a16="http://schemas.microsoft.com/office/drawing/2014/main" val="2459317898"/>
                  </a:ext>
                </a:extLst>
              </a:tr>
              <a:tr h="1486829">
                <a:tc>
                  <a:txBody>
                    <a:bodyPr/>
                    <a:lstStyle/>
                    <a:p>
                      <a:pPr>
                        <a:buNone/>
                      </a:pPr>
                      <a:r>
                        <a:rPr lang="en-US" b="1">
                          <a:solidFill>
                            <a:schemeClr val="tx1"/>
                          </a:solidFill>
                          <a:effectLst/>
                        </a:rPr>
                        <a:t>7keema</a:t>
                      </a:r>
                      <a:endParaRPr lang="en-US">
                        <a:solidFill>
                          <a:schemeClr val="tx1"/>
                        </a:solidFill>
                        <a:effectLst/>
                      </a:endParaRPr>
                    </a:p>
                  </a:txBody>
                  <a:tcPr anchor="ctr"/>
                </a:tc>
                <a:tc>
                  <a:txBody>
                    <a:bodyPr/>
                    <a:lstStyle/>
                    <a:p>
                      <a:pPr>
                        <a:buNone/>
                      </a:pPr>
                      <a:r>
                        <a:rPr lang="en-US" dirty="0">
                          <a:solidFill>
                            <a:schemeClr val="tx1"/>
                          </a:solidFill>
                          <a:effectLst/>
                        </a:rPr>
                        <a:t>Home healthcare services (nurses/doctors on-demand)</a:t>
                      </a:r>
                    </a:p>
                  </a:txBody>
                  <a:tcPr anchor="ctr"/>
                </a:tc>
                <a:tc>
                  <a:txBody>
                    <a:bodyPr/>
                    <a:lstStyle/>
                    <a:p>
                      <a:pPr>
                        <a:buNone/>
                      </a:pPr>
                      <a:r>
                        <a:rPr lang="en-US" b="1">
                          <a:solidFill>
                            <a:schemeClr val="tx1"/>
                          </a:solidFill>
                          <a:effectLst/>
                        </a:rPr>
                        <a:t>2017</a:t>
                      </a:r>
                      <a:endParaRPr lang="en-US">
                        <a:solidFill>
                          <a:schemeClr val="tx1"/>
                        </a:solidFill>
                        <a:effectLst/>
                      </a:endParaRPr>
                    </a:p>
                  </a:txBody>
                  <a:tcPr anchor="ctr"/>
                </a:tc>
                <a:extLst>
                  <a:ext uri="{0D108BD9-81ED-4DB2-BD59-A6C34878D82A}">
                    <a16:rowId xmlns:a16="http://schemas.microsoft.com/office/drawing/2014/main" val="598376013"/>
                  </a:ext>
                </a:extLst>
              </a:tr>
              <a:tr h="594732">
                <a:tc>
                  <a:txBody>
                    <a:bodyPr/>
                    <a:lstStyle/>
                    <a:p>
                      <a:pPr>
                        <a:buNone/>
                      </a:pPr>
                      <a:r>
                        <a:rPr lang="en-US" b="1">
                          <a:solidFill>
                            <a:schemeClr val="tx1"/>
                          </a:solidFill>
                          <a:effectLst/>
                        </a:rPr>
                        <a:t>Estshara</a:t>
                      </a:r>
                      <a:endParaRPr lang="en-US">
                        <a:solidFill>
                          <a:schemeClr val="tx1"/>
                        </a:solidFill>
                        <a:effectLst/>
                      </a:endParaRPr>
                    </a:p>
                  </a:txBody>
                  <a:tcPr anchor="ctr"/>
                </a:tc>
                <a:tc>
                  <a:txBody>
                    <a:bodyPr/>
                    <a:lstStyle/>
                    <a:p>
                      <a:pPr>
                        <a:buNone/>
                      </a:pPr>
                      <a:r>
                        <a:rPr lang="en-US">
                          <a:solidFill>
                            <a:schemeClr val="tx1"/>
                          </a:solidFill>
                          <a:effectLst/>
                        </a:rPr>
                        <a:t>Teleconsultation platform</a:t>
                      </a:r>
                    </a:p>
                  </a:txBody>
                  <a:tcPr anchor="ctr"/>
                </a:tc>
                <a:tc>
                  <a:txBody>
                    <a:bodyPr/>
                    <a:lstStyle/>
                    <a:p>
                      <a:pPr>
                        <a:buNone/>
                      </a:pPr>
                      <a:r>
                        <a:rPr lang="en-US" b="1" dirty="0">
                          <a:solidFill>
                            <a:schemeClr val="tx1"/>
                          </a:solidFill>
                          <a:effectLst/>
                        </a:rPr>
                        <a:t>2018</a:t>
                      </a:r>
                      <a:endParaRPr lang="en-US" dirty="0">
                        <a:solidFill>
                          <a:schemeClr val="tx1"/>
                        </a:solidFill>
                        <a:effectLst/>
                      </a:endParaRPr>
                    </a:p>
                  </a:txBody>
                  <a:tcPr anchor="ctr"/>
                </a:tc>
                <a:extLst>
                  <a:ext uri="{0D108BD9-81ED-4DB2-BD59-A6C34878D82A}">
                    <a16:rowId xmlns:a16="http://schemas.microsoft.com/office/drawing/2014/main" val="807894135"/>
                  </a:ext>
                </a:extLst>
              </a:tr>
            </a:tbl>
          </a:graphicData>
        </a:graphic>
      </p:graphicFrame>
      <p:graphicFrame>
        <p:nvGraphicFramePr>
          <p:cNvPr id="9" name="Table 8">
            <a:extLst>
              <a:ext uri="{FF2B5EF4-FFF2-40B4-BE49-F238E27FC236}">
                <a16:creationId xmlns:a16="http://schemas.microsoft.com/office/drawing/2014/main" id="{61C002C7-8C27-FCE2-F11C-26EF50A973D7}"/>
              </a:ext>
            </a:extLst>
          </p:cNvPr>
          <p:cNvGraphicFramePr>
            <a:graphicFrameLocks noGrp="1"/>
          </p:cNvGraphicFramePr>
          <p:nvPr>
            <p:extLst>
              <p:ext uri="{D42A27DB-BD31-4B8C-83A1-F6EECF244321}">
                <p14:modId xmlns:p14="http://schemas.microsoft.com/office/powerpoint/2010/main" val="2285956517"/>
              </p:ext>
            </p:extLst>
          </p:nvPr>
        </p:nvGraphicFramePr>
        <p:xfrm>
          <a:off x="1603580" y="2962523"/>
          <a:ext cx="8324850" cy="436017"/>
        </p:xfrm>
        <a:graphic>
          <a:graphicData uri="http://schemas.openxmlformats.org/drawingml/2006/table">
            <a:tbl>
              <a:tblPr/>
              <a:tblGrid>
                <a:gridCol w="3390881">
                  <a:extLst>
                    <a:ext uri="{9D8B030D-6E8A-4147-A177-3AD203B41FA5}">
                      <a16:colId xmlns:a16="http://schemas.microsoft.com/office/drawing/2014/main" val="3394257818"/>
                    </a:ext>
                  </a:extLst>
                </a:gridCol>
                <a:gridCol w="1543088">
                  <a:extLst>
                    <a:ext uri="{9D8B030D-6E8A-4147-A177-3AD203B41FA5}">
                      <a16:colId xmlns:a16="http://schemas.microsoft.com/office/drawing/2014/main" val="2582796783"/>
                    </a:ext>
                  </a:extLst>
                </a:gridCol>
                <a:gridCol w="3390881">
                  <a:extLst>
                    <a:ext uri="{9D8B030D-6E8A-4147-A177-3AD203B41FA5}">
                      <a16:colId xmlns:a16="http://schemas.microsoft.com/office/drawing/2014/main" val="226400923"/>
                    </a:ext>
                  </a:extLst>
                </a:gridCol>
              </a:tblGrid>
              <a:tr h="436017">
                <a:tc>
                  <a:txBody>
                    <a:bodyPr/>
                    <a:lstStyle/>
                    <a:p>
                      <a:pPr>
                        <a:buNone/>
                      </a:pPr>
                      <a:r>
                        <a:rPr lang="en-US" dirty="0">
                          <a:solidFill>
                            <a:schemeClr val="tx1"/>
                          </a:solidFill>
                          <a:effectLst/>
                        </a:rPr>
                        <a:t>Competitor</a:t>
                      </a:r>
                    </a:p>
                  </a:txBody>
                  <a:tcPr anchor="ctr">
                    <a:lnL>
                      <a:noFill/>
                    </a:lnL>
                    <a:lnR>
                      <a:noFill/>
                    </a:lnR>
                    <a:lnT>
                      <a:noFill/>
                    </a:lnT>
                    <a:lnB>
                      <a:noFill/>
                    </a:lnB>
                    <a:noFill/>
                  </a:tcPr>
                </a:tc>
                <a:tc>
                  <a:txBody>
                    <a:bodyPr/>
                    <a:lstStyle/>
                    <a:p>
                      <a:pPr>
                        <a:buNone/>
                      </a:pPr>
                      <a:r>
                        <a:rPr lang="en-US">
                          <a:solidFill>
                            <a:schemeClr val="tx1"/>
                          </a:solidFill>
                          <a:effectLst/>
                        </a:rPr>
                        <a:t>Focus Area</a:t>
                      </a:r>
                    </a:p>
                  </a:txBody>
                  <a:tcPr anchor="ctr">
                    <a:lnL>
                      <a:noFill/>
                    </a:lnL>
                    <a:lnR>
                      <a:noFill/>
                    </a:lnR>
                    <a:lnT>
                      <a:noFill/>
                    </a:lnT>
                    <a:lnB>
                      <a:noFill/>
                    </a:lnB>
                    <a:noFill/>
                  </a:tcPr>
                </a:tc>
                <a:tc>
                  <a:txBody>
                    <a:bodyPr/>
                    <a:lstStyle/>
                    <a:p>
                      <a:pPr>
                        <a:buNone/>
                      </a:pPr>
                      <a:r>
                        <a:rPr lang="en-US" dirty="0">
                          <a:solidFill>
                            <a:schemeClr val="tx1"/>
                          </a:solidFill>
                          <a:effectLst/>
                        </a:rPr>
                        <a:t>              Founded in</a:t>
                      </a:r>
                    </a:p>
                  </a:txBody>
                  <a:tcPr anchor="ctr">
                    <a:lnL>
                      <a:noFill/>
                    </a:lnL>
                    <a:lnR>
                      <a:noFill/>
                    </a:lnR>
                    <a:lnT>
                      <a:noFill/>
                    </a:lnT>
                    <a:lnB>
                      <a:noFill/>
                    </a:lnB>
                    <a:noFill/>
                  </a:tcPr>
                </a:tc>
                <a:extLst>
                  <a:ext uri="{0D108BD9-81ED-4DB2-BD59-A6C34878D82A}">
                    <a16:rowId xmlns:a16="http://schemas.microsoft.com/office/drawing/2014/main" val="2434634064"/>
                  </a:ext>
                </a:extLst>
              </a:tr>
            </a:tbl>
          </a:graphicData>
        </a:graphic>
      </p:graphicFrame>
      <p:pic>
        <p:nvPicPr>
          <p:cNvPr id="10" name="Picture 9" descr="A medical center with people in medical uniforms&#10;&#10;AI-generated content may be incorrect.">
            <a:extLst>
              <a:ext uri="{FF2B5EF4-FFF2-40B4-BE49-F238E27FC236}">
                <a16:creationId xmlns:a16="http://schemas.microsoft.com/office/drawing/2014/main" id="{B7234D35-F992-E246-C7FA-24588DAE28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95180" y="3715970"/>
            <a:ext cx="5949817" cy="3778134"/>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11" name="Picture 10" descr="A logo of a global education&#10;&#10;AI-generated content may be incorrect.">
            <a:extLst>
              <a:ext uri="{FF2B5EF4-FFF2-40B4-BE49-F238E27FC236}">
                <a16:creationId xmlns:a16="http://schemas.microsoft.com/office/drawing/2014/main" id="{F5700C4C-579D-01DA-58C4-6245BC1A1331}"/>
              </a:ext>
            </a:extLst>
          </p:cNvPr>
          <p:cNvPicPr>
            <a:picLocks noChangeAspect="1"/>
          </p:cNvPicPr>
          <p:nvPr/>
        </p:nvPicPr>
        <p:blipFill>
          <a:blip r:embed="rId4"/>
          <a:stretch>
            <a:fillRect/>
          </a:stretch>
        </p:blipFill>
        <p:spPr>
          <a:xfrm>
            <a:off x="881729" y="275760"/>
            <a:ext cx="1625595" cy="1286340"/>
          </a:xfrm>
          <a:prstGeom prst="rect">
            <a:avLst/>
          </a:prstGeom>
        </p:spPr>
      </p:pic>
      <p:pic>
        <p:nvPicPr>
          <p:cNvPr id="12" name="Picture 11" descr="A black and white sign with black text&#10;&#10;AI-generated content may be incorrect.">
            <a:extLst>
              <a:ext uri="{FF2B5EF4-FFF2-40B4-BE49-F238E27FC236}">
                <a16:creationId xmlns:a16="http://schemas.microsoft.com/office/drawing/2014/main" id="{5FB391A9-1E86-4485-494C-011A66B9961B}"/>
              </a:ext>
            </a:extLst>
          </p:cNvPr>
          <p:cNvPicPr>
            <a:picLocks noChangeAspect="1"/>
          </p:cNvPicPr>
          <p:nvPr/>
        </p:nvPicPr>
        <p:blipFill>
          <a:blip r:embed="rId5"/>
          <a:stretch>
            <a:fillRect/>
          </a:stretch>
        </p:blipFill>
        <p:spPr>
          <a:xfrm>
            <a:off x="15925800" y="432272"/>
            <a:ext cx="1563211" cy="786584"/>
          </a:xfrm>
          <a:prstGeom prst="rect">
            <a:avLst/>
          </a:prstGeom>
        </p:spPr>
      </p:pic>
    </p:spTree>
    <p:extLst>
      <p:ext uri="{BB962C8B-B14F-4D97-AF65-F5344CB8AC3E}">
        <p14:creationId xmlns:p14="http://schemas.microsoft.com/office/powerpoint/2010/main" val="2755353570"/>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7998" cy="102860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Group 2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625226"/>
            <a:ext cx="532796" cy="1010190"/>
            <a:chOff x="0" y="823811"/>
            <a:chExt cx="355196" cy="673460"/>
          </a:xfrm>
        </p:grpSpPr>
        <p:sp>
          <p:nvSpPr>
            <p:cNvPr id="22" name="Rectangle 2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 name="Rectangle 2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97627" y="3185731"/>
            <a:ext cx="7462599" cy="411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6">
            <a:extLst>
              <a:ext uri="{FF2B5EF4-FFF2-40B4-BE49-F238E27FC236}">
                <a16:creationId xmlns:a16="http://schemas.microsoft.com/office/drawing/2014/main" id="{745DE3E3-D477-7C58-361C-622D92CF06F4}"/>
              </a:ext>
            </a:extLst>
          </p:cNvPr>
          <p:cNvSpPr>
            <a:spLocks noChangeArrowheads="1"/>
          </p:cNvSpPr>
          <p:nvPr/>
        </p:nvSpPr>
        <p:spPr bwMode="auto">
          <a:xfrm>
            <a:off x="886078" y="3495757"/>
            <a:ext cx="7917099" cy="596937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228600" fontAlgn="base">
              <a:lnSpc>
                <a:spcPct val="90000"/>
              </a:lnSpc>
              <a:spcBef>
                <a:spcPct val="0"/>
              </a:spcBef>
              <a:spcAft>
                <a:spcPts val="600"/>
              </a:spcAft>
              <a:buClrTx/>
              <a:buSzTx/>
              <a:buFont typeface="Arial" panose="020B0604020202020204" pitchFamily="34" charset="0"/>
              <a:buChar char="•"/>
              <a:tabLst/>
            </a:pPr>
            <a:r>
              <a:rPr lang="en-US" altLang="en-US" sz="3000" spc="-139"/>
              <a:t>Targeting a vital sector: healthcare, with continuous non-seasonal demand</a:t>
            </a:r>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n-US" sz="3000" spc="-139"/>
          </a:p>
          <a:p>
            <a:pPr marL="0" marR="0" lvl="0" indent="-228600" fontAlgn="base">
              <a:lnSpc>
                <a:spcPct val="90000"/>
              </a:lnSpc>
              <a:spcBef>
                <a:spcPct val="0"/>
              </a:spcBef>
              <a:spcAft>
                <a:spcPts val="600"/>
              </a:spcAft>
              <a:buClrTx/>
              <a:buSzTx/>
              <a:buFont typeface="Arial" panose="020B0604020202020204" pitchFamily="34" charset="0"/>
              <a:buChar char="•"/>
              <a:tabLst/>
            </a:pPr>
            <a:r>
              <a:rPr lang="en-US" altLang="en-US" sz="3000" spc="-139"/>
              <a:t>Significant opportunities for digital transformation in Egypt, especially in booking and time management</a:t>
            </a:r>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n-US" sz="3000" spc="-139"/>
          </a:p>
          <a:p>
            <a:pPr marL="0" marR="0" lvl="0" indent="-228600" fontAlgn="base">
              <a:lnSpc>
                <a:spcPct val="90000"/>
              </a:lnSpc>
              <a:spcBef>
                <a:spcPct val="0"/>
              </a:spcBef>
              <a:spcAft>
                <a:spcPts val="600"/>
              </a:spcAft>
              <a:buClrTx/>
              <a:buSzTx/>
              <a:buFont typeface="Arial" panose="020B0604020202020204" pitchFamily="34" charset="0"/>
              <a:buChar char="•"/>
              <a:tabLst/>
            </a:pPr>
            <a:r>
              <a:rPr lang="en-US" altLang="en-US" sz="3000" spc="-139"/>
              <a:t>Low clinic utilization rates confirm a problem worth solving</a:t>
            </a:r>
          </a:p>
        </p:txBody>
      </p:sp>
      <p:sp>
        <p:nvSpPr>
          <p:cNvPr id="27" name="Rectangle 2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6046505" y="0"/>
            <a:ext cx="2241495" cy="10287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74530" y="536170"/>
            <a:ext cx="7268232" cy="438538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74530" y="5258218"/>
            <a:ext cx="7268232" cy="438538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medical center with people in medical uniforms&#10;&#10;AI-generated content may be incorrect.">
            <a:extLst>
              <a:ext uri="{FF2B5EF4-FFF2-40B4-BE49-F238E27FC236}">
                <a16:creationId xmlns:a16="http://schemas.microsoft.com/office/drawing/2014/main" id="{71C4C843-FF42-7021-D929-21A757FF76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07326" y="845256"/>
            <a:ext cx="5949817" cy="3778134"/>
          </a:xfrm>
          <a:prstGeom prst="rect">
            <a:avLst/>
          </a:prstGeom>
          <a:scene3d>
            <a:camera prst="perspectiveFront" fov="5400000"/>
            <a:lightRig rig="threePt" dir="t">
              <a:rot lat="0" lon="0" rev="2100000"/>
            </a:lightRig>
          </a:scene3d>
          <a:sp3d extrusionH="25400">
            <a:bevelT w="304800" h="152400" prst="hardEdge"/>
            <a:extrusionClr>
              <a:srgbClr val="000000"/>
            </a:extrusionClr>
          </a:sp3d>
        </p:spPr>
      </p:pic>
      <p:grpSp>
        <p:nvGrpSpPr>
          <p:cNvPr id="4" name="Group 4"/>
          <p:cNvGrpSpPr/>
          <p:nvPr/>
        </p:nvGrpSpPr>
        <p:grpSpPr>
          <a:xfrm>
            <a:off x="1195214" y="1744648"/>
            <a:ext cx="6596150" cy="3233340"/>
            <a:chOff x="0" y="0"/>
            <a:chExt cx="13017500" cy="6380989"/>
          </a:xfrm>
        </p:grpSpPr>
        <p:sp>
          <p:nvSpPr>
            <p:cNvPr id="5" name="TextBox 5"/>
            <p:cNvSpPr txBox="1"/>
            <p:nvPr/>
          </p:nvSpPr>
          <p:spPr>
            <a:xfrm>
              <a:off x="0" y="4727729"/>
              <a:ext cx="13017500" cy="536215"/>
            </a:xfrm>
            <a:prstGeom prst="rect">
              <a:avLst/>
            </a:prstGeom>
          </p:spPr>
          <p:txBody>
            <a:bodyPr lIns="0" tIns="0" rIns="0" bIns="0" rtlCol="0" anchor="t">
              <a:spAutoFit/>
            </a:bodyPr>
            <a:lstStyle/>
            <a:p>
              <a:pPr marL="0" lvl="0" indent="0" algn="l">
                <a:lnSpc>
                  <a:spcPts val="3359"/>
                </a:lnSpc>
                <a:spcBef>
                  <a:spcPct val="0"/>
                </a:spcBef>
              </a:pPr>
              <a:endParaRPr lang="en-US" sz="2400" b="1">
                <a:solidFill>
                  <a:srgbClr val="D6E6E9"/>
                </a:solidFill>
                <a:latin typeface="Clear Sans Bold"/>
                <a:ea typeface="Clear Sans Bold"/>
                <a:cs typeface="Clear Sans Bold"/>
                <a:sym typeface="Clear Sans Bold"/>
              </a:endParaRPr>
            </a:p>
          </p:txBody>
        </p:sp>
        <p:sp>
          <p:nvSpPr>
            <p:cNvPr id="6" name="TextBox 6"/>
            <p:cNvSpPr txBox="1"/>
            <p:nvPr/>
          </p:nvSpPr>
          <p:spPr>
            <a:xfrm>
              <a:off x="0" y="5921546"/>
              <a:ext cx="13017500" cy="459443"/>
            </a:xfrm>
            <a:prstGeom prst="rect">
              <a:avLst/>
            </a:prstGeom>
          </p:spPr>
          <p:txBody>
            <a:bodyPr lIns="0" tIns="0" rIns="0" bIns="0" rtlCol="0" anchor="t">
              <a:spAutoFit/>
            </a:bodyPr>
            <a:lstStyle/>
            <a:p>
              <a:pPr marL="0" lvl="0" indent="0" algn="l">
                <a:lnSpc>
                  <a:spcPts val="2939"/>
                </a:lnSpc>
                <a:spcBef>
                  <a:spcPct val="0"/>
                </a:spcBef>
              </a:pPr>
              <a:endParaRPr lang="en-US" sz="2099">
                <a:solidFill>
                  <a:srgbClr val="D6E6E9"/>
                </a:solidFill>
                <a:latin typeface="Clear Sans"/>
                <a:ea typeface="Clear Sans"/>
                <a:cs typeface="Clear Sans"/>
                <a:sym typeface="Clear Sans"/>
              </a:endParaRPr>
            </a:p>
          </p:txBody>
        </p:sp>
        <p:sp>
          <p:nvSpPr>
            <p:cNvPr id="7" name="TextBox 7"/>
            <p:cNvSpPr txBox="1"/>
            <p:nvPr/>
          </p:nvSpPr>
          <p:spPr>
            <a:xfrm>
              <a:off x="0" y="0"/>
              <a:ext cx="13017500" cy="2820431"/>
            </a:xfrm>
            <a:prstGeom prst="rect">
              <a:avLst/>
            </a:prstGeom>
          </p:spPr>
          <p:txBody>
            <a:bodyPr lIns="0" tIns="0" rIns="0" bIns="0" rtlCol="0" anchor="t">
              <a:spAutoFit/>
            </a:bodyPr>
            <a:lstStyle/>
            <a:p>
              <a:pPr defTabSz="612648">
                <a:lnSpc>
                  <a:spcPts val="5627"/>
                </a:lnSpc>
                <a:spcAft>
                  <a:spcPts val="600"/>
                </a:spcAft>
              </a:pPr>
              <a:r>
                <a:rPr lang="en-US" sz="4689" kern="1200" spc="-93">
                  <a:solidFill>
                    <a:srgbClr val="44585C"/>
                  </a:solidFill>
                  <a:latin typeface="Tenor Sans"/>
                  <a:ea typeface="+mn-ea"/>
                  <a:cs typeface="+mn-cs"/>
                  <a:sym typeface="Tenor Sans"/>
                </a:rPr>
                <a:t>Why We Decided to make </a:t>
              </a:r>
              <a:r>
                <a:rPr lang="en-US" sz="4689" kern="1200" spc="-93" err="1">
                  <a:solidFill>
                    <a:srgbClr val="44585C"/>
                  </a:solidFill>
                  <a:latin typeface="Tenor Sans"/>
                  <a:ea typeface="+mn-ea"/>
                  <a:cs typeface="+mn-cs"/>
                  <a:sym typeface="Tenor Sans"/>
                </a:rPr>
                <a:t>CliniConnect</a:t>
              </a:r>
              <a:r>
                <a:rPr lang="en-US" sz="4689" kern="1200" spc="-93">
                  <a:solidFill>
                    <a:srgbClr val="44585C"/>
                  </a:solidFill>
                  <a:latin typeface="Tenor Sans"/>
                  <a:ea typeface="+mn-ea"/>
                  <a:cs typeface="+mn-cs"/>
                  <a:sym typeface="Tenor Sans"/>
                </a:rPr>
                <a:t>?</a:t>
              </a:r>
              <a:endParaRPr lang="en-US" sz="6999" spc="-139">
                <a:solidFill>
                  <a:srgbClr val="D6E6E9"/>
                </a:solidFill>
                <a:latin typeface="Tenor Sans"/>
                <a:ea typeface="Tenor Sans"/>
                <a:cs typeface="Tenor Sans"/>
                <a:sym typeface="Tenor Sans"/>
              </a:endParaRPr>
            </a:p>
          </p:txBody>
        </p:sp>
      </p:grpSp>
      <p:pic>
        <p:nvPicPr>
          <p:cNvPr id="16" name="Picture 15" descr="A person sitting at a computer&#10;&#10;AI-generated content may be incorrect.">
            <a:extLst>
              <a:ext uri="{FF2B5EF4-FFF2-40B4-BE49-F238E27FC236}">
                <a16:creationId xmlns:a16="http://schemas.microsoft.com/office/drawing/2014/main" id="{D015D575-3DD9-7714-D049-FD6DFFB0D3B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307086" y="5484197"/>
            <a:ext cx="5470539" cy="321679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175F651-4989-E580-4E08-682CDC0F2E72}"/>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7998" cy="102860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625226"/>
            <a:ext cx="532796" cy="1010190"/>
            <a:chOff x="0" y="823811"/>
            <a:chExt cx="355196" cy="673460"/>
          </a:xfrm>
        </p:grpSpPr>
        <p:sp>
          <p:nvSpPr>
            <p:cNvPr id="28" name="Rectangle 27">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Rectangle 30">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97627" y="3185731"/>
            <a:ext cx="7462599" cy="411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A96D45E9-453D-9D2C-8AD9-A69754E15949}"/>
              </a:ext>
            </a:extLst>
          </p:cNvPr>
          <p:cNvSpPr>
            <a:spLocks noChangeArrowheads="1"/>
          </p:cNvSpPr>
          <p:nvPr/>
        </p:nvSpPr>
        <p:spPr bwMode="auto">
          <a:xfrm>
            <a:off x="886078" y="3495757"/>
            <a:ext cx="7917099" cy="596937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228600" fontAlgn="base">
              <a:lnSpc>
                <a:spcPct val="90000"/>
              </a:lnSpc>
              <a:spcBef>
                <a:spcPct val="0"/>
              </a:spcBef>
              <a:spcAft>
                <a:spcPts val="600"/>
              </a:spcAft>
              <a:buClrTx/>
              <a:buSzTx/>
              <a:buFont typeface="Arial" panose="020B0604020202020204" pitchFamily="34" charset="0"/>
              <a:buChar char="•"/>
              <a:tabLst/>
            </a:pPr>
            <a:r>
              <a:rPr lang="en-US" altLang="en-US" sz="3000" spc="-139"/>
              <a:t>The idea is easily scalable as a digital platform connecting two parties: patient and clinic</a:t>
            </a:r>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n-US" sz="3000" spc="-139"/>
          </a:p>
          <a:p>
            <a:pPr marL="0" marR="0" lvl="0" indent="-228600" fontAlgn="base">
              <a:lnSpc>
                <a:spcPct val="90000"/>
              </a:lnSpc>
              <a:spcBef>
                <a:spcPct val="0"/>
              </a:spcBef>
              <a:spcAft>
                <a:spcPts val="600"/>
              </a:spcAft>
              <a:buClrTx/>
              <a:buSzTx/>
              <a:buFont typeface="Arial" panose="020B0604020202020204" pitchFamily="34" charset="0"/>
              <a:buChar char="•"/>
              <a:tabLst/>
            </a:pPr>
            <a:r>
              <a:rPr lang="en-US" altLang="en-US" sz="3000" spc="-139"/>
              <a:t>Clear revenue streams: booking commissions, clinic subscriptions, and extra services like reminders or tele-consultation</a:t>
            </a:r>
          </a:p>
          <a:p>
            <a:pPr marL="0" marR="0" lvl="0" indent="-228600" fontAlgn="base">
              <a:lnSpc>
                <a:spcPct val="90000"/>
              </a:lnSpc>
              <a:spcBef>
                <a:spcPct val="0"/>
              </a:spcBef>
              <a:spcAft>
                <a:spcPts val="600"/>
              </a:spcAft>
              <a:buClrTx/>
              <a:buSzTx/>
              <a:buFont typeface="Arial" panose="020B0604020202020204" pitchFamily="34" charset="0"/>
              <a:buChar char="•"/>
              <a:tabLst/>
            </a:pPr>
            <a:endParaRPr lang="en-US" altLang="en-US" sz="3000" spc="-139"/>
          </a:p>
          <a:p>
            <a:pPr marL="0" marR="0" lvl="0" indent="-228600" fontAlgn="base">
              <a:lnSpc>
                <a:spcPct val="90000"/>
              </a:lnSpc>
              <a:spcBef>
                <a:spcPct val="0"/>
              </a:spcBef>
              <a:spcAft>
                <a:spcPts val="600"/>
              </a:spcAft>
              <a:buClrTx/>
              <a:buSzTx/>
              <a:buFont typeface="Arial" panose="020B0604020202020204" pitchFamily="34" charset="0"/>
              <a:buChar char="•"/>
              <a:tabLst/>
            </a:pPr>
            <a:r>
              <a:rPr lang="en-US" altLang="en-US" sz="3000" spc="-139"/>
              <a:t>The platform improves clinic operational efficiency, creating real value for both sides, not just users</a:t>
            </a:r>
          </a:p>
        </p:txBody>
      </p:sp>
      <p:sp>
        <p:nvSpPr>
          <p:cNvPr id="33" name="Rectangle 32">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6046505" y="0"/>
            <a:ext cx="2241495" cy="10287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74530" y="536170"/>
            <a:ext cx="7268232" cy="438538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74530" y="5258218"/>
            <a:ext cx="7268232" cy="438538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person sitting at a table with a doctor and cat&#10;&#10;AI-generated content may be incorrect.">
            <a:extLst>
              <a:ext uri="{FF2B5EF4-FFF2-40B4-BE49-F238E27FC236}">
                <a16:creationId xmlns:a16="http://schemas.microsoft.com/office/drawing/2014/main" id="{BC649CF9-D9BD-8BFA-AFB0-154AD9FE13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185" y="5561841"/>
            <a:ext cx="5229252" cy="3778134"/>
          </a:xfrm>
          <a:prstGeom prst="rect">
            <a:avLst/>
          </a:prstGeom>
        </p:spPr>
      </p:pic>
      <p:grpSp>
        <p:nvGrpSpPr>
          <p:cNvPr id="4" name="Group 4">
            <a:extLst>
              <a:ext uri="{FF2B5EF4-FFF2-40B4-BE49-F238E27FC236}">
                <a16:creationId xmlns:a16="http://schemas.microsoft.com/office/drawing/2014/main" id="{26F1B6ED-302F-DB93-2898-F736985F75BC}"/>
              </a:ext>
            </a:extLst>
          </p:cNvPr>
          <p:cNvGrpSpPr/>
          <p:nvPr/>
        </p:nvGrpSpPr>
        <p:grpSpPr>
          <a:xfrm>
            <a:off x="10625134" y="1145234"/>
            <a:ext cx="6596150" cy="3233340"/>
            <a:chOff x="0" y="0"/>
            <a:chExt cx="13017500" cy="6380989"/>
          </a:xfrm>
        </p:grpSpPr>
        <p:sp>
          <p:nvSpPr>
            <p:cNvPr id="5" name="TextBox 5">
              <a:extLst>
                <a:ext uri="{FF2B5EF4-FFF2-40B4-BE49-F238E27FC236}">
                  <a16:creationId xmlns:a16="http://schemas.microsoft.com/office/drawing/2014/main" id="{9C43FEF2-6CC1-1601-BE5D-D2336B98B3BA}"/>
                </a:ext>
              </a:extLst>
            </p:cNvPr>
            <p:cNvSpPr txBox="1"/>
            <p:nvPr/>
          </p:nvSpPr>
          <p:spPr>
            <a:xfrm>
              <a:off x="0" y="4727729"/>
              <a:ext cx="13017500" cy="536215"/>
            </a:xfrm>
            <a:prstGeom prst="rect">
              <a:avLst/>
            </a:prstGeom>
          </p:spPr>
          <p:txBody>
            <a:bodyPr lIns="0" tIns="0" rIns="0" bIns="0" rtlCol="0" anchor="t">
              <a:spAutoFit/>
            </a:bodyPr>
            <a:lstStyle/>
            <a:p>
              <a:pPr marL="0" lvl="0" indent="0" algn="l">
                <a:lnSpc>
                  <a:spcPts val="3359"/>
                </a:lnSpc>
                <a:spcBef>
                  <a:spcPct val="0"/>
                </a:spcBef>
              </a:pPr>
              <a:endParaRPr lang="en-US" sz="2400" b="1">
                <a:solidFill>
                  <a:srgbClr val="D6E6E9"/>
                </a:solidFill>
                <a:latin typeface="Clear Sans Bold"/>
                <a:ea typeface="Clear Sans Bold"/>
                <a:cs typeface="Clear Sans Bold"/>
                <a:sym typeface="Clear Sans Bold"/>
              </a:endParaRPr>
            </a:p>
          </p:txBody>
        </p:sp>
        <p:sp>
          <p:nvSpPr>
            <p:cNvPr id="6" name="TextBox 6">
              <a:extLst>
                <a:ext uri="{FF2B5EF4-FFF2-40B4-BE49-F238E27FC236}">
                  <a16:creationId xmlns:a16="http://schemas.microsoft.com/office/drawing/2014/main" id="{F2D2AAD5-ED6B-7532-024E-8CE020E0BB61}"/>
                </a:ext>
              </a:extLst>
            </p:cNvPr>
            <p:cNvSpPr txBox="1"/>
            <p:nvPr/>
          </p:nvSpPr>
          <p:spPr>
            <a:xfrm>
              <a:off x="0" y="5921546"/>
              <a:ext cx="13017500" cy="459443"/>
            </a:xfrm>
            <a:prstGeom prst="rect">
              <a:avLst/>
            </a:prstGeom>
          </p:spPr>
          <p:txBody>
            <a:bodyPr lIns="0" tIns="0" rIns="0" bIns="0" rtlCol="0" anchor="t">
              <a:spAutoFit/>
            </a:bodyPr>
            <a:lstStyle/>
            <a:p>
              <a:pPr marL="0" lvl="0" indent="0" algn="l">
                <a:lnSpc>
                  <a:spcPts val="2939"/>
                </a:lnSpc>
                <a:spcBef>
                  <a:spcPct val="0"/>
                </a:spcBef>
              </a:pPr>
              <a:endParaRPr lang="en-US" sz="2099">
                <a:solidFill>
                  <a:srgbClr val="D6E6E9"/>
                </a:solidFill>
                <a:latin typeface="Clear Sans"/>
                <a:ea typeface="Clear Sans"/>
                <a:cs typeface="Clear Sans"/>
                <a:sym typeface="Clear Sans"/>
              </a:endParaRPr>
            </a:p>
          </p:txBody>
        </p:sp>
        <p:sp>
          <p:nvSpPr>
            <p:cNvPr id="7" name="TextBox 7">
              <a:extLst>
                <a:ext uri="{FF2B5EF4-FFF2-40B4-BE49-F238E27FC236}">
                  <a16:creationId xmlns:a16="http://schemas.microsoft.com/office/drawing/2014/main" id="{A03AB4C3-4D18-34B9-C3F6-A50F0A830488}"/>
                </a:ext>
              </a:extLst>
            </p:cNvPr>
            <p:cNvSpPr txBox="1"/>
            <p:nvPr/>
          </p:nvSpPr>
          <p:spPr>
            <a:xfrm>
              <a:off x="0" y="0"/>
              <a:ext cx="13017500" cy="2820431"/>
            </a:xfrm>
            <a:prstGeom prst="rect">
              <a:avLst/>
            </a:prstGeom>
          </p:spPr>
          <p:txBody>
            <a:bodyPr lIns="0" tIns="0" rIns="0" bIns="0" rtlCol="0" anchor="t">
              <a:spAutoFit/>
            </a:bodyPr>
            <a:lstStyle/>
            <a:p>
              <a:pPr defTabSz="609630">
                <a:lnSpc>
                  <a:spcPts val="5599"/>
                </a:lnSpc>
                <a:spcAft>
                  <a:spcPts val="678"/>
                </a:spcAft>
              </a:pPr>
              <a:r>
                <a:rPr lang="en-US" sz="4666" kern="1200" spc="-93" dirty="0">
                  <a:solidFill>
                    <a:srgbClr val="44585C"/>
                  </a:solidFill>
                  <a:latin typeface="Tenor Sans"/>
                  <a:ea typeface="+mn-ea"/>
                  <a:cs typeface="+mn-cs"/>
                  <a:sym typeface="Tenor Sans"/>
                </a:rPr>
                <a:t>Why Is it suitable as a business?</a:t>
              </a:r>
              <a:endParaRPr lang="en-US" sz="6999" spc="-139" dirty="0">
                <a:solidFill>
                  <a:srgbClr val="D6E6E9"/>
                </a:solidFill>
                <a:latin typeface="Tenor Sans"/>
                <a:ea typeface="Tenor Sans"/>
                <a:cs typeface="Tenor Sans"/>
                <a:sym typeface="Tenor Sans"/>
              </a:endParaRPr>
            </a:p>
          </p:txBody>
        </p:sp>
      </p:grpSp>
    </p:spTree>
    <p:extLst>
      <p:ext uri="{BB962C8B-B14F-4D97-AF65-F5344CB8AC3E}">
        <p14:creationId xmlns:p14="http://schemas.microsoft.com/office/powerpoint/2010/main" val="1996081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62021B-1F17-1908-102D-B0B266D89ABB}"/>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7998" cy="102860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319620" y="322802"/>
            <a:ext cx="1110996" cy="1775023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351" y="532438"/>
            <a:ext cx="9277459" cy="887281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916679" y="2917369"/>
            <a:ext cx="6035040" cy="411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2825494-D068-A758-CC48-675C513B67E2}"/>
              </a:ext>
            </a:extLst>
          </p:cNvPr>
          <p:cNvSpPr txBox="1"/>
          <p:nvPr/>
        </p:nvSpPr>
        <p:spPr>
          <a:xfrm>
            <a:off x="10858518" y="3046651"/>
            <a:ext cx="6424476" cy="526791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defPPr>
              <a:defRPr lang="en-US"/>
            </a:defPPr>
            <a:lvl1pPr marR="0" lvl="0" indent="0" eaLnBrk="0" fontAlgn="base" hangingPunct="0">
              <a:lnSpc>
                <a:spcPct val="100000"/>
              </a:lnSpc>
              <a:spcBef>
                <a:spcPct val="0"/>
              </a:spcBef>
              <a:spcAft>
                <a:spcPct val="0"/>
              </a:spcAft>
              <a:buClrTx/>
              <a:buSzTx/>
              <a:buFontTx/>
              <a:buChar char="•"/>
              <a:tabLst/>
              <a:defRPr sz="2800" spc="-139">
                <a:solidFill>
                  <a:srgbClr val="D6E6E9"/>
                </a:solidFill>
                <a:latin typeface="Tenor Sans"/>
              </a:defRPr>
            </a:lvl1pPr>
          </a:lstStyle>
          <a:p>
            <a:pPr indent="-228600" eaLnBrk="1" hangingPunct="1">
              <a:lnSpc>
                <a:spcPct val="90000"/>
              </a:lnSpc>
              <a:spcAft>
                <a:spcPts val="600"/>
              </a:spcAft>
              <a:buFont typeface="Arial" panose="020B0604020202020204" pitchFamily="34" charset="0"/>
              <a:buChar char="•"/>
            </a:pPr>
            <a:r>
              <a:rPr lang="en-US" sz="2700" dirty="0">
                <a:solidFill>
                  <a:schemeClr val="tx1"/>
                </a:solidFill>
                <a:latin typeface="+mn-lt"/>
              </a:rPr>
              <a:t>Data is a core element, not just reporting</a:t>
            </a:r>
          </a:p>
          <a:p>
            <a:pPr indent="-228600" eaLnBrk="1" hangingPunct="1">
              <a:lnSpc>
                <a:spcPct val="90000"/>
              </a:lnSpc>
              <a:spcAft>
                <a:spcPts val="600"/>
              </a:spcAft>
              <a:buFont typeface="Arial" panose="020B0604020202020204" pitchFamily="34" charset="0"/>
              <a:buChar char="•"/>
            </a:pPr>
            <a:endParaRPr lang="en-US" sz="2700" dirty="0">
              <a:solidFill>
                <a:schemeClr val="tx1"/>
              </a:solidFill>
              <a:latin typeface="+mn-lt"/>
            </a:endParaRPr>
          </a:p>
          <a:p>
            <a:pPr indent="-228600" eaLnBrk="1" hangingPunct="1">
              <a:lnSpc>
                <a:spcPct val="90000"/>
              </a:lnSpc>
              <a:spcAft>
                <a:spcPts val="600"/>
              </a:spcAft>
              <a:buFont typeface="Arial" panose="020B0604020202020204" pitchFamily="34" charset="0"/>
              <a:buChar char="•"/>
            </a:pPr>
            <a:r>
              <a:rPr lang="en-US" sz="2700" dirty="0">
                <a:solidFill>
                  <a:schemeClr val="tx1"/>
                </a:solidFill>
                <a:latin typeface="+mn-lt"/>
              </a:rPr>
              <a:t>Descriptive analysis revealed demand size, top specialties, and peak times</a:t>
            </a:r>
          </a:p>
          <a:p>
            <a:pPr indent="-228600" eaLnBrk="1" hangingPunct="1">
              <a:lnSpc>
                <a:spcPct val="90000"/>
              </a:lnSpc>
              <a:spcAft>
                <a:spcPts val="600"/>
              </a:spcAft>
              <a:buFont typeface="Arial" panose="020B0604020202020204" pitchFamily="34" charset="0"/>
              <a:buChar char="•"/>
            </a:pPr>
            <a:endParaRPr lang="en-US" sz="2700" dirty="0">
              <a:solidFill>
                <a:schemeClr val="tx1"/>
              </a:solidFill>
              <a:latin typeface="+mn-lt"/>
            </a:endParaRPr>
          </a:p>
          <a:p>
            <a:pPr indent="-228600" eaLnBrk="1" hangingPunct="1">
              <a:lnSpc>
                <a:spcPct val="90000"/>
              </a:lnSpc>
              <a:spcAft>
                <a:spcPts val="600"/>
              </a:spcAft>
              <a:buFont typeface="Arial" panose="020B0604020202020204" pitchFamily="34" charset="0"/>
              <a:buChar char="•"/>
            </a:pPr>
            <a:r>
              <a:rPr lang="en-US" sz="2700" dirty="0">
                <a:solidFill>
                  <a:schemeClr val="tx1"/>
                </a:solidFill>
                <a:latin typeface="+mn-lt"/>
              </a:rPr>
              <a:t>Key insights like clinic utilization exposed a major gap, enabling data-driven solutions such as better appointment distribution and reduced no-shows</a:t>
            </a:r>
          </a:p>
        </p:txBody>
      </p:sp>
      <p:sp>
        <p:nvSpPr>
          <p:cNvPr id="22" name="Rectangle 21">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515769" y="9080040"/>
            <a:ext cx="1110996" cy="231186"/>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4">
            <a:extLst>
              <a:ext uri="{FF2B5EF4-FFF2-40B4-BE49-F238E27FC236}">
                <a16:creationId xmlns:a16="http://schemas.microsoft.com/office/drawing/2014/main" id="{180F3C88-E367-8084-D112-664988E58C1E}"/>
              </a:ext>
            </a:extLst>
          </p:cNvPr>
          <p:cNvGrpSpPr/>
          <p:nvPr/>
        </p:nvGrpSpPr>
        <p:grpSpPr>
          <a:xfrm>
            <a:off x="864366" y="2899768"/>
            <a:ext cx="8442027" cy="4138160"/>
            <a:chOff x="0" y="0"/>
            <a:chExt cx="13017500" cy="6380989"/>
          </a:xfrm>
        </p:grpSpPr>
        <p:sp>
          <p:nvSpPr>
            <p:cNvPr id="5" name="TextBox 5">
              <a:extLst>
                <a:ext uri="{FF2B5EF4-FFF2-40B4-BE49-F238E27FC236}">
                  <a16:creationId xmlns:a16="http://schemas.microsoft.com/office/drawing/2014/main" id="{5E29C2C2-A679-6DED-908A-2C5ACFA21F1E}"/>
                </a:ext>
              </a:extLst>
            </p:cNvPr>
            <p:cNvSpPr txBox="1"/>
            <p:nvPr/>
          </p:nvSpPr>
          <p:spPr>
            <a:xfrm>
              <a:off x="0" y="4727729"/>
              <a:ext cx="13017500" cy="536215"/>
            </a:xfrm>
            <a:prstGeom prst="rect">
              <a:avLst/>
            </a:prstGeom>
          </p:spPr>
          <p:txBody>
            <a:bodyPr lIns="0" tIns="0" rIns="0" bIns="0" rtlCol="0" anchor="t">
              <a:spAutoFit/>
            </a:bodyPr>
            <a:lstStyle/>
            <a:p>
              <a:pPr marL="0" lvl="0" indent="0" algn="l">
                <a:lnSpc>
                  <a:spcPts val="3359"/>
                </a:lnSpc>
                <a:spcBef>
                  <a:spcPct val="0"/>
                </a:spcBef>
              </a:pPr>
              <a:endParaRPr lang="en-US" sz="2400" b="1">
                <a:solidFill>
                  <a:srgbClr val="D6E6E9"/>
                </a:solidFill>
                <a:latin typeface="Clear Sans Bold"/>
                <a:ea typeface="Clear Sans Bold"/>
                <a:cs typeface="Clear Sans Bold"/>
                <a:sym typeface="Clear Sans Bold"/>
              </a:endParaRPr>
            </a:p>
          </p:txBody>
        </p:sp>
        <p:sp>
          <p:nvSpPr>
            <p:cNvPr id="6" name="TextBox 6">
              <a:extLst>
                <a:ext uri="{FF2B5EF4-FFF2-40B4-BE49-F238E27FC236}">
                  <a16:creationId xmlns:a16="http://schemas.microsoft.com/office/drawing/2014/main" id="{210084B3-7C69-E772-9A70-4B42B57E1EB7}"/>
                </a:ext>
              </a:extLst>
            </p:cNvPr>
            <p:cNvSpPr txBox="1"/>
            <p:nvPr/>
          </p:nvSpPr>
          <p:spPr>
            <a:xfrm>
              <a:off x="0" y="5921546"/>
              <a:ext cx="13017500" cy="459443"/>
            </a:xfrm>
            <a:prstGeom prst="rect">
              <a:avLst/>
            </a:prstGeom>
          </p:spPr>
          <p:txBody>
            <a:bodyPr lIns="0" tIns="0" rIns="0" bIns="0" rtlCol="0" anchor="t">
              <a:spAutoFit/>
            </a:bodyPr>
            <a:lstStyle/>
            <a:p>
              <a:pPr marL="0" lvl="0" indent="0" algn="l">
                <a:lnSpc>
                  <a:spcPts val="2939"/>
                </a:lnSpc>
                <a:spcBef>
                  <a:spcPct val="0"/>
                </a:spcBef>
              </a:pPr>
              <a:endParaRPr lang="en-US" sz="2099">
                <a:solidFill>
                  <a:srgbClr val="D6E6E9"/>
                </a:solidFill>
                <a:latin typeface="Clear Sans"/>
                <a:ea typeface="Clear Sans"/>
                <a:cs typeface="Clear Sans"/>
                <a:sym typeface="Clear Sans"/>
              </a:endParaRPr>
            </a:p>
          </p:txBody>
        </p:sp>
        <p:sp>
          <p:nvSpPr>
            <p:cNvPr id="7" name="TextBox 7">
              <a:extLst>
                <a:ext uri="{FF2B5EF4-FFF2-40B4-BE49-F238E27FC236}">
                  <a16:creationId xmlns:a16="http://schemas.microsoft.com/office/drawing/2014/main" id="{1072A0E1-167E-726F-BE7F-32F2DA4AD4FC}"/>
                </a:ext>
              </a:extLst>
            </p:cNvPr>
            <p:cNvSpPr txBox="1"/>
            <p:nvPr/>
          </p:nvSpPr>
          <p:spPr>
            <a:xfrm>
              <a:off x="0" y="0"/>
              <a:ext cx="13017500" cy="1384140"/>
            </a:xfrm>
            <a:prstGeom prst="rect">
              <a:avLst/>
            </a:prstGeom>
          </p:spPr>
          <p:txBody>
            <a:bodyPr lIns="0" tIns="0" rIns="0" bIns="0" rtlCol="0" anchor="t">
              <a:spAutoFit/>
            </a:bodyPr>
            <a:lstStyle/>
            <a:p>
              <a:pPr defTabSz="786384">
                <a:lnSpc>
                  <a:spcPts val="7223"/>
                </a:lnSpc>
                <a:spcAft>
                  <a:spcPts val="600"/>
                </a:spcAft>
              </a:pPr>
              <a:r>
                <a:rPr lang="en-US" sz="6019" kern="1200" spc="-120">
                  <a:solidFill>
                    <a:srgbClr val="44585C"/>
                  </a:solidFill>
                  <a:latin typeface="Tenor Sans"/>
                  <a:ea typeface="+mn-ea"/>
                  <a:cs typeface="+mn-cs"/>
                  <a:sym typeface="Tenor Sans"/>
                </a:rPr>
                <a:t>What is the data role?</a:t>
              </a:r>
              <a:endParaRPr lang="en-US" sz="6999" spc="-139">
                <a:solidFill>
                  <a:srgbClr val="D6E6E9"/>
                </a:solidFill>
                <a:latin typeface="Tenor Sans"/>
                <a:ea typeface="Tenor Sans"/>
                <a:cs typeface="Tenor Sans"/>
                <a:sym typeface="Tenor Sans"/>
              </a:endParaRPr>
            </a:p>
          </p:txBody>
        </p:sp>
      </p:grpSp>
    </p:spTree>
    <p:extLst>
      <p:ext uri="{BB962C8B-B14F-4D97-AF65-F5344CB8AC3E}">
        <p14:creationId xmlns:p14="http://schemas.microsoft.com/office/powerpoint/2010/main" val="1151303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B85B3D8-1E85-4E55-9F6B-4DB259252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7998" cy="102860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2"/>
          <p:cNvSpPr txBox="1"/>
          <p:nvPr/>
        </p:nvSpPr>
        <p:spPr>
          <a:xfrm>
            <a:off x="1567542" y="2223946"/>
            <a:ext cx="5839098" cy="6299565"/>
          </a:xfrm>
          <a:prstGeom prst="rect">
            <a:avLst/>
          </a:prstGeom>
        </p:spPr>
        <p:txBody>
          <a:bodyPr vert="horz" lIns="91440" tIns="45720" rIns="91440" bIns="45720" rtlCol="0" anchor="ctr">
            <a:normAutofit/>
          </a:bodyPr>
          <a:lstStyle/>
          <a:p>
            <a:pPr lvl="0">
              <a:lnSpc>
                <a:spcPct val="90000"/>
              </a:lnSpc>
              <a:spcBef>
                <a:spcPct val="0"/>
              </a:spcBef>
              <a:spcAft>
                <a:spcPts val="600"/>
              </a:spcAft>
            </a:pPr>
            <a:r>
              <a:rPr lang="en-US" sz="8100" kern="1200" spc="-139">
                <a:solidFill>
                  <a:schemeClr val="tx1"/>
                </a:solidFill>
                <a:latin typeface="+mj-lt"/>
                <a:ea typeface="+mj-ea"/>
                <a:cs typeface="+mj-cs"/>
                <a:sym typeface="Tenor Sans"/>
              </a:rPr>
              <a:t>SWOT Analysis of </a:t>
            </a:r>
            <a:r>
              <a:rPr lang="en-US" sz="8100" kern="1200">
                <a:solidFill>
                  <a:schemeClr val="tx1"/>
                </a:solidFill>
                <a:latin typeface="+mj-lt"/>
                <a:ea typeface="+mj-ea"/>
                <a:cs typeface="+mj-cs"/>
                <a:sym typeface="Clear Sans"/>
              </a:rPr>
              <a:t>CliniConnect</a:t>
            </a:r>
            <a:endParaRPr lang="en-US" sz="8100" kern="1200" spc="-139">
              <a:solidFill>
                <a:schemeClr val="tx1"/>
              </a:solidFill>
              <a:latin typeface="+mj-lt"/>
              <a:ea typeface="+mj-ea"/>
              <a:cs typeface="+mj-cs"/>
              <a:sym typeface="Tenor Sans"/>
            </a:endParaRPr>
          </a:p>
        </p:txBody>
      </p:sp>
      <p:grpSp>
        <p:nvGrpSpPr>
          <p:cNvPr id="14" name="Group 13">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4731475"/>
            <a:ext cx="1097283" cy="1010190"/>
            <a:chOff x="3940602" y="308034"/>
            <a:chExt cx="2116791" cy="3428999"/>
          </a:xfrm>
          <a:solidFill>
            <a:schemeClr val="accent4"/>
          </a:solidFill>
        </p:grpSpPr>
        <p:sp>
          <p:nvSpPr>
            <p:cNvPr id="15" name="Rectangle 14">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6046505" y="0"/>
            <a:ext cx="2241495" cy="10287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28715" y="1474464"/>
            <a:ext cx="9014049" cy="76809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3"/>
          <p:cNvGrpSpPr/>
          <p:nvPr/>
        </p:nvGrpSpPr>
        <p:grpSpPr>
          <a:xfrm>
            <a:off x="9445174" y="1942068"/>
            <a:ext cx="7197442" cy="6870461"/>
            <a:chOff x="0" y="-47625"/>
            <a:chExt cx="7264400" cy="6934385"/>
          </a:xfrm>
        </p:grpSpPr>
        <p:sp>
          <p:nvSpPr>
            <p:cNvPr id="4" name="TextBox 4"/>
            <p:cNvSpPr txBox="1"/>
            <p:nvPr/>
          </p:nvSpPr>
          <p:spPr>
            <a:xfrm>
              <a:off x="0" y="-47625"/>
              <a:ext cx="7264400" cy="536215"/>
            </a:xfrm>
            <a:prstGeom prst="rect">
              <a:avLst/>
            </a:prstGeom>
          </p:spPr>
          <p:txBody>
            <a:bodyPr lIns="0" tIns="0" rIns="0" bIns="0" rtlCol="0" anchor="t">
              <a:spAutoFit/>
            </a:bodyPr>
            <a:lstStyle/>
            <a:p>
              <a:pPr defTabSz="1207008">
                <a:lnSpc>
                  <a:spcPts val="4435"/>
                </a:lnSpc>
                <a:spcBef>
                  <a:spcPct val="0"/>
                </a:spcBef>
                <a:spcAft>
                  <a:spcPts val="600"/>
                </a:spcAft>
              </a:pPr>
              <a:r>
                <a:rPr lang="en-US" sz="3168" b="1" kern="1200">
                  <a:solidFill>
                    <a:srgbClr val="44585C"/>
                  </a:solidFill>
                  <a:latin typeface="Clear Sans Medium"/>
                  <a:ea typeface="+mn-ea"/>
                  <a:cs typeface="+mn-cs"/>
                  <a:sym typeface="Clear Sans Medium"/>
                </a:rPr>
                <a:t>STRENGTHS</a:t>
              </a:r>
              <a:endParaRPr lang="en-US" sz="2400" b="1">
                <a:solidFill>
                  <a:srgbClr val="D6E6E9"/>
                </a:solidFill>
                <a:latin typeface="Clear Sans Medium"/>
                <a:ea typeface="Clear Sans Medium"/>
                <a:cs typeface="Clear Sans Medium"/>
                <a:sym typeface="Clear Sans Medium"/>
              </a:endParaRPr>
            </a:p>
          </p:txBody>
        </p:sp>
        <p:sp>
          <p:nvSpPr>
            <p:cNvPr id="5" name="TextBox 5"/>
            <p:cNvSpPr txBox="1"/>
            <p:nvPr/>
          </p:nvSpPr>
          <p:spPr>
            <a:xfrm>
              <a:off x="0" y="878056"/>
              <a:ext cx="7264400" cy="2938754"/>
            </a:xfrm>
            <a:prstGeom prst="rect">
              <a:avLst/>
            </a:prstGeom>
          </p:spPr>
          <p:txBody>
            <a:bodyPr lIns="0" tIns="0" rIns="0" bIns="0" rtlCol="0" anchor="t">
              <a:spAutoFit/>
            </a:bodyPr>
            <a:lstStyle/>
            <a:p>
              <a:pPr defTabSz="1207008">
                <a:lnSpc>
                  <a:spcPts val="3879"/>
                </a:lnSpc>
                <a:spcBef>
                  <a:spcPct val="0"/>
                </a:spcBef>
                <a:spcAft>
                  <a:spcPts val="600"/>
                </a:spcAft>
              </a:pPr>
              <a:r>
                <a:rPr lang="en-US" sz="2771" kern="1200" err="1">
                  <a:solidFill>
                    <a:srgbClr val="44585C"/>
                  </a:solidFill>
                  <a:latin typeface="Clear Sans"/>
                  <a:ea typeface="+mn-ea"/>
                  <a:cs typeface="+mn-cs"/>
                  <a:sym typeface="Clear Sans"/>
                </a:rPr>
                <a:t>CliniConnect</a:t>
              </a:r>
              <a:r>
                <a:rPr lang="en-US" sz="2771" kern="1200">
                  <a:solidFill>
                    <a:srgbClr val="44585C"/>
                  </a:solidFill>
                  <a:latin typeface="Clear Sans"/>
                  <a:ea typeface="+mn-ea"/>
                  <a:cs typeface="+mn-cs"/>
                  <a:sym typeface="Clear Sans"/>
                </a:rPr>
                <a:t> leverages </a:t>
              </a:r>
              <a:r>
                <a:rPr lang="en-US" sz="2771" b="1" kern="1200">
                  <a:solidFill>
                    <a:srgbClr val="44585C"/>
                  </a:solidFill>
                  <a:latin typeface="Clear Sans Bold"/>
                  <a:ea typeface="+mn-ea"/>
                  <a:cs typeface="+mn-cs"/>
                  <a:sym typeface="Clear Sans Bold"/>
                </a:rPr>
                <a:t>local market knowledge</a:t>
              </a:r>
              <a:r>
                <a:rPr lang="en-US" sz="2771" kern="1200">
                  <a:solidFill>
                    <a:srgbClr val="44585C"/>
                  </a:solidFill>
                  <a:latin typeface="Clear Sans"/>
                  <a:ea typeface="+mn-ea"/>
                  <a:cs typeface="+mn-cs"/>
                  <a:sym typeface="Clear Sans"/>
                </a:rPr>
                <a:t> to create a user-friendly platform that simplifies patients’ interactions in Egypt's healthcare landscape. Also, it will get revenue from all the clinics contracted with it as of marketing and the process.</a:t>
              </a:r>
              <a:endParaRPr lang="en-US" sz="2099">
                <a:solidFill>
                  <a:srgbClr val="D6E6E9"/>
                </a:solidFill>
                <a:latin typeface="Clear Sans"/>
                <a:ea typeface="Clear Sans"/>
                <a:cs typeface="Clear Sans"/>
                <a:sym typeface="Clear Sans"/>
              </a:endParaRPr>
            </a:p>
          </p:txBody>
        </p:sp>
        <p:sp>
          <p:nvSpPr>
            <p:cNvPr id="6" name="TextBox 6"/>
            <p:cNvSpPr txBox="1"/>
            <p:nvPr/>
          </p:nvSpPr>
          <p:spPr>
            <a:xfrm>
              <a:off x="0" y="4312673"/>
              <a:ext cx="7264400" cy="536215"/>
            </a:xfrm>
            <a:prstGeom prst="rect">
              <a:avLst/>
            </a:prstGeom>
          </p:spPr>
          <p:txBody>
            <a:bodyPr lIns="0" tIns="0" rIns="0" bIns="0" rtlCol="0" anchor="t">
              <a:spAutoFit/>
            </a:bodyPr>
            <a:lstStyle/>
            <a:p>
              <a:pPr defTabSz="1207008">
                <a:lnSpc>
                  <a:spcPts val="4435"/>
                </a:lnSpc>
                <a:spcBef>
                  <a:spcPct val="0"/>
                </a:spcBef>
                <a:spcAft>
                  <a:spcPts val="600"/>
                </a:spcAft>
              </a:pPr>
              <a:r>
                <a:rPr lang="en-US" sz="3168" b="1" kern="1200">
                  <a:solidFill>
                    <a:srgbClr val="44585C"/>
                  </a:solidFill>
                  <a:latin typeface="Clear Sans Medium"/>
                  <a:ea typeface="+mn-ea"/>
                  <a:cs typeface="+mn-cs"/>
                  <a:sym typeface="Clear Sans Medium"/>
                </a:rPr>
                <a:t>WEAKNESSES</a:t>
              </a:r>
              <a:endParaRPr lang="en-US" sz="2400" b="1">
                <a:solidFill>
                  <a:srgbClr val="D6E6E9"/>
                </a:solidFill>
                <a:latin typeface="Clear Sans Medium"/>
                <a:ea typeface="Clear Sans Medium"/>
                <a:cs typeface="Clear Sans Medium"/>
                <a:sym typeface="Clear Sans Medium"/>
              </a:endParaRPr>
            </a:p>
          </p:txBody>
        </p:sp>
        <p:sp>
          <p:nvSpPr>
            <p:cNvPr id="7" name="TextBox 7"/>
            <p:cNvSpPr txBox="1"/>
            <p:nvPr/>
          </p:nvSpPr>
          <p:spPr>
            <a:xfrm>
              <a:off x="0" y="4949603"/>
              <a:ext cx="7264400" cy="1937157"/>
            </a:xfrm>
            <a:prstGeom prst="rect">
              <a:avLst/>
            </a:prstGeom>
          </p:spPr>
          <p:txBody>
            <a:bodyPr lIns="0" tIns="0" rIns="0" bIns="0" rtlCol="0" anchor="t">
              <a:spAutoFit/>
            </a:bodyPr>
            <a:lstStyle/>
            <a:p>
              <a:pPr defTabSz="1207008">
                <a:lnSpc>
                  <a:spcPts val="3879"/>
                </a:lnSpc>
                <a:spcBef>
                  <a:spcPct val="0"/>
                </a:spcBef>
                <a:spcAft>
                  <a:spcPts val="600"/>
                </a:spcAft>
              </a:pPr>
              <a:r>
                <a:rPr lang="en-US" sz="2771" kern="1200">
                  <a:solidFill>
                    <a:srgbClr val="44585C"/>
                  </a:solidFill>
                  <a:latin typeface="Clear Sans"/>
                  <a:ea typeface="+mn-ea"/>
                  <a:cs typeface="+mn-cs"/>
                  <a:sym typeface="Clear Sans"/>
                </a:rPr>
                <a:t>As a new entrant, </a:t>
              </a:r>
              <a:r>
                <a:rPr lang="en-US" sz="2771" kern="1200" err="1">
                  <a:solidFill>
                    <a:srgbClr val="44585C"/>
                  </a:solidFill>
                  <a:latin typeface="Clear Sans"/>
                  <a:ea typeface="+mn-ea"/>
                  <a:cs typeface="+mn-cs"/>
                  <a:sym typeface="Clear Sans"/>
                </a:rPr>
                <a:t>CliniConnect</a:t>
              </a:r>
              <a:r>
                <a:rPr lang="en-US" sz="2771" kern="1200">
                  <a:solidFill>
                    <a:srgbClr val="44585C"/>
                  </a:solidFill>
                  <a:latin typeface="Clear Sans"/>
                  <a:ea typeface="+mn-ea"/>
                  <a:cs typeface="+mn-cs"/>
                  <a:sym typeface="Clear Sans"/>
                </a:rPr>
                <a:t> faces </a:t>
              </a:r>
              <a:r>
                <a:rPr lang="en-US" sz="2771" b="1" kern="1200">
                  <a:solidFill>
                    <a:srgbClr val="44585C"/>
                  </a:solidFill>
                  <a:latin typeface="Clear Sans Bold"/>
                  <a:ea typeface="+mn-ea"/>
                  <a:cs typeface="+mn-cs"/>
                  <a:sym typeface="Clear Sans Bold"/>
                </a:rPr>
                <a:t>technology adoption barriers</a:t>
              </a:r>
              <a:r>
                <a:rPr lang="en-US" sz="2771" kern="1200">
                  <a:solidFill>
                    <a:srgbClr val="44585C"/>
                  </a:solidFill>
                  <a:latin typeface="Clear Sans"/>
                  <a:ea typeface="+mn-ea"/>
                  <a:cs typeface="+mn-cs"/>
                  <a:sym typeface="Clear Sans"/>
                </a:rPr>
                <a:t> among users and must ensure strong cooperation from clinics to succeed.</a:t>
              </a:r>
              <a:endParaRPr lang="en-US" sz="2099">
                <a:solidFill>
                  <a:srgbClr val="D6E6E9"/>
                </a:solidFill>
                <a:latin typeface="Clear Sans"/>
                <a:ea typeface="Clear Sans"/>
                <a:cs typeface="Clear Sans"/>
                <a:sym typeface="Clear San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1F6BF70-C7D1-4AF9-8DB4-BEEB8A9C35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7998" cy="102860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2"/>
          <p:cNvSpPr txBox="1"/>
          <p:nvPr/>
        </p:nvSpPr>
        <p:spPr>
          <a:xfrm>
            <a:off x="967597" y="1645920"/>
            <a:ext cx="5694459" cy="6999310"/>
          </a:xfrm>
          <a:prstGeom prst="rect">
            <a:avLst/>
          </a:prstGeom>
        </p:spPr>
        <p:txBody>
          <a:bodyPr vert="horz" lIns="91440" tIns="45720" rIns="91440" bIns="45720" rtlCol="0" anchor="ctr">
            <a:normAutofit/>
          </a:bodyPr>
          <a:lstStyle/>
          <a:p>
            <a:pPr marL="0" lvl="0" indent="0">
              <a:lnSpc>
                <a:spcPct val="90000"/>
              </a:lnSpc>
              <a:spcBef>
                <a:spcPct val="0"/>
              </a:spcBef>
              <a:spcAft>
                <a:spcPts val="600"/>
              </a:spcAft>
            </a:pPr>
            <a:r>
              <a:rPr lang="en-US" sz="7200" kern="1200" spc="-139">
                <a:solidFill>
                  <a:schemeClr val="tx1"/>
                </a:solidFill>
                <a:latin typeface="+mj-lt"/>
                <a:ea typeface="+mj-ea"/>
                <a:cs typeface="+mj-cs"/>
                <a:sym typeface="Tenor Sans"/>
              </a:rPr>
              <a:t>Opportunities and Threats</a:t>
            </a:r>
          </a:p>
        </p:txBody>
      </p:sp>
      <p:grpSp>
        <p:nvGrpSpPr>
          <p:cNvPr id="14" name="Group 13">
            <a:extLst>
              <a:ext uri="{FF2B5EF4-FFF2-40B4-BE49-F238E27FC236}">
                <a16:creationId xmlns:a16="http://schemas.microsoft.com/office/drawing/2014/main" id="{0C66A8B6-1F6E-4FCC-93B9-B9986B6FD1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3864" y="8918932"/>
            <a:ext cx="18164135" cy="788670"/>
            <a:chOff x="82576" y="5945955"/>
            <a:chExt cx="12109423" cy="525780"/>
          </a:xfrm>
        </p:grpSpPr>
        <p:sp>
          <p:nvSpPr>
            <p:cNvPr id="15" name="Rectangle 14">
              <a:extLst>
                <a:ext uri="{FF2B5EF4-FFF2-40B4-BE49-F238E27FC236}">
                  <a16:creationId xmlns:a16="http://schemas.microsoft.com/office/drawing/2014/main" id="{CAF7C4FD-65AD-4BBE-886A-D2E923F94C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0336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BA8278B-6DF7-481F-B1FA-FFE7D6C3C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flipH="1">
              <a:off x="5998176"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700559" y="881743"/>
            <a:ext cx="9757950" cy="852351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3"/>
          <p:cNvGrpSpPr/>
          <p:nvPr/>
        </p:nvGrpSpPr>
        <p:grpSpPr>
          <a:xfrm>
            <a:off x="8932002" y="1521229"/>
            <a:ext cx="7307879" cy="7468982"/>
            <a:chOff x="0" y="-47625"/>
            <a:chExt cx="7264400" cy="7424548"/>
          </a:xfrm>
        </p:grpSpPr>
        <p:sp>
          <p:nvSpPr>
            <p:cNvPr id="4" name="TextBox 4"/>
            <p:cNvSpPr txBox="1"/>
            <p:nvPr/>
          </p:nvSpPr>
          <p:spPr>
            <a:xfrm>
              <a:off x="0" y="-47625"/>
              <a:ext cx="7264400" cy="536215"/>
            </a:xfrm>
            <a:prstGeom prst="rect">
              <a:avLst/>
            </a:prstGeom>
          </p:spPr>
          <p:txBody>
            <a:bodyPr lIns="0" tIns="0" rIns="0" bIns="0" rtlCol="0" anchor="t">
              <a:spAutoFit/>
            </a:bodyPr>
            <a:lstStyle/>
            <a:p>
              <a:pPr defTabSz="1225296">
                <a:lnSpc>
                  <a:spcPts val="4502"/>
                </a:lnSpc>
                <a:spcBef>
                  <a:spcPct val="0"/>
                </a:spcBef>
                <a:spcAft>
                  <a:spcPts val="600"/>
                </a:spcAft>
              </a:pPr>
              <a:r>
                <a:rPr lang="en-US" sz="3216" b="1" kern="1200">
                  <a:solidFill>
                    <a:srgbClr val="44585C"/>
                  </a:solidFill>
                  <a:latin typeface="Clear Sans Medium"/>
                  <a:ea typeface="+mn-ea"/>
                  <a:cs typeface="+mn-cs"/>
                  <a:sym typeface="Clear Sans Medium"/>
                </a:rPr>
                <a:t>Opportunities</a:t>
              </a:r>
              <a:endParaRPr lang="en-US" sz="2400" b="1">
                <a:solidFill>
                  <a:srgbClr val="D6E6E9"/>
                </a:solidFill>
                <a:latin typeface="Clear Sans Medium"/>
                <a:ea typeface="Clear Sans Medium"/>
                <a:cs typeface="Clear Sans Medium"/>
                <a:sym typeface="Clear Sans Medium"/>
              </a:endParaRPr>
            </a:p>
          </p:txBody>
        </p:sp>
        <p:sp>
          <p:nvSpPr>
            <p:cNvPr id="5" name="TextBox 5"/>
            <p:cNvSpPr txBox="1"/>
            <p:nvPr/>
          </p:nvSpPr>
          <p:spPr>
            <a:xfrm>
              <a:off x="0" y="878058"/>
              <a:ext cx="7264400" cy="1937157"/>
            </a:xfrm>
            <a:prstGeom prst="rect">
              <a:avLst/>
            </a:prstGeom>
          </p:spPr>
          <p:txBody>
            <a:bodyPr lIns="0" tIns="0" rIns="0" bIns="0" rtlCol="0" anchor="t">
              <a:spAutoFit/>
            </a:bodyPr>
            <a:lstStyle/>
            <a:p>
              <a:pPr defTabSz="1225296">
                <a:lnSpc>
                  <a:spcPts val="3938"/>
                </a:lnSpc>
                <a:spcBef>
                  <a:spcPct val="0"/>
                </a:spcBef>
                <a:spcAft>
                  <a:spcPts val="600"/>
                </a:spcAft>
              </a:pPr>
              <a:r>
                <a:rPr lang="en-US" sz="2813" kern="1200">
                  <a:solidFill>
                    <a:srgbClr val="44585C"/>
                  </a:solidFill>
                  <a:latin typeface="Clear Sans"/>
                  <a:ea typeface="+mn-ea"/>
                  <a:cs typeface="+mn-cs"/>
                  <a:sym typeface="Clear Sans"/>
                </a:rPr>
                <a:t>The increasing demand for </a:t>
              </a:r>
              <a:r>
                <a:rPr lang="en-US" sz="2813" b="1" kern="1200">
                  <a:solidFill>
                    <a:srgbClr val="44585C"/>
                  </a:solidFill>
                  <a:latin typeface="Clear Sans Bold"/>
                  <a:ea typeface="+mn-ea"/>
                  <a:cs typeface="+mn-cs"/>
                  <a:sym typeface="Clear Sans Bold"/>
                </a:rPr>
                <a:t>digital health solutions</a:t>
              </a:r>
              <a:r>
                <a:rPr lang="en-US" sz="2813" kern="1200">
                  <a:solidFill>
                    <a:srgbClr val="44585C"/>
                  </a:solidFill>
                  <a:latin typeface="Clear Sans"/>
                  <a:ea typeface="+mn-ea"/>
                  <a:cs typeface="+mn-cs"/>
                  <a:sym typeface="Clear Sans"/>
                </a:rPr>
                <a:t> presents significant opportunities for </a:t>
              </a:r>
              <a:r>
                <a:rPr lang="en-US" sz="2813" kern="1200" err="1">
                  <a:solidFill>
                    <a:srgbClr val="44585C"/>
                  </a:solidFill>
                  <a:latin typeface="Clear Sans"/>
                  <a:ea typeface="+mn-ea"/>
                  <a:cs typeface="+mn-cs"/>
                  <a:sym typeface="Clear Sans"/>
                </a:rPr>
                <a:t>CliniConnect</a:t>
              </a:r>
              <a:r>
                <a:rPr lang="en-US" sz="2813" kern="1200">
                  <a:solidFill>
                    <a:srgbClr val="44585C"/>
                  </a:solidFill>
                  <a:latin typeface="Clear Sans"/>
                  <a:ea typeface="+mn-ea"/>
                  <a:cs typeface="+mn-cs"/>
                  <a:sym typeface="Clear Sans"/>
                </a:rPr>
                <a:t> to enhance patient access and convenience in Egypt.</a:t>
              </a:r>
              <a:endParaRPr lang="en-US" sz="2099">
                <a:solidFill>
                  <a:srgbClr val="D6E6E9"/>
                </a:solidFill>
                <a:latin typeface="Clear Sans"/>
                <a:ea typeface="Clear Sans"/>
                <a:cs typeface="Clear Sans"/>
                <a:sym typeface="Clear Sans"/>
              </a:endParaRPr>
            </a:p>
          </p:txBody>
        </p:sp>
        <p:sp>
          <p:nvSpPr>
            <p:cNvPr id="6" name="TextBox 6"/>
            <p:cNvSpPr txBox="1"/>
            <p:nvPr/>
          </p:nvSpPr>
          <p:spPr>
            <a:xfrm>
              <a:off x="0" y="4023921"/>
              <a:ext cx="7264400" cy="536215"/>
            </a:xfrm>
            <a:prstGeom prst="rect">
              <a:avLst/>
            </a:prstGeom>
          </p:spPr>
          <p:txBody>
            <a:bodyPr lIns="0" tIns="0" rIns="0" bIns="0" rtlCol="0" anchor="t">
              <a:spAutoFit/>
            </a:bodyPr>
            <a:lstStyle/>
            <a:p>
              <a:pPr defTabSz="1225296">
                <a:lnSpc>
                  <a:spcPts val="4502"/>
                </a:lnSpc>
                <a:spcBef>
                  <a:spcPct val="0"/>
                </a:spcBef>
                <a:spcAft>
                  <a:spcPts val="600"/>
                </a:spcAft>
              </a:pPr>
              <a:r>
                <a:rPr lang="en-US" sz="3216" b="1" kern="1200">
                  <a:solidFill>
                    <a:srgbClr val="44585C"/>
                  </a:solidFill>
                  <a:latin typeface="Clear Sans Medium"/>
                  <a:ea typeface="+mn-ea"/>
                  <a:cs typeface="+mn-cs"/>
                  <a:sym typeface="Clear Sans Medium"/>
                </a:rPr>
                <a:t>Threats</a:t>
              </a:r>
              <a:endParaRPr lang="en-US" sz="2400" b="1">
                <a:solidFill>
                  <a:srgbClr val="D6E6E9"/>
                </a:solidFill>
                <a:latin typeface="Clear Sans Medium"/>
                <a:ea typeface="Clear Sans Medium"/>
                <a:cs typeface="Clear Sans Medium"/>
                <a:sym typeface="Clear Sans Medium"/>
              </a:endParaRPr>
            </a:p>
          </p:txBody>
        </p:sp>
        <p:sp>
          <p:nvSpPr>
            <p:cNvPr id="7" name="TextBox 7"/>
            <p:cNvSpPr txBox="1"/>
            <p:nvPr/>
          </p:nvSpPr>
          <p:spPr>
            <a:xfrm>
              <a:off x="0" y="4949603"/>
              <a:ext cx="7264400" cy="2427320"/>
            </a:xfrm>
            <a:prstGeom prst="rect">
              <a:avLst/>
            </a:prstGeom>
          </p:spPr>
          <p:txBody>
            <a:bodyPr lIns="0" tIns="0" rIns="0" bIns="0" rtlCol="0" anchor="t">
              <a:spAutoFit/>
            </a:bodyPr>
            <a:lstStyle/>
            <a:p>
              <a:pPr defTabSz="1225296">
                <a:lnSpc>
                  <a:spcPts val="3938"/>
                </a:lnSpc>
                <a:spcBef>
                  <a:spcPct val="0"/>
                </a:spcBef>
                <a:spcAft>
                  <a:spcPts val="600"/>
                </a:spcAft>
              </a:pPr>
              <a:r>
                <a:rPr lang="en-US" sz="2813" kern="1200">
                  <a:solidFill>
                    <a:srgbClr val="44585C"/>
                  </a:solidFill>
                  <a:latin typeface="Clear Sans"/>
                  <a:ea typeface="+mn-ea"/>
                  <a:cs typeface="+mn-cs"/>
                  <a:sym typeface="Clear Sans"/>
                </a:rPr>
                <a:t>Regulatory changes and competition from established players pose challenges, potentially impacting </a:t>
              </a:r>
              <a:r>
                <a:rPr lang="en-US" sz="2813" kern="1200" err="1">
                  <a:solidFill>
                    <a:srgbClr val="44585C"/>
                  </a:solidFill>
                  <a:latin typeface="Clear Sans"/>
                  <a:ea typeface="+mn-ea"/>
                  <a:cs typeface="+mn-cs"/>
                  <a:sym typeface="Clear Sans"/>
                </a:rPr>
                <a:t>CliniConnect’s</a:t>
              </a:r>
              <a:r>
                <a:rPr lang="en-US" sz="2813" kern="1200">
                  <a:solidFill>
                    <a:srgbClr val="44585C"/>
                  </a:solidFill>
                  <a:latin typeface="Clear Sans"/>
                  <a:ea typeface="+mn-ea"/>
                  <a:cs typeface="+mn-cs"/>
                  <a:sym typeface="Clear Sans"/>
                </a:rPr>
                <a:t> market entry and growth strategies in the healthcare landscape.</a:t>
              </a:r>
              <a:endParaRPr lang="en-US" sz="2099">
                <a:solidFill>
                  <a:srgbClr val="D6E6E9"/>
                </a:solidFill>
                <a:latin typeface="Clear Sans"/>
                <a:ea typeface="Clear Sans"/>
                <a:cs typeface="Clear Sans"/>
                <a:sym typeface="Clear Sans"/>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4FACCB-498F-9DA6-5C5F-48C55B498B70}"/>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B85B3D8-1E85-4E55-9F6B-4DB259252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7998" cy="102860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2">
            <a:extLst>
              <a:ext uri="{FF2B5EF4-FFF2-40B4-BE49-F238E27FC236}">
                <a16:creationId xmlns:a16="http://schemas.microsoft.com/office/drawing/2014/main" id="{3BCA3C41-850F-22FA-2B9F-16EA9407EF5F}"/>
              </a:ext>
            </a:extLst>
          </p:cNvPr>
          <p:cNvSpPr txBox="1"/>
          <p:nvPr/>
        </p:nvSpPr>
        <p:spPr>
          <a:xfrm>
            <a:off x="1567542" y="2223946"/>
            <a:ext cx="5839098" cy="6299565"/>
          </a:xfrm>
          <a:prstGeom prst="rect">
            <a:avLst/>
          </a:prstGeom>
        </p:spPr>
        <p:txBody>
          <a:bodyPr vert="horz" lIns="91440" tIns="45720" rIns="91440" bIns="45720" rtlCol="0" anchor="ctr">
            <a:normAutofit/>
          </a:bodyPr>
          <a:lstStyle/>
          <a:p>
            <a:pPr marL="0" lvl="0" indent="0">
              <a:lnSpc>
                <a:spcPct val="90000"/>
              </a:lnSpc>
              <a:spcBef>
                <a:spcPct val="0"/>
              </a:spcBef>
              <a:spcAft>
                <a:spcPts val="600"/>
              </a:spcAft>
            </a:pPr>
            <a:r>
              <a:rPr lang="en-US" sz="8100" kern="1200" spc="-139">
                <a:solidFill>
                  <a:schemeClr val="tx1"/>
                </a:solidFill>
                <a:latin typeface="+mj-lt"/>
                <a:ea typeface="+mj-ea"/>
                <a:cs typeface="+mj-cs"/>
                <a:sym typeface="Tenor Sans"/>
              </a:rPr>
              <a:t>Project Steps:</a:t>
            </a:r>
          </a:p>
        </p:txBody>
      </p:sp>
      <p:grpSp>
        <p:nvGrpSpPr>
          <p:cNvPr id="14" name="Group 13">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4731475"/>
            <a:ext cx="1097283" cy="1010190"/>
            <a:chOff x="3940602" y="308034"/>
            <a:chExt cx="2116791" cy="3428999"/>
          </a:xfrm>
          <a:solidFill>
            <a:schemeClr val="accent4"/>
          </a:solidFill>
        </p:grpSpPr>
        <p:sp>
          <p:nvSpPr>
            <p:cNvPr id="15" name="Rectangle 14">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6046505" y="0"/>
            <a:ext cx="2241495" cy="10287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28715" y="1474464"/>
            <a:ext cx="9014049" cy="76809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3">
            <a:extLst>
              <a:ext uri="{FF2B5EF4-FFF2-40B4-BE49-F238E27FC236}">
                <a16:creationId xmlns:a16="http://schemas.microsoft.com/office/drawing/2014/main" id="{C5E82474-4418-7E25-6BA7-6690979E571A}"/>
              </a:ext>
            </a:extLst>
          </p:cNvPr>
          <p:cNvGrpSpPr/>
          <p:nvPr/>
        </p:nvGrpSpPr>
        <p:grpSpPr>
          <a:xfrm>
            <a:off x="8955261" y="4285407"/>
            <a:ext cx="8177270" cy="2598275"/>
            <a:chOff x="-13423900" y="-115889"/>
            <a:chExt cx="20688300" cy="6573572"/>
          </a:xfrm>
        </p:grpSpPr>
        <p:sp>
          <p:nvSpPr>
            <p:cNvPr id="4" name="TextBox 4">
              <a:extLst>
                <a:ext uri="{FF2B5EF4-FFF2-40B4-BE49-F238E27FC236}">
                  <a16:creationId xmlns:a16="http://schemas.microsoft.com/office/drawing/2014/main" id="{98B17CBF-27ED-B553-6772-6573E4D254C7}"/>
                </a:ext>
              </a:extLst>
            </p:cNvPr>
            <p:cNvSpPr txBox="1"/>
            <p:nvPr/>
          </p:nvSpPr>
          <p:spPr>
            <a:xfrm>
              <a:off x="-13423900" y="-115889"/>
              <a:ext cx="9923931" cy="6573572"/>
            </a:xfrm>
            <a:prstGeom prst="rect">
              <a:avLst/>
            </a:prstGeom>
          </p:spPr>
          <p:txBody>
            <a:bodyPr wrap="square" lIns="0" tIns="0" rIns="0" bIns="0" rtlCol="0" anchor="t">
              <a:spAutoFit/>
            </a:bodyPr>
            <a:lstStyle/>
            <a:p>
              <a:pPr marL="178308" indent="-178308" defTabSz="475488">
                <a:lnSpc>
                  <a:spcPts val="1747"/>
                </a:lnSpc>
                <a:spcBef>
                  <a:spcPct val="0"/>
                </a:spcBef>
                <a:spcAft>
                  <a:spcPts val="600"/>
                </a:spcAft>
                <a:buFontTx/>
                <a:buChar char="-"/>
              </a:pPr>
              <a:r>
                <a:rPr lang="en-US" sz="2400" b="1" kern="1200" dirty="0">
                  <a:solidFill>
                    <a:srgbClr val="44585C"/>
                  </a:solidFill>
                  <a:latin typeface="Clear Sans Medium"/>
                  <a:ea typeface="+mn-ea"/>
                  <a:cs typeface="+mn-cs"/>
                  <a:sym typeface="Clear Sans Medium"/>
                </a:rPr>
                <a:t>Data Exploration</a:t>
              </a:r>
            </a:p>
            <a:p>
              <a:pPr marL="178308" indent="-178308" defTabSz="475488">
                <a:lnSpc>
                  <a:spcPts val="1747"/>
                </a:lnSpc>
                <a:spcBef>
                  <a:spcPct val="0"/>
                </a:spcBef>
                <a:spcAft>
                  <a:spcPts val="600"/>
                </a:spcAft>
                <a:buFontTx/>
                <a:buChar char="-"/>
              </a:pPr>
              <a:endParaRPr lang="en-US" sz="2400" b="1" kern="1200" dirty="0">
                <a:solidFill>
                  <a:srgbClr val="44585C"/>
                </a:solidFill>
                <a:latin typeface="Clear Sans Medium"/>
                <a:ea typeface="+mn-ea"/>
                <a:cs typeface="+mn-cs"/>
                <a:sym typeface="Clear Sans Medium"/>
              </a:endParaRPr>
            </a:p>
            <a:p>
              <a:pPr marL="178308" indent="-178308" defTabSz="475488">
                <a:lnSpc>
                  <a:spcPts val="1747"/>
                </a:lnSpc>
                <a:spcBef>
                  <a:spcPct val="0"/>
                </a:spcBef>
                <a:spcAft>
                  <a:spcPts val="600"/>
                </a:spcAft>
                <a:buFontTx/>
                <a:buChar char="-"/>
              </a:pPr>
              <a:r>
                <a:rPr lang="en-US" sz="2400" b="1" kern="1200" dirty="0">
                  <a:solidFill>
                    <a:srgbClr val="44585C"/>
                  </a:solidFill>
                  <a:latin typeface="Clear Sans Medium"/>
                  <a:ea typeface="+mn-ea"/>
                  <a:cs typeface="+mn-cs"/>
                  <a:sym typeface="Clear Sans Medium"/>
                </a:rPr>
                <a:t>Data Cleaning</a:t>
              </a:r>
            </a:p>
            <a:p>
              <a:pPr marL="178308" indent="-178308" defTabSz="475488">
                <a:lnSpc>
                  <a:spcPts val="1747"/>
                </a:lnSpc>
                <a:spcBef>
                  <a:spcPct val="0"/>
                </a:spcBef>
                <a:spcAft>
                  <a:spcPts val="600"/>
                </a:spcAft>
                <a:buFontTx/>
                <a:buChar char="-"/>
              </a:pPr>
              <a:endParaRPr lang="en-US" sz="2400" b="1" kern="1200" dirty="0">
                <a:solidFill>
                  <a:srgbClr val="44585C"/>
                </a:solidFill>
                <a:latin typeface="Clear Sans Medium"/>
                <a:ea typeface="+mn-ea"/>
                <a:cs typeface="+mn-cs"/>
                <a:sym typeface="Clear Sans Medium"/>
              </a:endParaRPr>
            </a:p>
            <a:p>
              <a:pPr marL="178308" indent="-178308" defTabSz="475488">
                <a:lnSpc>
                  <a:spcPts val="1747"/>
                </a:lnSpc>
                <a:spcBef>
                  <a:spcPct val="0"/>
                </a:spcBef>
                <a:spcAft>
                  <a:spcPts val="600"/>
                </a:spcAft>
                <a:buFontTx/>
                <a:buChar char="-"/>
              </a:pPr>
              <a:r>
                <a:rPr lang="en-US" sz="2400" b="1" kern="1200" dirty="0">
                  <a:solidFill>
                    <a:srgbClr val="44585C"/>
                  </a:solidFill>
                  <a:latin typeface="Clear Sans Medium"/>
                  <a:ea typeface="+mn-ea"/>
                  <a:cs typeface="+mn-cs"/>
                  <a:sym typeface="Clear Sans Medium"/>
                </a:rPr>
                <a:t>Data Modeling</a:t>
              </a:r>
            </a:p>
            <a:p>
              <a:pPr marL="178308" indent="-178308" defTabSz="475488">
                <a:lnSpc>
                  <a:spcPts val="1747"/>
                </a:lnSpc>
                <a:spcBef>
                  <a:spcPct val="0"/>
                </a:spcBef>
                <a:spcAft>
                  <a:spcPts val="600"/>
                </a:spcAft>
                <a:buFontTx/>
                <a:buChar char="-"/>
              </a:pPr>
              <a:endParaRPr lang="en-US" sz="2400" b="1" kern="1200" dirty="0">
                <a:solidFill>
                  <a:srgbClr val="44585C"/>
                </a:solidFill>
                <a:latin typeface="Clear Sans Medium"/>
                <a:ea typeface="+mn-ea"/>
                <a:cs typeface="+mn-cs"/>
                <a:sym typeface="Clear Sans Medium"/>
              </a:endParaRPr>
            </a:p>
            <a:p>
              <a:pPr marL="178308" indent="-178308" defTabSz="475488">
                <a:lnSpc>
                  <a:spcPts val="1747"/>
                </a:lnSpc>
                <a:spcBef>
                  <a:spcPct val="0"/>
                </a:spcBef>
                <a:spcAft>
                  <a:spcPts val="600"/>
                </a:spcAft>
                <a:buFontTx/>
                <a:buChar char="-"/>
              </a:pPr>
              <a:r>
                <a:rPr lang="en-US" sz="2400" b="1" kern="1200" dirty="0">
                  <a:solidFill>
                    <a:srgbClr val="44585C"/>
                  </a:solidFill>
                  <a:latin typeface="Clear Sans Medium"/>
                  <a:ea typeface="+mn-ea"/>
                  <a:cs typeface="+mn-cs"/>
                  <a:sym typeface="Clear Sans Medium"/>
                </a:rPr>
                <a:t>Insights Extraction</a:t>
              </a:r>
            </a:p>
            <a:p>
              <a:pPr marL="178308" indent="-178308" defTabSz="475488">
                <a:lnSpc>
                  <a:spcPts val="1747"/>
                </a:lnSpc>
                <a:spcBef>
                  <a:spcPct val="0"/>
                </a:spcBef>
                <a:spcAft>
                  <a:spcPts val="600"/>
                </a:spcAft>
                <a:buFontTx/>
                <a:buChar char="-"/>
              </a:pPr>
              <a:endParaRPr lang="en-US" sz="2400" b="1" kern="1200" dirty="0">
                <a:solidFill>
                  <a:srgbClr val="44585C"/>
                </a:solidFill>
                <a:latin typeface="Clear Sans Medium"/>
                <a:ea typeface="+mn-ea"/>
                <a:cs typeface="+mn-cs"/>
                <a:sym typeface="Clear Sans Medium"/>
              </a:endParaRPr>
            </a:p>
            <a:p>
              <a:pPr marL="178308" indent="-178308" defTabSz="475488">
                <a:lnSpc>
                  <a:spcPts val="1747"/>
                </a:lnSpc>
                <a:spcBef>
                  <a:spcPct val="0"/>
                </a:spcBef>
                <a:spcAft>
                  <a:spcPts val="600"/>
                </a:spcAft>
                <a:buFontTx/>
                <a:buChar char="-"/>
              </a:pPr>
              <a:r>
                <a:rPr lang="en-US" sz="2400" b="1" kern="1200" dirty="0">
                  <a:solidFill>
                    <a:srgbClr val="44585C"/>
                  </a:solidFill>
                  <a:latin typeface="Clear Sans Medium"/>
                  <a:ea typeface="+mn-ea"/>
                  <a:cs typeface="+mn-cs"/>
                  <a:sym typeface="Clear Sans Medium"/>
                </a:rPr>
                <a:t>Dashboard Creation</a:t>
              </a:r>
              <a:endParaRPr lang="en-US" sz="4400" b="1" dirty="0">
                <a:solidFill>
                  <a:srgbClr val="D6E6E9"/>
                </a:solidFill>
                <a:latin typeface="Clear Sans Medium"/>
                <a:ea typeface="Clear Sans Medium"/>
                <a:cs typeface="Clear Sans Medium"/>
                <a:sym typeface="Clear Sans Medium"/>
              </a:endParaRPr>
            </a:p>
          </p:txBody>
        </p:sp>
        <p:sp>
          <p:nvSpPr>
            <p:cNvPr id="5" name="TextBox 5">
              <a:extLst>
                <a:ext uri="{FF2B5EF4-FFF2-40B4-BE49-F238E27FC236}">
                  <a16:creationId xmlns:a16="http://schemas.microsoft.com/office/drawing/2014/main" id="{560048CE-8E1B-9B65-5513-81C7DA9F6CDB}"/>
                </a:ext>
              </a:extLst>
            </p:cNvPr>
            <p:cNvSpPr txBox="1"/>
            <p:nvPr/>
          </p:nvSpPr>
          <p:spPr>
            <a:xfrm>
              <a:off x="0" y="878058"/>
              <a:ext cx="7264400" cy="459443"/>
            </a:xfrm>
            <a:prstGeom prst="rect">
              <a:avLst/>
            </a:prstGeom>
          </p:spPr>
          <p:txBody>
            <a:bodyPr lIns="0" tIns="0" rIns="0" bIns="0" rtlCol="0" anchor="t">
              <a:spAutoFit/>
            </a:bodyPr>
            <a:lstStyle/>
            <a:p>
              <a:pPr marL="0" lvl="0" indent="0" algn="l">
                <a:lnSpc>
                  <a:spcPts val="2939"/>
                </a:lnSpc>
                <a:spcBef>
                  <a:spcPct val="0"/>
                </a:spcBef>
              </a:pPr>
              <a:endParaRPr lang="en-US" sz="2099">
                <a:solidFill>
                  <a:srgbClr val="D6E6E9"/>
                </a:solidFill>
                <a:latin typeface="Clear Sans"/>
                <a:ea typeface="Clear Sans"/>
                <a:cs typeface="Clear Sans"/>
                <a:sym typeface="Clear Sans"/>
              </a:endParaRPr>
            </a:p>
          </p:txBody>
        </p:sp>
        <p:sp>
          <p:nvSpPr>
            <p:cNvPr id="6" name="TextBox 6">
              <a:extLst>
                <a:ext uri="{FF2B5EF4-FFF2-40B4-BE49-F238E27FC236}">
                  <a16:creationId xmlns:a16="http://schemas.microsoft.com/office/drawing/2014/main" id="{B3CD90B2-02D6-49D6-7B73-924377504431}"/>
                </a:ext>
              </a:extLst>
            </p:cNvPr>
            <p:cNvSpPr txBox="1"/>
            <p:nvPr/>
          </p:nvSpPr>
          <p:spPr>
            <a:xfrm>
              <a:off x="0" y="4023921"/>
              <a:ext cx="7264400" cy="536215"/>
            </a:xfrm>
            <a:prstGeom prst="rect">
              <a:avLst/>
            </a:prstGeom>
          </p:spPr>
          <p:txBody>
            <a:bodyPr lIns="0" tIns="0" rIns="0" bIns="0" rtlCol="0" anchor="t">
              <a:spAutoFit/>
            </a:bodyPr>
            <a:lstStyle/>
            <a:p>
              <a:pPr marL="0" lvl="0" indent="0" algn="l">
                <a:lnSpc>
                  <a:spcPts val="3360"/>
                </a:lnSpc>
                <a:spcBef>
                  <a:spcPct val="0"/>
                </a:spcBef>
              </a:pPr>
              <a:endParaRPr lang="en-US" sz="2400" b="1">
                <a:solidFill>
                  <a:srgbClr val="D6E6E9"/>
                </a:solidFill>
                <a:latin typeface="Clear Sans Medium"/>
                <a:ea typeface="Clear Sans Medium"/>
                <a:cs typeface="Clear Sans Medium"/>
                <a:sym typeface="Clear Sans Medium"/>
              </a:endParaRPr>
            </a:p>
          </p:txBody>
        </p:sp>
        <p:sp>
          <p:nvSpPr>
            <p:cNvPr id="7" name="TextBox 7">
              <a:extLst>
                <a:ext uri="{FF2B5EF4-FFF2-40B4-BE49-F238E27FC236}">
                  <a16:creationId xmlns:a16="http://schemas.microsoft.com/office/drawing/2014/main" id="{1211472F-92AF-4C02-C8D7-F921406D7D7D}"/>
                </a:ext>
              </a:extLst>
            </p:cNvPr>
            <p:cNvSpPr txBox="1"/>
            <p:nvPr/>
          </p:nvSpPr>
          <p:spPr>
            <a:xfrm>
              <a:off x="0" y="4949603"/>
              <a:ext cx="7264400" cy="459443"/>
            </a:xfrm>
            <a:prstGeom prst="rect">
              <a:avLst/>
            </a:prstGeom>
          </p:spPr>
          <p:txBody>
            <a:bodyPr lIns="0" tIns="0" rIns="0" bIns="0" rtlCol="0" anchor="t">
              <a:spAutoFit/>
            </a:bodyPr>
            <a:lstStyle/>
            <a:p>
              <a:pPr marL="0" lvl="0" indent="0" algn="l">
                <a:lnSpc>
                  <a:spcPts val="2939"/>
                </a:lnSpc>
                <a:spcBef>
                  <a:spcPct val="0"/>
                </a:spcBef>
              </a:pPr>
              <a:endParaRPr lang="en-US" sz="2099">
                <a:solidFill>
                  <a:srgbClr val="D6E6E9"/>
                </a:solidFill>
                <a:latin typeface="Clear Sans"/>
                <a:ea typeface="Clear Sans"/>
                <a:cs typeface="Clear Sans"/>
                <a:sym typeface="Clear Sans"/>
              </a:endParaRPr>
            </a:p>
          </p:txBody>
        </p:sp>
      </p:grpSp>
    </p:spTree>
    <p:extLst>
      <p:ext uri="{BB962C8B-B14F-4D97-AF65-F5344CB8AC3E}">
        <p14:creationId xmlns:p14="http://schemas.microsoft.com/office/powerpoint/2010/main" val="2473898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C9B92F-92A1-609F-A4ED-F7862484C31E}"/>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E47195D-EC06-4298-8805-0F0D659976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7998" cy="102860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2">
            <a:extLst>
              <a:ext uri="{FF2B5EF4-FFF2-40B4-BE49-F238E27FC236}">
                <a16:creationId xmlns:a16="http://schemas.microsoft.com/office/drawing/2014/main" id="{0570EB31-E224-2C40-EBD6-31B3DE146762}"/>
              </a:ext>
            </a:extLst>
          </p:cNvPr>
          <p:cNvSpPr txBox="1"/>
          <p:nvPr/>
        </p:nvSpPr>
        <p:spPr>
          <a:xfrm>
            <a:off x="13901863" y="3034665"/>
            <a:ext cx="3704436" cy="4269105"/>
          </a:xfrm>
          <a:prstGeom prst="rect">
            <a:avLst/>
          </a:prstGeom>
        </p:spPr>
        <p:txBody>
          <a:bodyPr vert="horz" lIns="91440" tIns="45720" rIns="91440" bIns="45720" rtlCol="0" anchor="ctr">
            <a:normAutofit/>
          </a:bodyPr>
          <a:lstStyle/>
          <a:p>
            <a:pPr marL="0" lvl="0" indent="0">
              <a:lnSpc>
                <a:spcPct val="90000"/>
              </a:lnSpc>
              <a:spcBef>
                <a:spcPct val="0"/>
              </a:spcBef>
              <a:spcAft>
                <a:spcPts val="600"/>
              </a:spcAft>
            </a:pPr>
            <a:r>
              <a:rPr lang="en-US" sz="5600" spc="-139">
                <a:latin typeface="+mj-lt"/>
                <a:ea typeface="+mj-ea"/>
                <a:cs typeface="+mj-cs"/>
                <a:sym typeface="Tenor Sans"/>
              </a:rPr>
              <a:t>Data Exploration</a:t>
            </a:r>
          </a:p>
        </p:txBody>
      </p:sp>
      <p:sp>
        <p:nvSpPr>
          <p:cNvPr id="17" name="Rectangle 16">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150960" y="-1240850"/>
            <a:ext cx="2573217" cy="128751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3127" y="996462"/>
            <a:ext cx="12123948" cy="840051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screenshot of a computer&#10;&#10;AI-generated content may be incorrect.">
            <a:extLst>
              <a:ext uri="{FF2B5EF4-FFF2-40B4-BE49-F238E27FC236}">
                <a16:creationId xmlns:a16="http://schemas.microsoft.com/office/drawing/2014/main" id="{8B074F60-6401-E2E3-5B51-1AE2400798EA}"/>
              </a:ext>
            </a:extLst>
          </p:cNvPr>
          <p:cNvPicPr>
            <a:picLocks noChangeAspect="1"/>
          </p:cNvPicPr>
          <p:nvPr/>
        </p:nvPicPr>
        <p:blipFill>
          <a:blip r:embed="rId2"/>
          <a:stretch>
            <a:fillRect/>
          </a:stretch>
        </p:blipFill>
        <p:spPr>
          <a:xfrm>
            <a:off x="817855" y="1653417"/>
            <a:ext cx="5527548" cy="7086599"/>
          </a:xfrm>
          <a:prstGeom prst="rect">
            <a:avLst/>
          </a:prstGeom>
        </p:spPr>
      </p:pic>
      <p:sp>
        <p:nvSpPr>
          <p:cNvPr id="21" name="Rectangle 20">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925671" y="5088146"/>
            <a:ext cx="2578608" cy="22857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3">
            <a:extLst>
              <a:ext uri="{FF2B5EF4-FFF2-40B4-BE49-F238E27FC236}">
                <a16:creationId xmlns:a16="http://schemas.microsoft.com/office/drawing/2014/main" id="{08973405-F4EC-1660-93FA-5845912740A8}"/>
              </a:ext>
            </a:extLst>
          </p:cNvPr>
          <p:cNvGrpSpPr/>
          <p:nvPr/>
        </p:nvGrpSpPr>
        <p:grpSpPr>
          <a:xfrm>
            <a:off x="6686559" y="3120701"/>
            <a:ext cx="5527548" cy="4152029"/>
            <a:chOff x="0" y="-47625"/>
            <a:chExt cx="7264400" cy="5456670"/>
          </a:xfrm>
        </p:grpSpPr>
        <p:sp>
          <p:nvSpPr>
            <p:cNvPr id="4" name="TextBox 4">
              <a:extLst>
                <a:ext uri="{FF2B5EF4-FFF2-40B4-BE49-F238E27FC236}">
                  <a16:creationId xmlns:a16="http://schemas.microsoft.com/office/drawing/2014/main" id="{DE7B3E75-52BE-141D-B9A8-CBFA50C819F6}"/>
                </a:ext>
              </a:extLst>
            </p:cNvPr>
            <p:cNvSpPr txBox="1"/>
            <p:nvPr/>
          </p:nvSpPr>
          <p:spPr>
            <a:xfrm>
              <a:off x="0" y="-47625"/>
              <a:ext cx="7264400" cy="4605706"/>
            </a:xfrm>
            <a:prstGeom prst="rect">
              <a:avLst/>
            </a:prstGeom>
          </p:spPr>
          <p:txBody>
            <a:bodyPr lIns="0" tIns="0" rIns="0" bIns="0" rtlCol="0" anchor="t">
              <a:spAutoFit/>
            </a:bodyPr>
            <a:lstStyle/>
            <a:p>
              <a:pPr defTabSz="923544">
                <a:lnSpc>
                  <a:spcPts val="3394"/>
                </a:lnSpc>
                <a:spcBef>
                  <a:spcPct val="0"/>
                </a:spcBef>
                <a:spcAft>
                  <a:spcPts val="600"/>
                </a:spcAft>
              </a:pPr>
              <a:r>
                <a:rPr lang="en-US" sz="2424" b="1" kern="1200">
                  <a:solidFill>
                    <a:srgbClr val="44585C"/>
                  </a:solidFill>
                  <a:latin typeface="Clear Sans Medium"/>
                  <a:ea typeface="+mn-ea"/>
                  <a:cs typeface="+mn-cs"/>
                  <a:sym typeface="Clear Sans Medium"/>
                </a:rPr>
                <a:t>The data was received from the backend team as a backup file, so we explored it through </a:t>
              </a:r>
              <a:r>
                <a:rPr lang="en-US" sz="2424" b="1" kern="1200" err="1">
                  <a:solidFill>
                    <a:srgbClr val="44585C"/>
                  </a:solidFill>
                  <a:latin typeface="Clear Sans Medium"/>
                  <a:ea typeface="+mn-ea"/>
                  <a:cs typeface="+mn-cs"/>
                  <a:sym typeface="Clear Sans Medium"/>
                </a:rPr>
                <a:t>Sql</a:t>
              </a:r>
              <a:r>
                <a:rPr lang="en-US" sz="2424" b="1" kern="1200">
                  <a:solidFill>
                    <a:srgbClr val="44585C"/>
                  </a:solidFill>
                  <a:latin typeface="Clear Sans Medium"/>
                  <a:ea typeface="+mn-ea"/>
                  <a:cs typeface="+mn-cs"/>
                  <a:sym typeface="Clear Sans Medium"/>
                </a:rPr>
                <a:t> Server Management Studio and found 32 tables each had its own attributes, while lots of them was for related to the backend code, we extracted the needed information from  7 tables</a:t>
              </a:r>
              <a:endParaRPr lang="en-US" sz="2400" b="1">
                <a:solidFill>
                  <a:srgbClr val="D6E6E9"/>
                </a:solidFill>
                <a:latin typeface="Clear Sans Medium"/>
                <a:ea typeface="Clear Sans Medium"/>
                <a:cs typeface="Clear Sans Medium"/>
                <a:sym typeface="Clear Sans Medium"/>
              </a:endParaRPr>
            </a:p>
          </p:txBody>
        </p:sp>
        <p:sp>
          <p:nvSpPr>
            <p:cNvPr id="5" name="TextBox 5">
              <a:extLst>
                <a:ext uri="{FF2B5EF4-FFF2-40B4-BE49-F238E27FC236}">
                  <a16:creationId xmlns:a16="http://schemas.microsoft.com/office/drawing/2014/main" id="{AD888E87-D8EB-0B73-C660-2D6181BADB64}"/>
                </a:ext>
              </a:extLst>
            </p:cNvPr>
            <p:cNvSpPr txBox="1"/>
            <p:nvPr/>
          </p:nvSpPr>
          <p:spPr>
            <a:xfrm>
              <a:off x="0" y="878056"/>
              <a:ext cx="7264400" cy="459443"/>
            </a:xfrm>
            <a:prstGeom prst="rect">
              <a:avLst/>
            </a:prstGeom>
          </p:spPr>
          <p:txBody>
            <a:bodyPr lIns="0" tIns="0" rIns="0" bIns="0" rtlCol="0" anchor="t">
              <a:spAutoFit/>
            </a:bodyPr>
            <a:lstStyle/>
            <a:p>
              <a:pPr marL="0" lvl="0" indent="0" algn="l">
                <a:lnSpc>
                  <a:spcPts val="2939"/>
                </a:lnSpc>
                <a:spcBef>
                  <a:spcPct val="0"/>
                </a:spcBef>
              </a:pPr>
              <a:endParaRPr lang="en-US" sz="2099">
                <a:solidFill>
                  <a:srgbClr val="D6E6E9"/>
                </a:solidFill>
                <a:latin typeface="Clear Sans"/>
                <a:ea typeface="Clear Sans"/>
                <a:cs typeface="Clear Sans"/>
                <a:sym typeface="Clear Sans"/>
              </a:endParaRPr>
            </a:p>
          </p:txBody>
        </p:sp>
        <p:sp>
          <p:nvSpPr>
            <p:cNvPr id="7" name="TextBox 7">
              <a:extLst>
                <a:ext uri="{FF2B5EF4-FFF2-40B4-BE49-F238E27FC236}">
                  <a16:creationId xmlns:a16="http://schemas.microsoft.com/office/drawing/2014/main" id="{62C6472D-08AF-CFA3-1687-28EDE35FAF1D}"/>
                </a:ext>
              </a:extLst>
            </p:cNvPr>
            <p:cNvSpPr txBox="1"/>
            <p:nvPr/>
          </p:nvSpPr>
          <p:spPr>
            <a:xfrm>
              <a:off x="0" y="4949602"/>
              <a:ext cx="7264400" cy="459443"/>
            </a:xfrm>
            <a:prstGeom prst="rect">
              <a:avLst/>
            </a:prstGeom>
          </p:spPr>
          <p:txBody>
            <a:bodyPr lIns="0" tIns="0" rIns="0" bIns="0" rtlCol="0" anchor="t">
              <a:spAutoFit/>
            </a:bodyPr>
            <a:lstStyle/>
            <a:p>
              <a:pPr marL="0" lvl="0" indent="0" algn="l">
                <a:lnSpc>
                  <a:spcPts val="2939"/>
                </a:lnSpc>
                <a:spcBef>
                  <a:spcPct val="0"/>
                </a:spcBef>
              </a:pPr>
              <a:endParaRPr lang="en-US" sz="2099">
                <a:solidFill>
                  <a:srgbClr val="D6E6E9"/>
                </a:solidFill>
                <a:latin typeface="Clear Sans"/>
                <a:ea typeface="Clear Sans"/>
                <a:cs typeface="Clear Sans"/>
                <a:sym typeface="Clear Sans"/>
              </a:endParaRPr>
            </a:p>
          </p:txBody>
        </p:sp>
      </p:grpSp>
    </p:spTree>
    <p:extLst>
      <p:ext uri="{BB962C8B-B14F-4D97-AF65-F5344CB8AC3E}">
        <p14:creationId xmlns:p14="http://schemas.microsoft.com/office/powerpoint/2010/main" val="3274344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3ABC60-8150-1719-A88C-A62D52EA5D34}"/>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7998" cy="102860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2">
            <a:extLst>
              <a:ext uri="{FF2B5EF4-FFF2-40B4-BE49-F238E27FC236}">
                <a16:creationId xmlns:a16="http://schemas.microsoft.com/office/drawing/2014/main" id="{42AB57AC-2C70-6073-3456-A0715449F55C}"/>
              </a:ext>
            </a:extLst>
          </p:cNvPr>
          <p:cNvSpPr txBox="1"/>
          <p:nvPr/>
        </p:nvSpPr>
        <p:spPr>
          <a:xfrm>
            <a:off x="884340" y="1284270"/>
            <a:ext cx="6840876" cy="1692102"/>
          </a:xfrm>
          <a:prstGeom prst="rect">
            <a:avLst/>
          </a:prstGeom>
        </p:spPr>
        <p:txBody>
          <a:bodyPr vert="horz" lIns="91440" tIns="45720" rIns="91440" bIns="45720" rtlCol="0" anchor="ctr">
            <a:normAutofit/>
          </a:bodyPr>
          <a:lstStyle/>
          <a:p>
            <a:pPr marL="0" lvl="0" indent="0">
              <a:lnSpc>
                <a:spcPct val="90000"/>
              </a:lnSpc>
              <a:spcBef>
                <a:spcPct val="0"/>
              </a:spcBef>
              <a:spcAft>
                <a:spcPts val="600"/>
              </a:spcAft>
            </a:pPr>
            <a:r>
              <a:rPr lang="en-US" sz="6000" spc="-139">
                <a:latin typeface="+mj-lt"/>
                <a:ea typeface="+mj-ea"/>
                <a:cs typeface="+mj-cs"/>
                <a:sym typeface="Tenor Sans"/>
              </a:rPr>
              <a:t>Data Cleaning</a:t>
            </a:r>
          </a:p>
        </p:txBody>
      </p:sp>
      <p:grpSp>
        <p:nvGrpSpPr>
          <p:cNvPr id="13" name="Group 1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625226"/>
            <a:ext cx="532796" cy="1010190"/>
            <a:chOff x="0" y="823811"/>
            <a:chExt cx="355196" cy="673460"/>
          </a:xfrm>
        </p:grpSpPr>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97627" y="3135853"/>
            <a:ext cx="6446520" cy="411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CB146B3-1E21-22A1-0E4A-02D665BB3C7B}"/>
              </a:ext>
            </a:extLst>
          </p:cNvPr>
          <p:cNvSpPr txBox="1"/>
          <p:nvPr/>
        </p:nvSpPr>
        <p:spPr>
          <a:xfrm>
            <a:off x="886078" y="3495757"/>
            <a:ext cx="6839138" cy="5969378"/>
          </a:xfrm>
          <a:prstGeom prst="rect">
            <a:avLst/>
          </a:prstGeom>
        </p:spPr>
        <p:txBody>
          <a:bodyPr vert="horz" lIns="91440" tIns="45720" rIns="91440" bIns="45720" rtlCol="0" anchor="ctr">
            <a:normAutofit/>
          </a:bodyPr>
          <a:lstStyle/>
          <a:p>
            <a:pPr lvl="0" indent="-228600">
              <a:lnSpc>
                <a:spcPct val="90000"/>
              </a:lnSpc>
              <a:spcBef>
                <a:spcPct val="0"/>
              </a:spcBef>
              <a:spcAft>
                <a:spcPts val="600"/>
              </a:spcAft>
              <a:buFont typeface="Arial" panose="020B0604020202020204" pitchFamily="34" charset="0"/>
              <a:buChar char="•"/>
            </a:pPr>
            <a:r>
              <a:rPr lang="en-US" sz="3000" b="1">
                <a:sym typeface="Clear Sans Medium"/>
              </a:rPr>
              <a:t>The dataset was reviewed and cleaned to improve quality and usability. All null (empty) tables and columns containing no meaningful data were identified and removed. This process ensured that the remaining data is relevant, complete, and consistent, making it suitable for accurate analysis and reporting.</a:t>
            </a:r>
          </a:p>
        </p:txBody>
      </p:sp>
      <p:sp>
        <p:nvSpPr>
          <p:cNvPr id="19" name="Rectangle 1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6046505" y="0"/>
            <a:ext cx="2241495" cy="10287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28715" y="770779"/>
            <a:ext cx="9014049" cy="87518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BF09281B-1A37-8DD6-28C1-ECB392C3AC70}"/>
              </a:ext>
            </a:extLst>
          </p:cNvPr>
          <p:cNvPicPr>
            <a:picLocks noChangeAspect="1"/>
          </p:cNvPicPr>
          <p:nvPr/>
        </p:nvPicPr>
        <p:blipFill>
          <a:blip r:embed="rId2"/>
          <a:srcRect l="15715" r="26259"/>
          <a:stretch>
            <a:fillRect/>
          </a:stretch>
        </p:blipFill>
        <p:spPr>
          <a:xfrm>
            <a:off x="8966682" y="1199028"/>
            <a:ext cx="8138115" cy="7888944"/>
          </a:xfrm>
          <a:prstGeom prst="rect">
            <a:avLst/>
          </a:prstGeom>
        </p:spPr>
      </p:pic>
    </p:spTree>
    <p:extLst>
      <p:ext uri="{BB962C8B-B14F-4D97-AF65-F5344CB8AC3E}">
        <p14:creationId xmlns:p14="http://schemas.microsoft.com/office/powerpoint/2010/main" val="38210596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7B07F1-FE24-DFE4-7898-BDA61193F333}"/>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45B1D5C-0827-4AF0-8186-11FC5A8B8B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7998" cy="102860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2">
            <a:extLst>
              <a:ext uri="{FF2B5EF4-FFF2-40B4-BE49-F238E27FC236}">
                <a16:creationId xmlns:a16="http://schemas.microsoft.com/office/drawing/2014/main" id="{0CAA9D79-1C16-295B-64D8-EA7E473154E8}"/>
              </a:ext>
            </a:extLst>
          </p:cNvPr>
          <p:cNvSpPr txBox="1"/>
          <p:nvPr/>
        </p:nvSpPr>
        <p:spPr>
          <a:xfrm>
            <a:off x="13901863" y="3034665"/>
            <a:ext cx="3704436" cy="4269105"/>
          </a:xfrm>
          <a:prstGeom prst="rect">
            <a:avLst/>
          </a:prstGeom>
        </p:spPr>
        <p:txBody>
          <a:bodyPr vert="horz" lIns="91440" tIns="45720" rIns="91440" bIns="45720" rtlCol="0" anchor="ctr">
            <a:normAutofit/>
          </a:bodyPr>
          <a:lstStyle/>
          <a:p>
            <a:pPr marL="0" lvl="0" indent="0">
              <a:lnSpc>
                <a:spcPct val="90000"/>
              </a:lnSpc>
              <a:spcBef>
                <a:spcPct val="0"/>
              </a:spcBef>
              <a:spcAft>
                <a:spcPts val="600"/>
              </a:spcAft>
            </a:pPr>
            <a:r>
              <a:rPr lang="en-US" sz="5600" spc="-139">
                <a:latin typeface="+mj-lt"/>
                <a:ea typeface="+mj-ea"/>
                <a:cs typeface="+mj-cs"/>
                <a:sym typeface="Tenor Sans"/>
              </a:rPr>
              <a:t>Data Modeling</a:t>
            </a:r>
          </a:p>
        </p:txBody>
      </p:sp>
      <p:sp>
        <p:nvSpPr>
          <p:cNvPr id="17" name="Rectangle 16">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150960" y="-1240850"/>
            <a:ext cx="2573217" cy="128751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3127" y="996462"/>
            <a:ext cx="12123948" cy="840051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screenshot of a computer&#10;&#10;AI-generated content may be incorrect.">
            <a:extLst>
              <a:ext uri="{FF2B5EF4-FFF2-40B4-BE49-F238E27FC236}">
                <a16:creationId xmlns:a16="http://schemas.microsoft.com/office/drawing/2014/main" id="{243BC212-F0C5-F335-D7C0-EDF30B44E99A}"/>
              </a:ext>
            </a:extLst>
          </p:cNvPr>
          <p:cNvPicPr>
            <a:picLocks noChangeAspect="1"/>
          </p:cNvPicPr>
          <p:nvPr/>
        </p:nvPicPr>
        <p:blipFill>
          <a:blip r:embed="rId2"/>
          <a:srcRect l="4923" r="3839" b="-1"/>
          <a:stretch>
            <a:fillRect/>
          </a:stretch>
        </p:blipFill>
        <p:spPr>
          <a:xfrm>
            <a:off x="817857" y="1287787"/>
            <a:ext cx="11412456" cy="7817859"/>
          </a:xfrm>
          <a:prstGeom prst="rect">
            <a:avLst/>
          </a:prstGeom>
        </p:spPr>
      </p:pic>
      <p:sp>
        <p:nvSpPr>
          <p:cNvPr id="21" name="Rectangle 20">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925671" y="5088146"/>
            <a:ext cx="2578608" cy="22857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00408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7F768C2-6B9F-8218-EE07-63F8A94BEDEF}"/>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7998" cy="102860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2">
            <a:extLst>
              <a:ext uri="{FF2B5EF4-FFF2-40B4-BE49-F238E27FC236}">
                <a16:creationId xmlns:a16="http://schemas.microsoft.com/office/drawing/2014/main" id="{A6B74C1A-25FC-DD35-7E6B-6F35E52C156B}"/>
              </a:ext>
            </a:extLst>
          </p:cNvPr>
          <p:cNvSpPr txBox="1"/>
          <p:nvPr/>
        </p:nvSpPr>
        <p:spPr>
          <a:xfrm>
            <a:off x="13901863" y="3034665"/>
            <a:ext cx="3704436" cy="4269105"/>
          </a:xfrm>
          <a:prstGeom prst="rect">
            <a:avLst/>
          </a:prstGeom>
        </p:spPr>
        <p:txBody>
          <a:bodyPr vert="horz" lIns="91440" tIns="45720" rIns="91440" bIns="45720" rtlCol="0" anchor="ctr">
            <a:normAutofit/>
          </a:bodyPr>
          <a:lstStyle/>
          <a:p>
            <a:pPr marL="0" lvl="0" indent="0">
              <a:lnSpc>
                <a:spcPct val="90000"/>
              </a:lnSpc>
              <a:spcBef>
                <a:spcPct val="0"/>
              </a:spcBef>
              <a:spcAft>
                <a:spcPts val="600"/>
              </a:spcAft>
            </a:pPr>
            <a:r>
              <a:rPr lang="en-US" sz="5600" kern="1200" spc="-139" dirty="0">
                <a:solidFill>
                  <a:schemeClr val="tx1"/>
                </a:solidFill>
                <a:latin typeface="+mj-lt"/>
                <a:ea typeface="+mj-ea"/>
                <a:cs typeface="+mj-cs"/>
                <a:sym typeface="Tenor Sans"/>
              </a:rPr>
              <a:t>Dashboard</a:t>
            </a:r>
          </a:p>
        </p:txBody>
      </p:sp>
      <p:sp>
        <p:nvSpPr>
          <p:cNvPr id="14" name="Rectangle 13">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150960" y="-1240850"/>
            <a:ext cx="2573217" cy="128751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3127" y="996462"/>
            <a:ext cx="12123948" cy="840051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shot of a graph&#10;&#10;AI-generated content may be incorrect.">
            <a:extLst>
              <a:ext uri="{FF2B5EF4-FFF2-40B4-BE49-F238E27FC236}">
                <a16:creationId xmlns:a16="http://schemas.microsoft.com/office/drawing/2014/main" id="{79F8EEF8-83D6-3FDD-1B25-793199511DB2}"/>
              </a:ext>
            </a:extLst>
          </p:cNvPr>
          <p:cNvPicPr>
            <a:picLocks noChangeAspect="1"/>
          </p:cNvPicPr>
          <p:nvPr/>
        </p:nvPicPr>
        <p:blipFill rotWithShape="1">
          <a:blip r:embed="rId2">
            <a:extLst>
              <a:ext uri="{28A0092B-C50C-407E-A947-70E740481C1C}">
                <a14:useLocalDpi xmlns:a14="http://schemas.microsoft.com/office/drawing/2010/main" val="0"/>
              </a:ext>
            </a:extLst>
          </a:blip>
          <a:srcRect l="114" r="114"/>
          <a:stretch/>
        </p:blipFill>
        <p:spPr>
          <a:xfrm>
            <a:off x="817857" y="1979628"/>
            <a:ext cx="11412456" cy="6434177"/>
          </a:xfrm>
          <a:prstGeom prst="rect">
            <a:avLst/>
          </a:prstGeom>
        </p:spPr>
      </p:pic>
      <p:sp>
        <p:nvSpPr>
          <p:cNvPr id="18" name="Rectangle 17">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925671" y="5088146"/>
            <a:ext cx="2578608" cy="22857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74842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7998" cy="102860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
            <a:ext cx="18288000" cy="661887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696" y="827943"/>
            <a:ext cx="16498608" cy="692782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4"/>
          <p:cNvSpPr txBox="1"/>
          <p:nvPr/>
        </p:nvSpPr>
        <p:spPr>
          <a:xfrm>
            <a:off x="2286000" y="1940007"/>
            <a:ext cx="13716000" cy="4911888"/>
          </a:xfrm>
          <a:prstGeom prst="rect">
            <a:avLst/>
          </a:prstGeom>
        </p:spPr>
        <p:txBody>
          <a:bodyPr vert="horz" lIns="91440" tIns="45720" rIns="91440" bIns="45720" rtlCol="0" anchor="ctr">
            <a:normAutofit/>
          </a:bodyPr>
          <a:lstStyle/>
          <a:p>
            <a:pPr marL="0" lvl="0" indent="0" algn="ctr">
              <a:lnSpc>
                <a:spcPct val="90000"/>
              </a:lnSpc>
              <a:spcBef>
                <a:spcPct val="0"/>
              </a:spcBef>
              <a:spcAft>
                <a:spcPts val="600"/>
              </a:spcAft>
            </a:pPr>
            <a:r>
              <a:rPr lang="en-US" sz="10800" kern="1200" spc="-139">
                <a:solidFill>
                  <a:schemeClr val="tx1"/>
                </a:solidFill>
                <a:latin typeface="+mj-lt"/>
                <a:ea typeface="+mj-ea"/>
                <a:cs typeface="+mj-cs"/>
                <a:sym typeface="Tenor Sans"/>
              </a:rPr>
              <a:t>Connecting Egypt to Better Medical Access</a:t>
            </a:r>
          </a:p>
        </p:txBody>
      </p:sp>
      <p:sp>
        <p:nvSpPr>
          <p:cNvPr id="12" name="TextBox 4">
            <a:extLst>
              <a:ext uri="{FF2B5EF4-FFF2-40B4-BE49-F238E27FC236}">
                <a16:creationId xmlns:a16="http://schemas.microsoft.com/office/drawing/2014/main" id="{112AC92D-815C-4FBD-BFBB-38A5133D7D66}"/>
              </a:ext>
            </a:extLst>
          </p:cNvPr>
          <p:cNvSpPr txBox="1"/>
          <p:nvPr/>
        </p:nvSpPr>
        <p:spPr>
          <a:xfrm>
            <a:off x="2286000" y="8271078"/>
            <a:ext cx="13716000" cy="977865"/>
          </a:xfrm>
          <a:prstGeom prst="rect">
            <a:avLst/>
          </a:prstGeom>
        </p:spPr>
        <p:txBody>
          <a:bodyPr vert="horz" lIns="91440" tIns="45720" rIns="91440" bIns="45720" rtlCol="0" anchor="ctr">
            <a:normAutofit/>
          </a:bodyPr>
          <a:lstStyle/>
          <a:p>
            <a:pPr lvl="0" algn="ctr">
              <a:lnSpc>
                <a:spcPct val="90000"/>
              </a:lnSpc>
              <a:spcBef>
                <a:spcPts val="1000"/>
              </a:spcBef>
              <a:spcAft>
                <a:spcPts val="600"/>
              </a:spcAft>
            </a:pPr>
            <a:r>
              <a:rPr lang="en-US" sz="2400" kern="1200" spc="-139">
                <a:solidFill>
                  <a:schemeClr val="tx1"/>
                </a:solidFill>
                <a:latin typeface="+mn-lt"/>
                <a:ea typeface="+mn-ea"/>
                <a:cs typeface="+mn-cs"/>
                <a:sym typeface="Tenor Sans"/>
              </a:rPr>
              <a:t>Thanks!!</a:t>
            </a:r>
            <a:endParaRPr lang="en-US" sz="2400" kern="1200" spc="-139" dirty="0">
              <a:solidFill>
                <a:schemeClr val="tx1"/>
              </a:solidFill>
              <a:latin typeface="+mn-lt"/>
              <a:ea typeface="+mn-ea"/>
              <a:cs typeface="+mn-cs"/>
              <a:sym typeface="Tenor Sans"/>
            </a:endParaRPr>
          </a:p>
        </p:txBody>
      </p:sp>
      <p:cxnSp>
        <p:nvCxnSpPr>
          <p:cNvPr id="36" name="Straight Connector 35">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94696" y="9532062"/>
            <a:ext cx="16500348"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3" name="Picture 12" descr="A logo of a global education&#10;&#10;AI-generated content may be incorrect.">
            <a:extLst>
              <a:ext uri="{FF2B5EF4-FFF2-40B4-BE49-F238E27FC236}">
                <a16:creationId xmlns:a16="http://schemas.microsoft.com/office/drawing/2014/main" id="{6175BF06-8330-C290-45C8-11DD8EEA8507}"/>
              </a:ext>
            </a:extLst>
          </p:cNvPr>
          <p:cNvPicPr>
            <a:picLocks noChangeAspect="1"/>
          </p:cNvPicPr>
          <p:nvPr/>
        </p:nvPicPr>
        <p:blipFill>
          <a:blip r:embed="rId2"/>
          <a:stretch>
            <a:fillRect/>
          </a:stretch>
        </p:blipFill>
        <p:spPr>
          <a:xfrm>
            <a:off x="965199" y="847604"/>
            <a:ext cx="1625595" cy="1286340"/>
          </a:xfrm>
          <a:prstGeom prst="rect">
            <a:avLst/>
          </a:prstGeom>
        </p:spPr>
      </p:pic>
      <p:pic>
        <p:nvPicPr>
          <p:cNvPr id="14" name="Picture 13" descr="A black and white sign with black text&#10;&#10;AI-generated content may be incorrect.">
            <a:extLst>
              <a:ext uri="{FF2B5EF4-FFF2-40B4-BE49-F238E27FC236}">
                <a16:creationId xmlns:a16="http://schemas.microsoft.com/office/drawing/2014/main" id="{685C6256-5A03-28F2-E03C-99CFEE6FBBDD}"/>
              </a:ext>
            </a:extLst>
          </p:cNvPr>
          <p:cNvPicPr>
            <a:picLocks noChangeAspect="1"/>
          </p:cNvPicPr>
          <p:nvPr/>
        </p:nvPicPr>
        <p:blipFill>
          <a:blip r:embed="rId3"/>
          <a:stretch>
            <a:fillRect/>
          </a:stretch>
        </p:blipFill>
        <p:spPr>
          <a:xfrm>
            <a:off x="15759590" y="1097482"/>
            <a:ext cx="1563211" cy="78658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280</TotalTime>
  <Words>643</Words>
  <Application>Microsoft Office PowerPoint</Application>
  <PresentationFormat>Custom</PresentationFormat>
  <Paragraphs>82</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Clear Sans</vt:lpstr>
      <vt:lpstr>Calibri</vt:lpstr>
      <vt:lpstr>Arial</vt:lpstr>
      <vt:lpstr>Clear Sans Medium</vt:lpstr>
      <vt:lpstr>Clear Sans Bold</vt:lpstr>
      <vt:lpstr>Tenor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 PharmaConnect: Connecting Patients with Pharmacies</dc:title>
  <dc:creator>user</dc:creator>
  <dc:description>Presentation - PharmaConnect: Connecting Patients with Pharmacies</dc:description>
  <cp:lastModifiedBy>mohamed hesham mohamed ghonem</cp:lastModifiedBy>
  <cp:revision>10</cp:revision>
  <dcterms:created xsi:type="dcterms:W3CDTF">2006-08-16T00:00:00Z</dcterms:created>
  <dcterms:modified xsi:type="dcterms:W3CDTF">2025-12-16T21:14:00Z</dcterms:modified>
  <dc:identifier>DAG7lF0PC7A</dc:identifier>
</cp:coreProperties>
</file>